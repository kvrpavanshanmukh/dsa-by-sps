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tags/tag2.xml" ContentType="application/vnd.openxmlformats-officedocument.presentationml.tags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5238" r:id="rId2"/>
    <p:sldId id="5281" r:id="rId3"/>
    <p:sldId id="5293" r:id="rId4"/>
    <p:sldId id="5304" r:id="rId5"/>
    <p:sldId id="5292" r:id="rId6"/>
    <p:sldId id="5291" r:id="rId7"/>
    <p:sldId id="524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47" userDrawn="1">
          <p15:clr>
            <a:srgbClr val="A4A3A4"/>
          </p15:clr>
        </p15:guide>
        <p15:guide id="2" pos="3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A0E64"/>
    <a:srgbClr val="923F5D"/>
    <a:srgbClr val="4A0073"/>
    <a:srgbClr val="732D5F"/>
    <a:srgbClr val="420668"/>
    <a:srgbClr val="4E2A11"/>
    <a:srgbClr val="42006E"/>
    <a:srgbClr val="7A3E98"/>
    <a:srgbClr val="4F0077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DF20910-4EDB-4D8C-94EF-FDC5F007E748}" v="9448" dt="2021-08-25T21:54:58.579"/>
    <p1510:client id="{87FAE0B6-FADF-4596-A010-655200563733}" v="7918" dt="2021-08-25T21:59:00.204"/>
    <p1510:client id="{F24B2631-C7C2-405A-A4FC-2CBC880E0042}" v="10085" dt="2021-08-25T21:56:00.3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3" d="100"/>
          <a:sy n="73" d="100"/>
        </p:scale>
        <p:origin x="1042" y="58"/>
      </p:cViewPr>
      <p:guideLst>
        <p:guide orient="horz" pos="2047"/>
        <p:guide pos="34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ITI%20BHOLE\Downloads\Understanding%20consumer%20perception%20towards%20electric%202-wheeler%20vehicles%20in%20India(1-341)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ITI%20BHOLE\Downloads\Understanding%20consumer%20perception%20towards%20electric%202-wheeler%20vehicles%20in%20India(1-341)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51300215442329788"/>
          <c:y val="7.3396755668004313E-2"/>
          <c:w val="0.39492374187912949"/>
          <c:h val="0.81535036585927079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rgbClr val="923F5D"/>
            </a:solidFill>
            <a:ln>
              <a:noFill/>
            </a:ln>
            <a:effectLst/>
          </c:spPr>
          <c:invertIfNegative val="0"/>
          <c:cat>
            <c:strRef>
              <c:f>Sheet2!$D$4:$D$13</c:f>
              <c:strCache>
                <c:ptCount val="10"/>
                <c:pt idx="0">
                  <c:v>Aversion to Change</c:v>
                </c:pt>
                <c:pt idx="1">
                  <c:v>Lack of Availability</c:v>
                </c:pt>
                <c:pt idx="2">
                  <c:v>Charging Time</c:v>
                </c:pt>
                <c:pt idx="3">
                  <c:v>Knowledge Gap</c:v>
                </c:pt>
                <c:pt idx="4">
                  <c:v>Limited Products</c:v>
                </c:pt>
                <c:pt idx="5">
                  <c:v>High Upfront Cost</c:v>
                </c:pt>
                <c:pt idx="6">
                  <c:v>Lack of Service Centres</c:v>
                </c:pt>
                <c:pt idx="7">
                  <c:v>Range Anxiety</c:v>
                </c:pt>
                <c:pt idx="8">
                  <c:v>Battery Warranty/Replacement</c:v>
                </c:pt>
                <c:pt idx="9">
                  <c:v>Lack of Charging Infrasturcture</c:v>
                </c:pt>
              </c:strCache>
            </c:strRef>
          </c:cat>
          <c:val>
            <c:numRef>
              <c:f>Sheet2!$E$4:$E$13</c:f>
              <c:numCache>
                <c:formatCode>General</c:formatCode>
                <c:ptCount val="10"/>
                <c:pt idx="0">
                  <c:v>30</c:v>
                </c:pt>
                <c:pt idx="1">
                  <c:v>52</c:v>
                </c:pt>
                <c:pt idx="2">
                  <c:v>60</c:v>
                </c:pt>
                <c:pt idx="3">
                  <c:v>95</c:v>
                </c:pt>
                <c:pt idx="4">
                  <c:v>105</c:v>
                </c:pt>
                <c:pt idx="5">
                  <c:v>110</c:v>
                </c:pt>
                <c:pt idx="6">
                  <c:v>138</c:v>
                </c:pt>
                <c:pt idx="7">
                  <c:v>150</c:v>
                </c:pt>
                <c:pt idx="8">
                  <c:v>183</c:v>
                </c:pt>
                <c:pt idx="9">
                  <c:v>236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F76-4B9A-8F92-02AA15F797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450235840"/>
        <c:axId val="1450236672"/>
      </c:barChart>
      <c:catAx>
        <c:axId val="145023584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rgbClr val="4A0E64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en-US"/>
          </a:p>
        </c:txPr>
        <c:crossAx val="1450236672"/>
        <c:crosses val="autoZero"/>
        <c:auto val="1"/>
        <c:lblAlgn val="ctr"/>
        <c:lblOffset val="100"/>
        <c:noMultiLvlLbl val="0"/>
      </c:catAx>
      <c:valAx>
        <c:axId val="1450236672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145023584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 sz="900" b="0" i="0" u="none" strike="noStrike" kern="1200" baseline="0">
          <a:solidFill>
            <a:srgbClr val="4F0077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41264771679197254"/>
          <c:y val="9.7275239036385575E-2"/>
          <c:w val="0.36130174047598496"/>
          <c:h val="0.5504136792709502"/>
        </c:manualLayout>
      </c:layout>
      <c:doughnutChart>
        <c:varyColors val="1"/>
        <c:ser>
          <c:idx val="0"/>
          <c:order val="0"/>
          <c:explosion val="18"/>
          <c:dPt>
            <c:idx val="0"/>
            <c:bubble3D val="0"/>
            <c:explosion val="0"/>
            <c:spPr>
              <a:solidFill>
                <a:srgbClr val="4A007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5944-42A9-9039-C685A63BA6C3}"/>
              </c:ext>
            </c:extLst>
          </c:dPt>
          <c:dPt>
            <c:idx val="1"/>
            <c:bubble3D val="0"/>
            <c:explosion val="0"/>
            <c:spPr>
              <a:solidFill>
                <a:schemeClr val="bg2">
                  <a:lumMod val="75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944-42A9-9039-C685A63BA6C3}"/>
              </c:ext>
            </c:extLst>
          </c:dPt>
          <c:dPt>
            <c:idx val="2"/>
            <c:bubble3D val="0"/>
            <c:explosion val="0"/>
            <c:spPr>
              <a:solidFill>
                <a:srgbClr val="923F5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5944-42A9-9039-C685A63BA6C3}"/>
              </c:ext>
            </c:extLst>
          </c:dPt>
          <c:dLbls>
            <c:dLbl>
              <c:idx val="0"/>
              <c:layout>
                <c:manualLayout>
                  <c:x val="9.4444444444444442E-2"/>
                  <c:y val="0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944-42A9-9039-C685A63BA6C3}"/>
                </c:ext>
              </c:extLst>
            </c:dLbl>
            <c:dLbl>
              <c:idx val="1"/>
              <c:layout>
                <c:manualLayout>
                  <c:x val="-8.8888888888888934E-2"/>
                  <c:y val="8.7962962962962965E-2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944-42A9-9039-C685A63BA6C3}"/>
                </c:ext>
              </c:extLst>
            </c:dLbl>
            <c:dLbl>
              <c:idx val="2"/>
              <c:layout>
                <c:manualLayout>
                  <c:x val="-0.19812284905574676"/>
                  <c:y val="8.1955266151370505E-3"/>
                </c:manualLayout>
              </c:layout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0436246183444782"/>
                      <c:h val="0.38625504305218339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5-5944-42A9-9039-C685A63BA6C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Sheet2!$E$32:$E$34</c:f>
              <c:strCache>
                <c:ptCount val="3"/>
                <c:pt idx="0">
                  <c:v>Yes</c:v>
                </c:pt>
                <c:pt idx="1">
                  <c:v>No </c:v>
                </c:pt>
                <c:pt idx="2">
                  <c:v>Giving a thought</c:v>
                </c:pt>
              </c:strCache>
            </c:strRef>
          </c:cat>
          <c:val>
            <c:numRef>
              <c:f>Sheet2!$F$32:$F$34</c:f>
              <c:numCache>
                <c:formatCode>General</c:formatCode>
                <c:ptCount val="3"/>
                <c:pt idx="0">
                  <c:v>159</c:v>
                </c:pt>
                <c:pt idx="1">
                  <c:v>95</c:v>
                </c:pt>
                <c:pt idx="2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944-42A9-9039-C685A63BA6C3}"/>
            </c:ext>
          </c:extLst>
        </c:ser>
        <c:dLbls>
          <c:showLegendKey val="0"/>
          <c:showVal val="0"/>
          <c:showCatName val="1"/>
          <c:showSerName val="0"/>
          <c:showPercent val="1"/>
          <c:showBubbleSize val="0"/>
          <c:showLeaderLines val="0"/>
        </c:dLbls>
        <c:firstSliceAng val="0"/>
        <c:holeSize val="51"/>
      </c:doughnut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1B2C731-CCD5-4F27-868D-9EC293F2AA29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</dgm:pt>
    <dgm:pt modelId="{B084A509-393D-409F-83AE-09FB2F3D5D94}" type="pres">
      <dgm:prSet presAssocID="{F1B2C731-CCD5-4F27-868D-9EC293F2AA29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0CA0E0D7-A02D-4459-B724-3511683F3814}" type="presOf" srcId="{F1B2C731-CCD5-4F27-868D-9EC293F2AA29}" destId="{B084A509-393D-409F-83AE-09FB2F3D5D94}" srcOrd="0" destOrd="0" presId="urn:microsoft.com/office/officeart/2005/8/layout/chevron1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0BAECF-82E6-4220-A076-FE5CEAFC5738}" type="datetimeFigureOut">
              <a:rPr lang="en-IN" smtClean="0"/>
              <a:t>05-05-2025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9764B3-BD55-49DC-83D8-1BB5DA8B6A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395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764B3-BD55-49DC-83D8-1BB5DA8B6AA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4101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764B3-BD55-49DC-83D8-1BB5DA8B6AA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198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764B3-BD55-49DC-83D8-1BB5DA8B6AA0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9140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764B3-BD55-49DC-83D8-1BB5DA8B6AA0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63716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9764B3-BD55-49DC-83D8-1BB5DA8B6AA0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18028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Greetings + Greater Than L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 userDrawn="1"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1642842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chart" Target="../charts/chart1.xml"/><Relationship Id="rId3" Type="http://schemas.openxmlformats.org/officeDocument/2006/relationships/notesSlide" Target="../notesSlides/notesSlide2.xml"/><Relationship Id="rId7" Type="http://schemas.openxmlformats.org/officeDocument/2006/relationships/diagramColors" Target="../diagrams/colors1.xml"/><Relationship Id="rId12" Type="http://schemas.openxmlformats.org/officeDocument/2006/relationships/image" Target="../media/image8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7.png"/><Relationship Id="rId5" Type="http://schemas.openxmlformats.org/officeDocument/2006/relationships/diagramLayout" Target="../diagrams/layout1.xml"/><Relationship Id="rId10" Type="http://schemas.openxmlformats.org/officeDocument/2006/relationships/image" Target="../media/image6.svg"/><Relationship Id="rId4" Type="http://schemas.openxmlformats.org/officeDocument/2006/relationships/diagramData" Target="../diagrams/data1.xml"/><Relationship Id="rId9" Type="http://schemas.openxmlformats.org/officeDocument/2006/relationships/image" Target="../media/image5.png"/><Relationship Id="rId1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svg"/><Relationship Id="rId18" Type="http://schemas.openxmlformats.org/officeDocument/2006/relationships/image" Target="../media/image31.png"/><Relationship Id="rId26" Type="http://schemas.openxmlformats.org/officeDocument/2006/relationships/image" Target="../media/image39.png"/><Relationship Id="rId3" Type="http://schemas.openxmlformats.org/officeDocument/2006/relationships/image" Target="../media/image16.svg"/><Relationship Id="rId21" Type="http://schemas.openxmlformats.org/officeDocument/2006/relationships/image" Target="../media/image34.svg"/><Relationship Id="rId34" Type="http://schemas.openxmlformats.org/officeDocument/2006/relationships/image" Target="../media/image9.png"/><Relationship Id="rId7" Type="http://schemas.openxmlformats.org/officeDocument/2006/relationships/image" Target="../media/image20.svg"/><Relationship Id="rId12" Type="http://schemas.openxmlformats.org/officeDocument/2006/relationships/image" Target="../media/image25.png"/><Relationship Id="rId17" Type="http://schemas.openxmlformats.org/officeDocument/2006/relationships/image" Target="../media/image30.svg"/><Relationship Id="rId25" Type="http://schemas.openxmlformats.org/officeDocument/2006/relationships/image" Target="../media/image38.svg"/><Relationship Id="rId33" Type="http://schemas.openxmlformats.org/officeDocument/2006/relationships/image" Target="../media/image46.svg"/><Relationship Id="rId2" Type="http://schemas.openxmlformats.org/officeDocument/2006/relationships/image" Target="../media/image15.png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29" Type="http://schemas.openxmlformats.org/officeDocument/2006/relationships/image" Target="../media/image42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image" Target="../media/image24.svg"/><Relationship Id="rId24" Type="http://schemas.openxmlformats.org/officeDocument/2006/relationships/image" Target="../media/image37.png"/><Relationship Id="rId32" Type="http://schemas.openxmlformats.org/officeDocument/2006/relationships/image" Target="../media/image45.png"/><Relationship Id="rId5" Type="http://schemas.openxmlformats.org/officeDocument/2006/relationships/image" Target="../media/image18.svg"/><Relationship Id="rId15" Type="http://schemas.openxmlformats.org/officeDocument/2006/relationships/image" Target="../media/image28.svg"/><Relationship Id="rId23" Type="http://schemas.openxmlformats.org/officeDocument/2006/relationships/image" Target="../media/image36.svg"/><Relationship Id="rId28" Type="http://schemas.openxmlformats.org/officeDocument/2006/relationships/image" Target="../media/image41.png"/><Relationship Id="rId10" Type="http://schemas.openxmlformats.org/officeDocument/2006/relationships/image" Target="../media/image23.png"/><Relationship Id="rId19" Type="http://schemas.openxmlformats.org/officeDocument/2006/relationships/image" Target="../media/image32.svg"/><Relationship Id="rId31" Type="http://schemas.openxmlformats.org/officeDocument/2006/relationships/image" Target="../media/image44.svg"/><Relationship Id="rId4" Type="http://schemas.openxmlformats.org/officeDocument/2006/relationships/image" Target="../media/image17.png"/><Relationship Id="rId9" Type="http://schemas.openxmlformats.org/officeDocument/2006/relationships/image" Target="../media/image22.svg"/><Relationship Id="rId14" Type="http://schemas.openxmlformats.org/officeDocument/2006/relationships/image" Target="../media/image27.png"/><Relationship Id="rId22" Type="http://schemas.openxmlformats.org/officeDocument/2006/relationships/image" Target="../media/image35.png"/><Relationship Id="rId27" Type="http://schemas.openxmlformats.org/officeDocument/2006/relationships/image" Target="../media/image40.svg"/><Relationship Id="rId30" Type="http://schemas.openxmlformats.org/officeDocument/2006/relationships/image" Target="../media/image43.png"/><Relationship Id="rId8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3" Type="http://schemas.openxmlformats.org/officeDocument/2006/relationships/notesSlide" Target="../notesSlides/notesSlide4.xml"/><Relationship Id="rId7" Type="http://schemas.openxmlformats.org/officeDocument/2006/relationships/image" Target="../media/image49.png"/><Relationship Id="rId12" Type="http://schemas.openxmlformats.org/officeDocument/2006/relationships/image" Target="../media/image53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.xml"/><Relationship Id="rId6" Type="http://schemas.openxmlformats.org/officeDocument/2006/relationships/image" Target="../media/image48.svg"/><Relationship Id="rId11" Type="http://schemas.openxmlformats.org/officeDocument/2006/relationships/chart" Target="../charts/chart2.xml"/><Relationship Id="rId5" Type="http://schemas.openxmlformats.org/officeDocument/2006/relationships/image" Target="../media/image47.png"/><Relationship Id="rId10" Type="http://schemas.openxmlformats.org/officeDocument/2006/relationships/image" Target="../media/image52.svg"/><Relationship Id="rId4" Type="http://schemas.openxmlformats.org/officeDocument/2006/relationships/image" Target="../media/image9.png"/><Relationship Id="rId9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13" Type="http://schemas.openxmlformats.org/officeDocument/2006/relationships/image" Target="../media/image9.png"/><Relationship Id="rId3" Type="http://schemas.openxmlformats.org/officeDocument/2006/relationships/image" Target="../media/image54.png"/><Relationship Id="rId7" Type="http://schemas.openxmlformats.org/officeDocument/2006/relationships/image" Target="../media/image56.png"/><Relationship Id="rId12" Type="http://schemas.microsoft.com/office/2007/relationships/hdphoto" Target="../media/hdphoto5.wd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microsoft.com/office/2007/relationships/hdphoto" Target="../media/hdphoto2.wdp"/><Relationship Id="rId11" Type="http://schemas.openxmlformats.org/officeDocument/2006/relationships/image" Target="../media/image58.png"/><Relationship Id="rId5" Type="http://schemas.openxmlformats.org/officeDocument/2006/relationships/image" Target="../media/image55.png"/><Relationship Id="rId10" Type="http://schemas.microsoft.com/office/2007/relationships/hdphoto" Target="../media/hdphoto4.wdp"/><Relationship Id="rId4" Type="http://schemas.microsoft.com/office/2007/relationships/hdphoto" Target="../media/hdphoto1.wdp"/><Relationship Id="rId9" Type="http://schemas.openxmlformats.org/officeDocument/2006/relationships/image" Target="../media/image57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1638BA-ED34-437A-B727-9111ACCFB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/>
              <a:t>Copyright © 2021 Accenture. All rights reserved.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>
                  <a:alpha val="75000"/>
                </a:srgbClr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CE8D54-B61D-4018-BB71-0CF178CA6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F9AC08D-23A9-440E-BCB9-AA1E9877CC38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73484C-8395-4834-823E-DCFC8DF421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FCE2702-3527-4321-A20B-802444B64FEB}"/>
              </a:ext>
            </a:extLst>
          </p:cNvPr>
          <p:cNvSpPr txBox="1"/>
          <p:nvPr/>
        </p:nvSpPr>
        <p:spPr>
          <a:xfrm>
            <a:off x="1285875" y="4602200"/>
            <a:ext cx="27432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Team 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KAP</a:t>
            </a:r>
          </a:p>
          <a:p>
            <a:r>
              <a:rPr lang="en-I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NITIE, Mumbai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046C40-8FD1-40BF-B737-CC16F4348674}"/>
              </a:ext>
            </a:extLst>
          </p:cNvPr>
          <p:cNvSpPr/>
          <p:nvPr/>
        </p:nvSpPr>
        <p:spPr>
          <a:xfrm>
            <a:off x="5640613" y="5960514"/>
            <a:ext cx="5903687" cy="552816"/>
          </a:xfrm>
          <a:prstGeom prst="rect">
            <a:avLst/>
          </a:prstGeom>
          <a:gradFill flip="none" rotWithShape="1">
            <a:gsLst>
              <a:gs pos="0">
                <a:srgbClr val="732D5F"/>
              </a:gs>
              <a:gs pos="48000">
                <a:srgbClr val="420668"/>
              </a:gs>
              <a:gs pos="100000">
                <a:srgbClr val="42006E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A80ECCE-9D4C-437C-9E62-54D006F6DB4C}"/>
              </a:ext>
            </a:extLst>
          </p:cNvPr>
          <p:cNvSpPr txBox="1"/>
          <p:nvPr/>
        </p:nvSpPr>
        <p:spPr>
          <a:xfrm>
            <a:off x="5789382" y="6013758"/>
            <a:ext cx="168510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Kartik </a:t>
            </a:r>
            <a:r>
              <a:rPr lang="en-IN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Dua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C4C85A-5EA3-4CA9-8BD1-BE9F04BCE439}"/>
              </a:ext>
            </a:extLst>
          </p:cNvPr>
          <p:cNvSpPr txBox="1"/>
          <p:nvPr/>
        </p:nvSpPr>
        <p:spPr>
          <a:xfrm>
            <a:off x="7562664" y="6013758"/>
            <a:ext cx="23433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Ajinkya Jumde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8F8807C-8E0F-49DD-A3A1-FF0E941C2C55}"/>
              </a:ext>
            </a:extLst>
          </p:cNvPr>
          <p:cNvSpPr txBox="1"/>
          <p:nvPr/>
        </p:nvSpPr>
        <p:spPr>
          <a:xfrm>
            <a:off x="9844220" y="6012721"/>
            <a:ext cx="1509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Priti</a:t>
            </a:r>
            <a:r>
              <a:rPr lang="en-IN" sz="20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000" b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Bhole</a:t>
            </a:r>
            <a:endParaRPr lang="en-IN" sz="20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3526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55C8992-0A33-4C7B-8F08-16529871423B}"/>
              </a:ext>
            </a:extLst>
          </p:cNvPr>
          <p:cNvGrpSpPr/>
          <p:nvPr/>
        </p:nvGrpSpPr>
        <p:grpSpPr>
          <a:xfrm>
            <a:off x="0" y="23062"/>
            <a:ext cx="12491438" cy="6820347"/>
            <a:chOff x="0" y="23062"/>
            <a:chExt cx="12491438" cy="6820347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03AC0D9-54D5-4C22-984C-D327FDDBF5F7}"/>
                </a:ext>
              </a:extLst>
            </p:cNvPr>
            <p:cNvSpPr txBox="1"/>
            <p:nvPr/>
          </p:nvSpPr>
          <p:spPr>
            <a:xfrm>
              <a:off x="548640" y="4155440"/>
              <a:ext cx="12192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2400" b="1">
                  <a:solidFill>
                    <a:schemeClr val="bg1"/>
                  </a:solidFill>
                </a:rPr>
                <a:t>28 Mn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5FD44A-1E39-45E0-BE4D-EA38B9FCC14B}"/>
                </a:ext>
              </a:extLst>
            </p:cNvPr>
            <p:cNvSpPr txBox="1"/>
            <p:nvPr/>
          </p:nvSpPr>
          <p:spPr>
            <a:xfrm>
              <a:off x="438982" y="23062"/>
              <a:ext cx="100297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>
                  <a:solidFill>
                    <a:srgbClr val="470D64"/>
                  </a:solidFill>
                  <a:latin typeface="Georgia" panose="02040502050405020303" pitchFamily="18" charset="0"/>
                </a:rPr>
                <a:t>India’s EV Readiness and Customer Pain Points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902DE7F-00C3-4D19-AFAB-B56C8C8EBC28}"/>
                </a:ext>
              </a:extLst>
            </p:cNvPr>
            <p:cNvCxnSpPr/>
            <p:nvPr/>
          </p:nvCxnSpPr>
          <p:spPr>
            <a:xfrm>
              <a:off x="0" y="401379"/>
              <a:ext cx="12192000" cy="0"/>
            </a:xfrm>
            <a:prstGeom prst="line">
              <a:avLst/>
            </a:prstGeom>
            <a:ln>
              <a:solidFill>
                <a:srgbClr val="470D6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aphicFrame>
          <p:nvGraphicFramePr>
            <p:cNvPr id="20" name="Diagram 19">
              <a:extLst>
                <a:ext uri="{FF2B5EF4-FFF2-40B4-BE49-F238E27FC236}">
                  <a16:creationId xmlns:a16="http://schemas.microsoft.com/office/drawing/2014/main" id="{25959517-9F44-417F-BD5A-66719B3FA9D7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795357200"/>
                </p:ext>
              </p:extLst>
            </p:nvPr>
          </p:nvGraphicFramePr>
          <p:xfrm>
            <a:off x="56345" y="6526791"/>
            <a:ext cx="12079310" cy="31661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4" r:lo="rId5" r:qs="rId6" r:cs="rId7"/>
            </a:graphicData>
          </a:graphic>
        </p:graphicFrame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11C50275-B98D-4B11-809E-60D8899B7F27}"/>
                </a:ext>
              </a:extLst>
            </p:cNvPr>
            <p:cNvSpPr txBox="1"/>
            <p:nvPr/>
          </p:nvSpPr>
          <p:spPr>
            <a:xfrm rot="16200000">
              <a:off x="-1794375" y="3209151"/>
              <a:ext cx="4044413" cy="307777"/>
            </a:xfrm>
            <a:prstGeom prst="rect">
              <a:avLst/>
            </a:prstGeom>
            <a:solidFill>
              <a:srgbClr val="4A0E64"/>
            </a:solidFill>
            <a:ln>
              <a:prstDash val="solid"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sz="14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Secondary Research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B78CA5A-A4C2-4D35-AA17-B915587C338A}"/>
                </a:ext>
              </a:extLst>
            </p:cNvPr>
            <p:cNvSpPr txBox="1"/>
            <p:nvPr/>
          </p:nvSpPr>
          <p:spPr>
            <a:xfrm rot="16200000">
              <a:off x="2280756" y="3209150"/>
              <a:ext cx="4044412" cy="307777"/>
            </a:xfrm>
            <a:prstGeom prst="rect">
              <a:avLst/>
            </a:prstGeom>
            <a:solidFill>
              <a:srgbClr val="4A0E64"/>
            </a:solidFill>
            <a:ln>
              <a:solidFill>
                <a:srgbClr val="4F0077"/>
              </a:solidFill>
              <a:prstDash val="solid"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Primary Research</a:t>
              </a:r>
            </a:p>
          </p:txBody>
        </p:sp>
        <p:sp>
          <p:nvSpPr>
            <p:cNvPr id="3" name="Rectangle: Rounded Corners 2">
              <a:extLst>
                <a:ext uri="{FF2B5EF4-FFF2-40B4-BE49-F238E27FC236}">
                  <a16:creationId xmlns:a16="http://schemas.microsoft.com/office/drawing/2014/main" id="{CD6F2C41-B517-4108-BAF4-97063D74BDBA}"/>
                </a:ext>
              </a:extLst>
            </p:cNvPr>
            <p:cNvSpPr/>
            <p:nvPr/>
          </p:nvSpPr>
          <p:spPr>
            <a:xfrm>
              <a:off x="5588273" y="1442381"/>
              <a:ext cx="2691821" cy="593455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F6CC0AC-4F23-4F06-AC5F-6CF25327E865}"/>
                </a:ext>
              </a:extLst>
            </p:cNvPr>
            <p:cNvSpPr/>
            <p:nvPr/>
          </p:nvSpPr>
          <p:spPr>
            <a:xfrm>
              <a:off x="4603427" y="1363590"/>
              <a:ext cx="751036" cy="751036"/>
            </a:xfrm>
            <a:prstGeom prst="ellipse">
              <a:avLst/>
            </a:prstGeom>
            <a:noFill/>
            <a:ln w="19050">
              <a:solidFill>
                <a:srgbClr val="923F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>
                <a:solidFill>
                  <a:srgbClr val="923F5D"/>
                </a:solidFill>
              </a:endParaRP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13D26721-7B6A-4601-AC26-CBE871C3F8B6}"/>
                </a:ext>
              </a:extLst>
            </p:cNvPr>
            <p:cNvSpPr/>
            <p:nvPr/>
          </p:nvSpPr>
          <p:spPr>
            <a:xfrm>
              <a:off x="5588273" y="3024779"/>
              <a:ext cx="2691821" cy="593455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2D40936-476C-4E2E-B4C8-F915C02DBAA2}"/>
                </a:ext>
              </a:extLst>
            </p:cNvPr>
            <p:cNvSpPr/>
            <p:nvPr/>
          </p:nvSpPr>
          <p:spPr>
            <a:xfrm>
              <a:off x="4603427" y="2945988"/>
              <a:ext cx="751036" cy="751036"/>
            </a:xfrm>
            <a:prstGeom prst="ellipse">
              <a:avLst/>
            </a:prstGeom>
            <a:noFill/>
            <a:ln w="19050">
              <a:solidFill>
                <a:srgbClr val="923F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593446D9-9916-4BEA-9013-FBBF02E0129A}"/>
                </a:ext>
              </a:extLst>
            </p:cNvPr>
            <p:cNvSpPr/>
            <p:nvPr/>
          </p:nvSpPr>
          <p:spPr>
            <a:xfrm>
              <a:off x="5588273" y="4658442"/>
              <a:ext cx="2691821" cy="593455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0384089B-948F-49BE-B289-5F1FAA2B4967}"/>
                </a:ext>
              </a:extLst>
            </p:cNvPr>
            <p:cNvSpPr/>
            <p:nvPr/>
          </p:nvSpPr>
          <p:spPr>
            <a:xfrm>
              <a:off x="4603427" y="4579651"/>
              <a:ext cx="751036" cy="751036"/>
            </a:xfrm>
            <a:prstGeom prst="ellipse">
              <a:avLst/>
            </a:prstGeom>
            <a:noFill/>
            <a:ln w="19050">
              <a:solidFill>
                <a:srgbClr val="923F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730AA5B7-2D18-43DA-AE76-07446EB39597}"/>
                </a:ext>
              </a:extLst>
            </p:cNvPr>
            <p:cNvSpPr/>
            <p:nvPr/>
          </p:nvSpPr>
          <p:spPr>
            <a:xfrm>
              <a:off x="7576651" y="2174284"/>
              <a:ext cx="751036" cy="751036"/>
            </a:xfrm>
            <a:prstGeom prst="ellipse">
              <a:avLst/>
            </a:prstGeom>
            <a:noFill/>
            <a:ln w="19050">
              <a:solidFill>
                <a:srgbClr val="923F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3" name="Rectangle: Rounded Corners 42">
              <a:extLst>
                <a:ext uri="{FF2B5EF4-FFF2-40B4-BE49-F238E27FC236}">
                  <a16:creationId xmlns:a16="http://schemas.microsoft.com/office/drawing/2014/main" id="{C442995B-F4C5-4C32-9F13-79EEB962EE38}"/>
                </a:ext>
              </a:extLst>
            </p:cNvPr>
            <p:cNvSpPr/>
            <p:nvPr/>
          </p:nvSpPr>
          <p:spPr>
            <a:xfrm>
              <a:off x="4759933" y="2226223"/>
              <a:ext cx="2691821" cy="593455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C4E5B28E-349F-4289-8A2D-4D887C7B5497}"/>
                </a:ext>
              </a:extLst>
            </p:cNvPr>
            <p:cNvSpPr/>
            <p:nvPr/>
          </p:nvSpPr>
          <p:spPr>
            <a:xfrm>
              <a:off x="7576651" y="3783520"/>
              <a:ext cx="751036" cy="751036"/>
            </a:xfrm>
            <a:prstGeom prst="ellipse">
              <a:avLst/>
            </a:prstGeom>
            <a:noFill/>
            <a:ln w="19050">
              <a:solidFill>
                <a:srgbClr val="923F5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ED2CD3F1-540D-4956-A7D7-399332794AF2}"/>
                </a:ext>
              </a:extLst>
            </p:cNvPr>
            <p:cNvSpPr/>
            <p:nvPr/>
          </p:nvSpPr>
          <p:spPr>
            <a:xfrm>
              <a:off x="4759933" y="3835459"/>
              <a:ext cx="2691822" cy="593455"/>
            </a:xfrm>
            <a:prstGeom prst="round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029" name="Group 1028">
              <a:extLst>
                <a:ext uri="{FF2B5EF4-FFF2-40B4-BE49-F238E27FC236}">
                  <a16:creationId xmlns:a16="http://schemas.microsoft.com/office/drawing/2014/main" id="{7E5F84BB-790B-43F5-A362-F830F8FC9D3A}"/>
                </a:ext>
              </a:extLst>
            </p:cNvPr>
            <p:cNvGrpSpPr/>
            <p:nvPr/>
          </p:nvGrpSpPr>
          <p:grpSpPr>
            <a:xfrm>
              <a:off x="4462906" y="562591"/>
              <a:ext cx="3626420" cy="506578"/>
              <a:chOff x="7673063" y="480040"/>
              <a:chExt cx="3626420" cy="506578"/>
            </a:xfrm>
          </p:grpSpPr>
          <p:pic>
            <p:nvPicPr>
              <p:cNvPr id="1024" name="Graphic 1023" descr="Clipboard outline">
                <a:extLst>
                  <a:ext uri="{FF2B5EF4-FFF2-40B4-BE49-F238E27FC236}">
                    <a16:creationId xmlns:a16="http://schemas.microsoft.com/office/drawing/2014/main" id="{D7E17185-1A5B-4A98-8DF5-6CEB76C46F6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7673063" y="492827"/>
                <a:ext cx="475800" cy="475800"/>
              </a:xfrm>
              <a:prstGeom prst="rect">
                <a:avLst/>
              </a:prstGeom>
            </p:spPr>
          </p:pic>
          <p:pic>
            <p:nvPicPr>
              <p:cNvPr id="1027" name="Graphic 1026" descr="Telephone outline">
                <a:extLst>
                  <a:ext uri="{FF2B5EF4-FFF2-40B4-BE49-F238E27FC236}">
                    <a16:creationId xmlns:a16="http://schemas.microsoft.com/office/drawing/2014/main" id="{EB43C709-07BF-4C7C-B65D-1D7F1C2FF6F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9486273" y="480040"/>
                <a:ext cx="475800" cy="475800"/>
              </a:xfrm>
              <a:prstGeom prst="rect">
                <a:avLst/>
              </a:prstGeom>
            </p:spPr>
          </p:pic>
          <p:sp>
            <p:nvSpPr>
              <p:cNvPr id="1028" name="TextBox 1027">
                <a:extLst>
                  <a:ext uri="{FF2B5EF4-FFF2-40B4-BE49-F238E27FC236}">
                    <a16:creationId xmlns:a16="http://schemas.microsoft.com/office/drawing/2014/main" id="{4054424E-9FD5-4B48-899E-76CECB19BBCC}"/>
                  </a:ext>
                </a:extLst>
              </p:cNvPr>
              <p:cNvSpPr txBox="1"/>
              <p:nvPr/>
            </p:nvSpPr>
            <p:spPr>
              <a:xfrm>
                <a:off x="9887388" y="494175"/>
                <a:ext cx="1412095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3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14 In-depth call </a:t>
                </a:r>
              </a:p>
              <a:p>
                <a:r>
                  <a:rPr lang="en-IN" sz="13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Interviews</a:t>
                </a: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C30E6E1-BC65-4F6A-841C-186279F10329}"/>
                  </a:ext>
                </a:extLst>
              </p:cNvPr>
              <p:cNvSpPr txBox="1"/>
              <p:nvPr/>
            </p:nvSpPr>
            <p:spPr>
              <a:xfrm>
                <a:off x="8074178" y="494175"/>
                <a:ext cx="1516591" cy="4924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3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Surveyed 500+ </a:t>
                </a:r>
              </a:p>
              <a:p>
                <a:r>
                  <a:rPr lang="en-IN" sz="13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Individuals</a:t>
                </a:r>
              </a:p>
            </p:txBody>
          </p:sp>
        </p:grpSp>
        <p:sp>
          <p:nvSpPr>
            <p:cNvPr id="1032" name="TextBox 1031">
              <a:extLst>
                <a:ext uri="{FF2B5EF4-FFF2-40B4-BE49-F238E27FC236}">
                  <a16:creationId xmlns:a16="http://schemas.microsoft.com/office/drawing/2014/main" id="{25B0A2FE-6921-425D-B16E-B129F6C03AE7}"/>
                </a:ext>
              </a:extLst>
            </p:cNvPr>
            <p:cNvSpPr txBox="1"/>
            <p:nvPr/>
          </p:nvSpPr>
          <p:spPr>
            <a:xfrm>
              <a:off x="440077" y="5271788"/>
              <a:ext cx="3188948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800" dirty="0">
                  <a:solidFill>
                    <a:schemeClr val="bg2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Source: Statista, Research and Markets, NITI Aayog, LiveMint</a:t>
              </a:r>
            </a:p>
          </p:txBody>
        </p:sp>
        <p:grpSp>
          <p:nvGrpSpPr>
            <p:cNvPr id="1033" name="Group 1032">
              <a:extLst>
                <a:ext uri="{FF2B5EF4-FFF2-40B4-BE49-F238E27FC236}">
                  <a16:creationId xmlns:a16="http://schemas.microsoft.com/office/drawing/2014/main" id="{99340055-DD6C-41CA-8172-9AD97EC0F5B5}"/>
                </a:ext>
              </a:extLst>
            </p:cNvPr>
            <p:cNvGrpSpPr/>
            <p:nvPr/>
          </p:nvGrpSpPr>
          <p:grpSpPr>
            <a:xfrm>
              <a:off x="517982" y="1340838"/>
              <a:ext cx="3437853" cy="3856732"/>
              <a:chOff x="3935737" y="1155687"/>
              <a:chExt cx="3437853" cy="3856732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F4ACB82A-C87C-45FC-BE69-E47EF659BC65}"/>
                  </a:ext>
                </a:extLst>
              </p:cNvPr>
              <p:cNvGrpSpPr/>
              <p:nvPr/>
            </p:nvGrpSpPr>
            <p:grpSpPr>
              <a:xfrm>
                <a:off x="3935737" y="1155687"/>
                <a:ext cx="3305363" cy="3856732"/>
                <a:chOff x="4832171" y="1449198"/>
                <a:chExt cx="2439757" cy="2846724"/>
              </a:xfrm>
            </p:grpSpPr>
            <p:sp>
              <p:nvSpPr>
                <p:cNvPr id="30" name="Rectangle 29">
                  <a:extLst>
                    <a:ext uri="{FF2B5EF4-FFF2-40B4-BE49-F238E27FC236}">
                      <a16:creationId xmlns:a16="http://schemas.microsoft.com/office/drawing/2014/main" id="{6AE6F935-1191-4452-B92B-CD4C460DFB83}"/>
                    </a:ext>
                  </a:extLst>
                </p:cNvPr>
                <p:cNvSpPr/>
                <p:nvPr/>
              </p:nvSpPr>
              <p:spPr>
                <a:xfrm>
                  <a:off x="5228593" y="3758101"/>
                  <a:ext cx="2043335" cy="537821"/>
                </a:xfrm>
                <a:prstGeom prst="rect">
                  <a:avLst/>
                </a:prstGeom>
                <a:noFill/>
                <a:ln>
                  <a:solidFill>
                    <a:srgbClr val="4F007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3C03AE57-4730-4407-B45D-46AEB1D765A5}"/>
                    </a:ext>
                  </a:extLst>
                </p:cNvPr>
                <p:cNvSpPr/>
                <p:nvPr/>
              </p:nvSpPr>
              <p:spPr>
                <a:xfrm>
                  <a:off x="5228593" y="2992798"/>
                  <a:ext cx="2043335" cy="537821"/>
                </a:xfrm>
                <a:prstGeom prst="rect">
                  <a:avLst/>
                </a:prstGeom>
                <a:noFill/>
                <a:ln>
                  <a:solidFill>
                    <a:srgbClr val="4F007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62898B23-EDD7-408C-BD7F-0F823F4BA5BB}"/>
                    </a:ext>
                  </a:extLst>
                </p:cNvPr>
                <p:cNvSpPr/>
                <p:nvPr/>
              </p:nvSpPr>
              <p:spPr>
                <a:xfrm>
                  <a:off x="5228593" y="1449198"/>
                  <a:ext cx="2043335" cy="537821"/>
                </a:xfrm>
                <a:prstGeom prst="rect">
                  <a:avLst/>
                </a:prstGeom>
                <a:noFill/>
                <a:ln>
                  <a:solidFill>
                    <a:srgbClr val="4F007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1" name="Rectangle: Rounded Corners 20">
                  <a:extLst>
                    <a:ext uri="{FF2B5EF4-FFF2-40B4-BE49-F238E27FC236}">
                      <a16:creationId xmlns:a16="http://schemas.microsoft.com/office/drawing/2014/main" id="{D05F6B78-5801-471A-9F67-ECCA21E283A6}"/>
                    </a:ext>
                  </a:extLst>
                </p:cNvPr>
                <p:cNvSpPr/>
                <p:nvPr/>
              </p:nvSpPr>
              <p:spPr>
                <a:xfrm>
                  <a:off x="4832172" y="1479185"/>
                  <a:ext cx="748986" cy="478338"/>
                </a:xfrm>
                <a:prstGeom prst="roundRect">
                  <a:avLst/>
                </a:prstGeom>
                <a:solidFill>
                  <a:srgbClr val="4F007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 b="1">
                      <a:latin typeface="Arial" panose="020B0604020202020204" pitchFamily="34" charset="0"/>
                      <a:cs typeface="Arial" panose="020B0604020202020204" pitchFamily="34" charset="0"/>
                    </a:rPr>
                    <a:t>160</a:t>
                  </a:r>
                  <a:endParaRPr lang="en-IN" sz="1600" b="1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2" name="Rectangle: Rounded Corners 21">
                  <a:extLst>
                    <a:ext uri="{FF2B5EF4-FFF2-40B4-BE49-F238E27FC236}">
                      <a16:creationId xmlns:a16="http://schemas.microsoft.com/office/drawing/2014/main" id="{2D1B8600-7F69-4290-B7C9-862732443616}"/>
                    </a:ext>
                  </a:extLst>
                </p:cNvPr>
                <p:cNvSpPr/>
                <p:nvPr/>
              </p:nvSpPr>
              <p:spPr>
                <a:xfrm>
                  <a:off x="4832171" y="3022785"/>
                  <a:ext cx="748986" cy="478338"/>
                </a:xfrm>
                <a:prstGeom prst="roundRect">
                  <a:avLst/>
                </a:prstGeom>
                <a:solidFill>
                  <a:srgbClr val="4F007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60</a:t>
                  </a:r>
                  <a:r>
                    <a:rPr lang="en-IN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%</a:t>
                  </a:r>
                  <a:endParaRPr lang="en-IN" sz="2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3" name="Rectangle: Rounded Corners 22">
                  <a:extLst>
                    <a:ext uri="{FF2B5EF4-FFF2-40B4-BE49-F238E27FC236}">
                      <a16:creationId xmlns:a16="http://schemas.microsoft.com/office/drawing/2014/main" id="{9645A836-093D-4186-B861-FF1B29EEC0EE}"/>
                    </a:ext>
                  </a:extLst>
                </p:cNvPr>
                <p:cNvSpPr/>
                <p:nvPr/>
              </p:nvSpPr>
              <p:spPr>
                <a:xfrm>
                  <a:off x="4832172" y="3788088"/>
                  <a:ext cx="748986" cy="478338"/>
                </a:xfrm>
                <a:prstGeom prst="roundRect">
                  <a:avLst/>
                </a:prstGeom>
                <a:solidFill>
                  <a:srgbClr val="4F007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100</a:t>
                  </a:r>
                  <a:r>
                    <a:rPr lang="en-US" sz="16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%</a:t>
                  </a:r>
                  <a:endParaRPr lang="en-IN" sz="2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85292A98-2ABE-4E94-B834-C50E3BCB59B4}"/>
                    </a:ext>
                  </a:extLst>
                </p:cNvPr>
                <p:cNvSpPr/>
                <p:nvPr/>
              </p:nvSpPr>
              <p:spPr>
                <a:xfrm>
                  <a:off x="5228593" y="2203360"/>
                  <a:ext cx="2043335" cy="537821"/>
                </a:xfrm>
                <a:prstGeom prst="rect">
                  <a:avLst/>
                </a:prstGeom>
                <a:noFill/>
                <a:ln>
                  <a:solidFill>
                    <a:srgbClr val="4F007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28" name="Rectangle: Rounded Corners 27">
                  <a:extLst>
                    <a:ext uri="{FF2B5EF4-FFF2-40B4-BE49-F238E27FC236}">
                      <a16:creationId xmlns:a16="http://schemas.microsoft.com/office/drawing/2014/main" id="{5DBA2BB6-6FD0-4BEC-8019-EE2A63295412}"/>
                    </a:ext>
                  </a:extLst>
                </p:cNvPr>
                <p:cNvSpPr/>
                <p:nvPr/>
              </p:nvSpPr>
              <p:spPr>
                <a:xfrm>
                  <a:off x="4832172" y="2236520"/>
                  <a:ext cx="748986" cy="478338"/>
                </a:xfrm>
                <a:prstGeom prst="roundRect">
                  <a:avLst/>
                </a:prstGeom>
                <a:solidFill>
                  <a:srgbClr val="4F0077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IN" sz="2400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25</a:t>
                  </a:r>
                  <a:r>
                    <a:rPr lang="en-IN" b="1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%</a:t>
                  </a:r>
                  <a:endParaRPr lang="en-IN" sz="2400" b="1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1031" name="TextBox 1030">
                <a:extLst>
                  <a:ext uri="{FF2B5EF4-FFF2-40B4-BE49-F238E27FC236}">
                    <a16:creationId xmlns:a16="http://schemas.microsoft.com/office/drawing/2014/main" id="{F1639554-BF08-43B8-A3D9-D7BE2D770B4B}"/>
                  </a:ext>
                </a:extLst>
              </p:cNvPr>
              <p:cNvSpPr txBox="1"/>
              <p:nvPr/>
            </p:nvSpPr>
            <p:spPr>
              <a:xfrm>
                <a:off x="4975492" y="3359391"/>
                <a:ext cx="239809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Lower aftersales revenue</a:t>
                </a:r>
              </a:p>
              <a:p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 EV as compared to ICE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7EC1CD0B-3867-4016-BEA9-3159C9E96230}"/>
                  </a:ext>
                </a:extLst>
              </p:cNvPr>
              <p:cNvSpPr txBox="1"/>
              <p:nvPr/>
            </p:nvSpPr>
            <p:spPr>
              <a:xfrm>
                <a:off x="4950457" y="1197760"/>
                <a:ext cx="235263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2-wheelers per 1000 population in India. 600 per 1000 in </a:t>
                </a:r>
                <a:r>
                  <a:rPr lang="en-IN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Vietnam</a:t>
                </a: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</a:t>
                </a:r>
              </a:p>
            </p:txBody>
          </p:sp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956F331D-5B3B-4974-A6F3-FAF8353EA1ED}"/>
                  </a:ext>
                </a:extLst>
              </p:cNvPr>
              <p:cNvSpPr txBox="1"/>
              <p:nvPr/>
            </p:nvSpPr>
            <p:spPr>
              <a:xfrm>
                <a:off x="4957674" y="2212624"/>
                <a:ext cx="226328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Projected </a:t>
                </a:r>
                <a:r>
                  <a:rPr lang="en-IN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CAGR</a:t>
                </a: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for Indian Electric 2-wheeler market in FY21-FY26</a:t>
                </a:r>
              </a:p>
            </p:txBody>
          </p:sp>
        </p:grpSp>
        <p:sp>
          <p:nvSpPr>
            <p:cNvPr id="79" name="Rectangle: Diagonal Corners Rounded 78">
              <a:extLst>
                <a:ext uri="{FF2B5EF4-FFF2-40B4-BE49-F238E27FC236}">
                  <a16:creationId xmlns:a16="http://schemas.microsoft.com/office/drawing/2014/main" id="{A68DC51F-F2C0-418A-B3D0-21A0DA476368}"/>
                </a:ext>
              </a:extLst>
            </p:cNvPr>
            <p:cNvSpPr>
              <a:spLocks/>
            </p:cNvSpPr>
            <p:nvPr/>
          </p:nvSpPr>
          <p:spPr>
            <a:xfrm flipH="1">
              <a:off x="94707" y="527611"/>
              <a:ext cx="4158315" cy="628483"/>
            </a:xfrm>
            <a:prstGeom prst="round2DiagRect">
              <a:avLst>
                <a:gd name="adj1" fmla="val 4906"/>
                <a:gd name="adj2" fmla="val 0"/>
              </a:avLst>
            </a:prstGeom>
            <a:noFill/>
            <a:ln>
              <a:solidFill>
                <a:srgbClr val="470D6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F1B19BE-6E13-4E1C-B0FB-52E240E832CE}"/>
                </a:ext>
              </a:extLst>
            </p:cNvPr>
            <p:cNvGrpSpPr/>
            <p:nvPr/>
          </p:nvGrpSpPr>
          <p:grpSpPr>
            <a:xfrm>
              <a:off x="8492093" y="3953906"/>
              <a:ext cx="3535866" cy="1519982"/>
              <a:chOff x="8503868" y="562591"/>
              <a:chExt cx="3535866" cy="1519982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29B857B2-998C-4E6E-A791-7B570FCC028A}"/>
                  </a:ext>
                </a:extLst>
              </p:cNvPr>
              <p:cNvGrpSpPr/>
              <p:nvPr/>
            </p:nvGrpSpPr>
            <p:grpSpPr>
              <a:xfrm>
                <a:off x="10344100" y="562591"/>
                <a:ext cx="1695634" cy="1515758"/>
                <a:chOff x="10344100" y="562591"/>
                <a:chExt cx="1695634" cy="1515758"/>
              </a:xfrm>
            </p:grpSpPr>
            <p:sp>
              <p:nvSpPr>
                <p:cNvPr id="91" name="TextBox 90">
                  <a:extLst>
                    <a:ext uri="{FF2B5EF4-FFF2-40B4-BE49-F238E27FC236}">
                      <a16:creationId xmlns:a16="http://schemas.microsoft.com/office/drawing/2014/main" id="{04985D0A-7C28-4209-8448-7ABE522CCEFD}"/>
                    </a:ext>
                  </a:extLst>
                </p:cNvPr>
                <p:cNvSpPr txBox="1"/>
                <p:nvPr/>
              </p:nvSpPr>
              <p:spPr>
                <a:xfrm>
                  <a:off x="10344100" y="562591"/>
                  <a:ext cx="1695500" cy="307777"/>
                </a:xfrm>
                <a:prstGeom prst="rect">
                  <a:avLst/>
                </a:prstGeom>
                <a:solidFill>
                  <a:srgbClr val="4A0E64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400">
                      <a:solidFill>
                        <a:schemeClr val="bg1"/>
                      </a:solidFill>
                      <a:latin typeface="Georgia" panose="02040502050405020303" pitchFamily="18" charset="0"/>
                    </a:rPr>
                    <a:t>Post-</a:t>
                  </a:r>
                  <a:r>
                    <a:rPr lang="en-IN" sz="1400" err="1">
                      <a:solidFill>
                        <a:schemeClr val="bg1"/>
                      </a:solidFill>
                      <a:latin typeface="Georgia" panose="02040502050405020303" pitchFamily="18" charset="0"/>
                    </a:rPr>
                    <a:t>rEVolution</a:t>
                  </a:r>
                  <a:endParaRPr lang="en-IN" sz="1400">
                    <a:solidFill>
                      <a:schemeClr val="bg1"/>
                    </a:solidFill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93" name="Rectangle 92">
                  <a:extLst>
                    <a:ext uri="{FF2B5EF4-FFF2-40B4-BE49-F238E27FC236}">
                      <a16:creationId xmlns:a16="http://schemas.microsoft.com/office/drawing/2014/main" id="{A9A54769-428B-4597-81CC-0A5B543B56C3}"/>
                    </a:ext>
                  </a:extLst>
                </p:cNvPr>
                <p:cNvSpPr/>
                <p:nvPr/>
              </p:nvSpPr>
              <p:spPr>
                <a:xfrm>
                  <a:off x="10344100" y="562593"/>
                  <a:ext cx="1695634" cy="1515756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08AA38AF-A37A-4B01-98F9-355E930D4CC9}"/>
                  </a:ext>
                </a:extLst>
              </p:cNvPr>
              <p:cNvGrpSpPr/>
              <p:nvPr/>
            </p:nvGrpSpPr>
            <p:grpSpPr>
              <a:xfrm>
                <a:off x="8506257" y="574467"/>
                <a:ext cx="1695634" cy="1503881"/>
                <a:chOff x="10344100" y="562591"/>
                <a:chExt cx="1695634" cy="1503881"/>
              </a:xfrm>
            </p:grpSpPr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F8963455-DA58-4445-A5D5-BE38BDD7AC77}"/>
                    </a:ext>
                  </a:extLst>
                </p:cNvPr>
                <p:cNvSpPr txBox="1"/>
                <p:nvPr/>
              </p:nvSpPr>
              <p:spPr>
                <a:xfrm>
                  <a:off x="10344100" y="562591"/>
                  <a:ext cx="1695500" cy="307777"/>
                </a:xfrm>
                <a:prstGeom prst="rect">
                  <a:avLst/>
                </a:prstGeom>
                <a:solidFill>
                  <a:srgbClr val="4A0E64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400">
                      <a:solidFill>
                        <a:schemeClr val="bg1"/>
                      </a:solidFill>
                      <a:latin typeface="Georgia" panose="02040502050405020303" pitchFamily="18" charset="0"/>
                    </a:rPr>
                    <a:t>Pre-</a:t>
                  </a:r>
                  <a:r>
                    <a:rPr lang="en-IN" sz="1400" err="1">
                      <a:solidFill>
                        <a:schemeClr val="bg1"/>
                      </a:solidFill>
                      <a:latin typeface="Georgia" panose="02040502050405020303" pitchFamily="18" charset="0"/>
                    </a:rPr>
                    <a:t>rEVolution</a:t>
                  </a:r>
                  <a:endParaRPr lang="en-IN" sz="1400">
                    <a:solidFill>
                      <a:schemeClr val="bg1"/>
                    </a:solidFill>
                    <a:latin typeface="Georgia" panose="02040502050405020303" pitchFamily="18" charset="0"/>
                  </a:endParaRPr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E0A7521D-E0AA-4E38-A4F2-DDD13BA8BB4F}"/>
                    </a:ext>
                  </a:extLst>
                </p:cNvPr>
                <p:cNvSpPr/>
                <p:nvPr/>
              </p:nvSpPr>
              <p:spPr>
                <a:xfrm>
                  <a:off x="10344100" y="562592"/>
                  <a:ext cx="1695634" cy="1503880"/>
                </a:xfrm>
                <a:prstGeom prst="rect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</p:grp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C05FAD7-E382-4FB2-8581-31EFBE67C6BD}"/>
                  </a:ext>
                </a:extLst>
              </p:cNvPr>
              <p:cNvSpPr txBox="1"/>
              <p:nvPr/>
            </p:nvSpPr>
            <p:spPr>
              <a:xfrm>
                <a:off x="8503868" y="878019"/>
                <a:ext cx="1664059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Mileage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Looks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Engine Capacity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Brand Value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Resale value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Aftersales Service</a:t>
                </a: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D2B9567D-3B85-43B3-8B51-96867C20B4D4}"/>
                  </a:ext>
                </a:extLst>
              </p:cNvPr>
              <p:cNvSpPr txBox="1"/>
              <p:nvPr/>
            </p:nvSpPr>
            <p:spPr>
              <a:xfrm>
                <a:off x="10333139" y="882244"/>
                <a:ext cx="1691797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Max Speed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Range/Torque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Performance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Battery Warranty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Peak motor Power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Aftersales Service</a:t>
                </a:r>
              </a:p>
            </p:txBody>
          </p:sp>
        </p:grp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1165C65-5897-4235-B004-DDCA7B9BB808}"/>
                </a:ext>
              </a:extLst>
            </p:cNvPr>
            <p:cNvGrpSpPr/>
            <p:nvPr/>
          </p:nvGrpSpPr>
          <p:grpSpPr>
            <a:xfrm>
              <a:off x="8398926" y="661471"/>
              <a:ext cx="4092512" cy="3239291"/>
              <a:chOff x="8452309" y="3093505"/>
              <a:chExt cx="4092512" cy="3239291"/>
            </a:xfrm>
          </p:grpSpPr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36945E70-84EB-48B0-96B8-24E62D25A1FC}"/>
                  </a:ext>
                </a:extLst>
              </p:cNvPr>
              <p:cNvSpPr/>
              <p:nvPr/>
            </p:nvSpPr>
            <p:spPr>
              <a:xfrm>
                <a:off x="8487533" y="3553320"/>
                <a:ext cx="3540157" cy="2656948"/>
              </a:xfrm>
              <a:prstGeom prst="roundRect">
                <a:avLst>
                  <a:gd name="adj" fmla="val 6394"/>
                </a:avLst>
              </a:prstGeom>
              <a:noFill/>
              <a:ln>
                <a:solidFill>
                  <a:srgbClr val="4F0077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6F960C7-54C6-427F-9642-335D4509735A}"/>
                  </a:ext>
                </a:extLst>
              </p:cNvPr>
              <p:cNvSpPr txBox="1"/>
              <p:nvPr/>
            </p:nvSpPr>
            <p:spPr>
              <a:xfrm>
                <a:off x="8452309" y="3093505"/>
                <a:ext cx="3583587" cy="340519"/>
              </a:xfrm>
              <a:prstGeom prst="roundRect">
                <a:avLst/>
              </a:prstGeom>
              <a:solidFill>
                <a:srgbClr val="4A0E64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>
                    <a:solidFill>
                      <a:schemeClr val="bg1"/>
                    </a:solidFill>
                    <a:latin typeface="Georgia" panose="02040502050405020303" pitchFamily="18" charset="0"/>
                  </a:rPr>
                  <a:t>Customer Pain Points</a:t>
                </a:r>
              </a:p>
            </p:txBody>
          </p:sp>
          <p:graphicFrame>
            <p:nvGraphicFramePr>
              <p:cNvPr id="64" name="Chart 63">
                <a:extLst>
                  <a:ext uri="{FF2B5EF4-FFF2-40B4-BE49-F238E27FC236}">
                    <a16:creationId xmlns:a16="http://schemas.microsoft.com/office/drawing/2014/main" id="{C9CF91EC-DB84-4282-AE05-5BA3A64709D1}"/>
                  </a:ext>
                </a:extLst>
              </p:cNvPr>
              <p:cNvGraphicFramePr>
                <a:graphicFrameLocks/>
              </p:cNvGraphicFramePr>
              <p:nvPr>
                <p:custDataLst>
                  <p:tags r:id="rId1"/>
                </p:custDataLst>
                <p:extLst>
                  <p:ext uri="{D42A27DB-BD31-4B8C-83A1-F6EECF244321}">
                    <p14:modId xmlns:p14="http://schemas.microsoft.com/office/powerpoint/2010/main" val="2857401585"/>
                  </p:ext>
                </p:extLst>
              </p:nvPr>
            </p:nvGraphicFramePr>
            <p:xfrm>
              <a:off x="8544788" y="3547565"/>
              <a:ext cx="4000033" cy="278523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3"/>
              </a:graphicData>
            </a:graphic>
          </p:graphicFrame>
        </p:grpSp>
        <p:pic>
          <p:nvPicPr>
            <p:cNvPr id="58" name="Picture 2" descr="Accenture | Let there be change">
              <a:extLst>
                <a:ext uri="{FF2B5EF4-FFF2-40B4-BE49-F238E27FC236}">
                  <a16:creationId xmlns:a16="http://schemas.microsoft.com/office/drawing/2014/main" id="{AD615FCE-280A-4D46-AAB3-FBEBAFF38D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422" y="50969"/>
              <a:ext cx="313031" cy="320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71B22D01-FFCD-4DD7-852F-E1EE6FDC0A3D}"/>
                </a:ext>
              </a:extLst>
            </p:cNvPr>
            <p:cNvSpPr txBox="1"/>
            <p:nvPr/>
          </p:nvSpPr>
          <p:spPr>
            <a:xfrm>
              <a:off x="4610399" y="1505795"/>
              <a:ext cx="81803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2400" b="1" dirty="0">
                  <a:solidFill>
                    <a:srgbClr val="4F00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55</a:t>
              </a:r>
              <a:r>
                <a:rPr lang="en-IN" sz="1400" b="1" dirty="0">
                  <a:solidFill>
                    <a:srgbClr val="4F00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  <a:endParaRPr lang="en-IN" sz="2400" b="1" dirty="0">
                <a:solidFill>
                  <a:srgbClr val="4F007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F399DEB7-9FC1-4CA3-B436-5BD6E90E17A0}"/>
                </a:ext>
              </a:extLst>
            </p:cNvPr>
            <p:cNvSpPr txBox="1"/>
            <p:nvPr/>
          </p:nvSpPr>
          <p:spPr>
            <a:xfrm>
              <a:off x="5618010" y="1494948"/>
              <a:ext cx="276249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Believe that EVs can save significant amount of money for consumers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3B029D96-9426-4E5F-A430-C5A3EB026A99}"/>
                </a:ext>
              </a:extLst>
            </p:cNvPr>
            <p:cNvSpPr txBox="1"/>
            <p:nvPr/>
          </p:nvSpPr>
          <p:spPr>
            <a:xfrm>
              <a:off x="4621134" y="4717718"/>
              <a:ext cx="81803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2400" b="1">
                  <a:solidFill>
                    <a:srgbClr val="4F00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96</a:t>
              </a:r>
              <a:r>
                <a:rPr lang="en-IN" sz="1400" b="1">
                  <a:solidFill>
                    <a:srgbClr val="4F00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BCFC522-0248-4B6A-A5F0-8E87E1B1422A}"/>
                </a:ext>
              </a:extLst>
            </p:cNvPr>
            <p:cNvSpPr txBox="1"/>
            <p:nvPr/>
          </p:nvSpPr>
          <p:spPr>
            <a:xfrm>
              <a:off x="7580894" y="3915784"/>
              <a:ext cx="81803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2400" b="1">
                  <a:solidFill>
                    <a:srgbClr val="4F00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73</a:t>
              </a:r>
              <a:r>
                <a:rPr lang="en-IN" sz="1400" b="1">
                  <a:solidFill>
                    <a:srgbClr val="4F00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8AD23BC8-C0D2-4D8B-8D32-CB4A14553287}"/>
                </a:ext>
              </a:extLst>
            </p:cNvPr>
            <p:cNvSpPr txBox="1"/>
            <p:nvPr/>
          </p:nvSpPr>
          <p:spPr>
            <a:xfrm>
              <a:off x="7570835" y="2315791"/>
              <a:ext cx="81803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2400" b="1">
                  <a:solidFill>
                    <a:srgbClr val="4F00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77</a:t>
              </a:r>
              <a:r>
                <a:rPr lang="en-IN" sz="1400" b="1">
                  <a:solidFill>
                    <a:srgbClr val="4F00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D899DE97-B531-4FC5-98E9-6809AD6DEC24}"/>
                </a:ext>
              </a:extLst>
            </p:cNvPr>
            <p:cNvSpPr txBox="1"/>
            <p:nvPr/>
          </p:nvSpPr>
          <p:spPr>
            <a:xfrm>
              <a:off x="4610015" y="3090673"/>
              <a:ext cx="818032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IN" sz="2400" b="1">
                  <a:solidFill>
                    <a:srgbClr val="4F00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12</a:t>
              </a:r>
              <a:r>
                <a:rPr lang="en-IN" sz="1400" b="1">
                  <a:solidFill>
                    <a:srgbClr val="4F00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%</a:t>
              </a:r>
            </a:p>
          </p:txBody>
        </p:sp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32D83569-A86A-435A-B7D2-3AF73F9CC33E}"/>
                </a:ext>
              </a:extLst>
            </p:cNvPr>
            <p:cNvSpPr txBox="1"/>
            <p:nvPr/>
          </p:nvSpPr>
          <p:spPr>
            <a:xfrm>
              <a:off x="5627853" y="3025527"/>
              <a:ext cx="2595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Premium is considered acceptable by an average customer for going Electric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802E19E-72DC-496F-8372-28CD8975632B}"/>
                </a:ext>
              </a:extLst>
            </p:cNvPr>
            <p:cNvSpPr txBox="1"/>
            <p:nvPr/>
          </p:nvSpPr>
          <p:spPr>
            <a:xfrm>
              <a:off x="4819726" y="2281117"/>
              <a:ext cx="25958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Respondents believe that EVs can significantly reduce global warming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057A95FA-10CE-4739-9185-1DCC604CB85A}"/>
                </a:ext>
              </a:extLst>
            </p:cNvPr>
            <p:cNvSpPr txBox="1"/>
            <p:nvPr/>
          </p:nvSpPr>
          <p:spPr>
            <a:xfrm>
              <a:off x="4850118" y="3830103"/>
              <a:ext cx="26552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Respondents say that lack of charging infrastructure is preventing them to buy EV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0E7B4EF2-3900-404E-B881-AC882BB31275}"/>
                </a:ext>
              </a:extLst>
            </p:cNvPr>
            <p:cNvSpPr txBox="1"/>
            <p:nvPr/>
          </p:nvSpPr>
          <p:spPr>
            <a:xfrm>
              <a:off x="5646629" y="4634855"/>
              <a:ext cx="25958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Respondents would want to explore EVs if provided as an employee benefit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51C3D739-0588-47A8-BDBE-A65F99A54CD7}"/>
                </a:ext>
              </a:extLst>
            </p:cNvPr>
            <p:cNvSpPr txBox="1"/>
            <p:nvPr/>
          </p:nvSpPr>
          <p:spPr>
            <a:xfrm>
              <a:off x="80008" y="518714"/>
              <a:ext cx="454099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ABC Ltd</a:t>
              </a:r>
              <a:r>
                <a:rPr lang="en-IN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 an established </a:t>
              </a:r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OEM in the two-wheeler segment</a:t>
              </a:r>
            </a:p>
            <a:p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has entered the Electric 2-Wheeler industry in India with an Electric Scooter. It seeks market expansion</a:t>
              </a:r>
              <a:endParaRPr lang="en-I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D7D1CB9-9879-484A-ADC4-274B8050C698}"/>
                </a:ext>
              </a:extLst>
            </p:cNvPr>
            <p:cNvSpPr/>
            <p:nvPr/>
          </p:nvSpPr>
          <p:spPr>
            <a:xfrm>
              <a:off x="819149" y="5629294"/>
              <a:ext cx="10553701" cy="764148"/>
            </a:xfrm>
            <a:prstGeom prst="rect">
              <a:avLst/>
            </a:prstGeom>
            <a:noFill/>
            <a:ln>
              <a:solidFill>
                <a:srgbClr val="923F5D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05C572D-0CF8-4759-9B91-9A8179EAC4BA}"/>
                </a:ext>
              </a:extLst>
            </p:cNvPr>
            <p:cNvSpPr txBox="1"/>
            <p:nvPr/>
          </p:nvSpPr>
          <p:spPr>
            <a:xfrm>
              <a:off x="919384" y="5701722"/>
              <a:ext cx="104868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rgbClr val="4A0073"/>
                  </a:solidFill>
                </a:rPr>
                <a:t>India is ready for EV but is still anxious. </a:t>
              </a:r>
              <a:r>
                <a:rPr lang="en-US" b="1" dirty="0">
                  <a:solidFill>
                    <a:srgbClr val="923F5D"/>
                  </a:solidFill>
                </a:rPr>
                <a:t>EV Battery setbacks</a:t>
              </a:r>
              <a:r>
                <a:rPr lang="en-US" dirty="0">
                  <a:solidFill>
                    <a:srgbClr val="923F5D"/>
                  </a:solidFill>
                </a:rPr>
                <a:t>, </a:t>
              </a:r>
              <a:r>
                <a:rPr lang="en-US" b="1" dirty="0">
                  <a:solidFill>
                    <a:srgbClr val="923F5D"/>
                  </a:solidFill>
                </a:rPr>
                <a:t>Service concern, Range anxiety &amp; Lack of customer awareness </a:t>
              </a:r>
              <a:r>
                <a:rPr lang="en-US" dirty="0">
                  <a:solidFill>
                    <a:srgbClr val="4A0073"/>
                  </a:solidFill>
                </a:rPr>
                <a:t>are the 4 major problems as identified by us from our primary and secondary research </a:t>
              </a:r>
              <a:endParaRPr lang="en-IN" dirty="0">
                <a:solidFill>
                  <a:srgbClr val="4A0073"/>
                </a:solidFill>
              </a:endParaRP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6FDB3E5D-E1D5-4624-A972-D17A5F61E1A6}"/>
                </a:ext>
              </a:extLst>
            </p:cNvPr>
            <p:cNvSpPr txBox="1"/>
            <p:nvPr/>
          </p:nvSpPr>
          <p:spPr>
            <a:xfrm>
              <a:off x="1567456" y="4581782"/>
              <a:ext cx="239809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Conversion to </a:t>
              </a:r>
              <a:r>
                <a:rPr lang="en-US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EV</a:t>
              </a:r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aimed by </a:t>
              </a:r>
              <a:r>
                <a:rPr lang="en-US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Zomato</a:t>
              </a:r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by 2030</a:t>
              </a:r>
              <a:endParaRPr lang="en-I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44DE0BDD-1F47-4397-AAB5-B4E337584BA9}"/>
                </a:ext>
              </a:extLst>
            </p:cNvPr>
            <p:cNvGrpSpPr/>
            <p:nvPr/>
          </p:nvGrpSpPr>
          <p:grpSpPr>
            <a:xfrm>
              <a:off x="0" y="6478216"/>
              <a:ext cx="12073411" cy="316618"/>
              <a:chOff x="0" y="6478216"/>
              <a:chExt cx="12073411" cy="316618"/>
            </a:xfrm>
          </p:grpSpPr>
          <p:grpSp>
            <p:nvGrpSpPr>
              <p:cNvPr id="86" name="Group 85">
                <a:extLst>
                  <a:ext uri="{FF2B5EF4-FFF2-40B4-BE49-F238E27FC236}">
                    <a16:creationId xmlns:a16="http://schemas.microsoft.com/office/drawing/2014/main" id="{85DE439A-F6AB-4D8B-8E4B-1F5D67093A15}"/>
                  </a:ext>
                </a:extLst>
              </p:cNvPr>
              <p:cNvGrpSpPr/>
              <p:nvPr/>
            </p:nvGrpSpPr>
            <p:grpSpPr>
              <a:xfrm>
                <a:off x="0" y="6478216"/>
                <a:ext cx="2624654" cy="316618"/>
                <a:chOff x="2949" y="0"/>
                <a:chExt cx="2624654" cy="316618"/>
              </a:xfrm>
              <a:solidFill>
                <a:srgbClr val="4F0077"/>
              </a:solidFill>
            </p:grpSpPr>
            <p:sp>
              <p:nvSpPr>
                <p:cNvPr id="99" name="Arrow: Chevron 98">
                  <a:extLst>
                    <a:ext uri="{FF2B5EF4-FFF2-40B4-BE49-F238E27FC236}">
                      <a16:creationId xmlns:a16="http://schemas.microsoft.com/office/drawing/2014/main" id="{8ADE3406-3D76-46E5-911F-5326BB7290EA}"/>
                    </a:ext>
                  </a:extLst>
                </p:cNvPr>
                <p:cNvSpPr/>
                <p:nvPr/>
              </p:nvSpPr>
              <p:spPr>
                <a:xfrm>
                  <a:off x="2949" y="0"/>
                  <a:ext cx="2624654" cy="316618"/>
                </a:xfrm>
                <a:prstGeom prst="chevron">
                  <a:avLst/>
                </a:prstGeom>
                <a:solidFill>
                  <a:srgbClr val="923F5D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03" name="Arrow: Chevron 4">
                  <a:extLst>
                    <a:ext uri="{FF2B5EF4-FFF2-40B4-BE49-F238E27FC236}">
                      <a16:creationId xmlns:a16="http://schemas.microsoft.com/office/drawing/2014/main" id="{116434E3-7755-487A-A14C-D881DCF9267D}"/>
                    </a:ext>
                  </a:extLst>
                </p:cNvPr>
                <p:cNvSpPr txBox="1"/>
                <p:nvPr/>
              </p:nvSpPr>
              <p:spPr>
                <a:xfrm>
                  <a:off x="161258" y="0"/>
                  <a:ext cx="2308036" cy="316618"/>
                </a:xfrm>
                <a:prstGeom prst="rect">
                  <a:avLst/>
                </a:prstGeom>
                <a:noFill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56007" tIns="18669" rIns="18669" bIns="18669" numCol="1" spcCol="1270" anchor="ctr" anchorCtr="0">
                  <a:noAutofit/>
                </a:bodyPr>
                <a:lstStyle/>
                <a:p>
                  <a:pPr marL="0" lvl="0" indent="0"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IN" sz="1400" b="1" kern="12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Industry </a:t>
                  </a:r>
                  <a:r>
                    <a:rPr lang="en-IN" sz="14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&amp; Pain points</a:t>
                  </a:r>
                  <a:endParaRPr lang="en-IN" sz="1400" b="1" kern="12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87" name="Arrow: Chevron 86">
                <a:extLst>
                  <a:ext uri="{FF2B5EF4-FFF2-40B4-BE49-F238E27FC236}">
                    <a16:creationId xmlns:a16="http://schemas.microsoft.com/office/drawing/2014/main" id="{E3BF75DA-C9FB-4F67-A19F-1AE3977E70BD}"/>
                  </a:ext>
                </a:extLst>
              </p:cNvPr>
              <p:cNvSpPr/>
              <p:nvPr/>
            </p:nvSpPr>
            <p:spPr>
              <a:xfrm>
                <a:off x="2362189" y="6478216"/>
                <a:ext cx="2624654" cy="316618"/>
              </a:xfrm>
              <a:prstGeom prst="chevron">
                <a:avLst/>
              </a:prstGeom>
              <a:solidFill>
                <a:srgbClr val="4A0073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Market Opportunity</a:t>
                </a:r>
                <a:endParaRPr lang="en-IN" sz="14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88" name="Group 87">
                <a:extLst>
                  <a:ext uri="{FF2B5EF4-FFF2-40B4-BE49-F238E27FC236}">
                    <a16:creationId xmlns:a16="http://schemas.microsoft.com/office/drawing/2014/main" id="{EC004643-D367-43B9-BD4F-F85EC504CC9D}"/>
                  </a:ext>
                </a:extLst>
              </p:cNvPr>
              <p:cNvGrpSpPr/>
              <p:nvPr/>
            </p:nvGrpSpPr>
            <p:grpSpPr>
              <a:xfrm>
                <a:off x="4724378" y="6478216"/>
                <a:ext cx="2624654" cy="316618"/>
                <a:chOff x="4727327" y="0"/>
                <a:chExt cx="2624654" cy="316618"/>
              </a:xfrm>
            </p:grpSpPr>
            <p:sp>
              <p:nvSpPr>
                <p:cNvPr id="97" name="Arrow: Chevron 96">
                  <a:extLst>
                    <a:ext uri="{FF2B5EF4-FFF2-40B4-BE49-F238E27FC236}">
                      <a16:creationId xmlns:a16="http://schemas.microsoft.com/office/drawing/2014/main" id="{E00F91F2-F5B3-49A8-A024-0315E4EB3568}"/>
                    </a:ext>
                  </a:extLst>
                </p:cNvPr>
                <p:cNvSpPr/>
                <p:nvPr/>
              </p:nvSpPr>
              <p:spPr>
                <a:xfrm>
                  <a:off x="4727327" y="0"/>
                  <a:ext cx="2624654" cy="316618"/>
                </a:xfrm>
                <a:prstGeom prst="chevron">
                  <a:avLst/>
                </a:prstGeom>
                <a:solidFill>
                  <a:srgbClr val="4F0077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98" name="Arrow: Chevron 8">
                  <a:extLst>
                    <a:ext uri="{FF2B5EF4-FFF2-40B4-BE49-F238E27FC236}">
                      <a16:creationId xmlns:a16="http://schemas.microsoft.com/office/drawing/2014/main" id="{E76EE711-3FDF-4C35-93FE-F67F78192E36}"/>
                    </a:ext>
                  </a:extLst>
                </p:cNvPr>
                <p:cNvSpPr txBox="1"/>
                <p:nvPr/>
              </p:nvSpPr>
              <p:spPr>
                <a:xfrm>
                  <a:off x="4885636" y="0"/>
                  <a:ext cx="2308036" cy="316618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48006" tIns="16002" rIns="16002" bIns="16002" numCol="1" spcCol="1270" anchor="ctr" anchorCtr="0">
                  <a:noAutofit/>
                </a:bodyPr>
                <a:lstStyle/>
                <a:p>
                  <a:pPr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14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GTM Strategy</a:t>
                  </a:r>
                  <a:endParaRPr lang="en-IN" sz="1400" b="1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89" name="Group 88">
                <a:extLst>
                  <a:ext uri="{FF2B5EF4-FFF2-40B4-BE49-F238E27FC236}">
                    <a16:creationId xmlns:a16="http://schemas.microsoft.com/office/drawing/2014/main" id="{524F9DEF-5DFA-4830-8F6B-C7966842B51B}"/>
                  </a:ext>
                </a:extLst>
              </p:cNvPr>
              <p:cNvGrpSpPr/>
              <p:nvPr/>
            </p:nvGrpSpPr>
            <p:grpSpPr>
              <a:xfrm>
                <a:off x="7086567" y="6478216"/>
                <a:ext cx="2624654" cy="316618"/>
                <a:chOff x="7089516" y="0"/>
                <a:chExt cx="2624654" cy="316618"/>
              </a:xfrm>
            </p:grpSpPr>
            <p:sp>
              <p:nvSpPr>
                <p:cNvPr id="95" name="Arrow: Chevron 94">
                  <a:extLst>
                    <a:ext uri="{FF2B5EF4-FFF2-40B4-BE49-F238E27FC236}">
                      <a16:creationId xmlns:a16="http://schemas.microsoft.com/office/drawing/2014/main" id="{6A21B8AB-C379-4978-9AA2-CF56510DE934}"/>
                    </a:ext>
                  </a:extLst>
                </p:cNvPr>
                <p:cNvSpPr/>
                <p:nvPr/>
              </p:nvSpPr>
              <p:spPr>
                <a:xfrm>
                  <a:off x="7089516" y="0"/>
                  <a:ext cx="2624654" cy="316618"/>
                </a:xfrm>
                <a:prstGeom prst="chevron">
                  <a:avLst/>
                </a:prstGeom>
                <a:solidFill>
                  <a:srgbClr val="4F0077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96" name="Arrow: Chevron 10">
                  <a:extLst>
                    <a:ext uri="{FF2B5EF4-FFF2-40B4-BE49-F238E27FC236}">
                      <a16:creationId xmlns:a16="http://schemas.microsoft.com/office/drawing/2014/main" id="{CA7656B6-FC73-4EFA-B547-4C5B0F057FC9}"/>
                    </a:ext>
                  </a:extLst>
                </p:cNvPr>
                <p:cNvSpPr txBox="1"/>
                <p:nvPr/>
              </p:nvSpPr>
              <p:spPr>
                <a:xfrm>
                  <a:off x="7247825" y="0"/>
                  <a:ext cx="2308036" cy="316618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48006" tIns="16002" rIns="16002" bIns="16002" numCol="1" spcCol="1270" anchor="ctr" anchorCtr="0">
                  <a:noAutofit/>
                </a:bodyPr>
                <a:lstStyle/>
                <a:p>
                  <a:pPr marL="0" lvl="0" indent="0" algn="ctr" defTabSz="5334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4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Distribution &amp; Marketing</a:t>
                  </a:r>
                  <a:endParaRPr lang="en-IN" sz="1400" b="1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90" name="Group 89">
                <a:extLst>
                  <a:ext uri="{FF2B5EF4-FFF2-40B4-BE49-F238E27FC236}">
                    <a16:creationId xmlns:a16="http://schemas.microsoft.com/office/drawing/2014/main" id="{071A7FE2-7418-4784-9622-114A7E8E0755}"/>
                  </a:ext>
                </a:extLst>
              </p:cNvPr>
              <p:cNvGrpSpPr/>
              <p:nvPr/>
            </p:nvGrpSpPr>
            <p:grpSpPr>
              <a:xfrm>
                <a:off x="9448757" y="6478216"/>
                <a:ext cx="2624654" cy="316618"/>
                <a:chOff x="9451706" y="0"/>
                <a:chExt cx="2624654" cy="316618"/>
              </a:xfrm>
            </p:grpSpPr>
            <p:sp>
              <p:nvSpPr>
                <p:cNvPr id="92" name="Arrow: Chevron 91">
                  <a:extLst>
                    <a:ext uri="{FF2B5EF4-FFF2-40B4-BE49-F238E27FC236}">
                      <a16:creationId xmlns:a16="http://schemas.microsoft.com/office/drawing/2014/main" id="{EFFCDA21-796C-434F-BDED-B39EEE605524}"/>
                    </a:ext>
                  </a:extLst>
                </p:cNvPr>
                <p:cNvSpPr/>
                <p:nvPr/>
              </p:nvSpPr>
              <p:spPr>
                <a:xfrm>
                  <a:off x="9451706" y="0"/>
                  <a:ext cx="2624654" cy="316618"/>
                </a:xfrm>
                <a:prstGeom prst="chevron">
                  <a:avLst/>
                </a:prstGeom>
                <a:solidFill>
                  <a:srgbClr val="4F0077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94" name="Arrow: Chevron 12">
                  <a:extLst>
                    <a:ext uri="{FF2B5EF4-FFF2-40B4-BE49-F238E27FC236}">
                      <a16:creationId xmlns:a16="http://schemas.microsoft.com/office/drawing/2014/main" id="{96299F09-99CF-4584-9614-0132761F8A76}"/>
                    </a:ext>
                  </a:extLst>
                </p:cNvPr>
                <p:cNvSpPr txBox="1"/>
                <p:nvPr/>
              </p:nvSpPr>
              <p:spPr>
                <a:xfrm>
                  <a:off x="9610015" y="0"/>
                  <a:ext cx="2308036" cy="316618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48006" tIns="16002" rIns="16002" bIns="16002" numCol="1" spcCol="1270" anchor="ctr" anchorCtr="0">
                  <a:noAutofit/>
                </a:bodyPr>
                <a:lstStyle/>
                <a:p>
                  <a:pPr marL="0" lvl="0" indent="0" algn="ctr" defTabSz="5334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IN" sz="14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Touchpoints &amp; KPIs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4765505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1CB2E84-8E1B-4CE1-9897-BA47AA4B126A}"/>
              </a:ext>
            </a:extLst>
          </p:cNvPr>
          <p:cNvGrpSpPr/>
          <p:nvPr/>
        </p:nvGrpSpPr>
        <p:grpSpPr>
          <a:xfrm>
            <a:off x="-48290" y="25645"/>
            <a:ext cx="12240290" cy="6769189"/>
            <a:chOff x="-48290" y="25645"/>
            <a:chExt cx="12240290" cy="6769189"/>
          </a:xfrm>
        </p:grpSpPr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4345CA45-A55B-4280-B77F-B8A7450F2512}"/>
                </a:ext>
              </a:extLst>
            </p:cNvPr>
            <p:cNvGrpSpPr/>
            <p:nvPr/>
          </p:nvGrpSpPr>
          <p:grpSpPr>
            <a:xfrm>
              <a:off x="0" y="6478216"/>
              <a:ext cx="12073411" cy="316618"/>
              <a:chOff x="0" y="6478216"/>
              <a:chExt cx="12073411" cy="316618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8C53140-E367-4995-BE9F-62EE874C86DC}"/>
                  </a:ext>
                </a:extLst>
              </p:cNvPr>
              <p:cNvGrpSpPr/>
              <p:nvPr/>
            </p:nvGrpSpPr>
            <p:grpSpPr>
              <a:xfrm>
                <a:off x="0" y="6478216"/>
                <a:ext cx="2624654" cy="316618"/>
                <a:chOff x="2949" y="0"/>
                <a:chExt cx="2624654" cy="316618"/>
              </a:xfrm>
              <a:solidFill>
                <a:srgbClr val="4F0077"/>
              </a:solidFill>
            </p:grpSpPr>
            <p:sp>
              <p:nvSpPr>
                <p:cNvPr id="29" name="Arrow: Chevron 28">
                  <a:extLst>
                    <a:ext uri="{FF2B5EF4-FFF2-40B4-BE49-F238E27FC236}">
                      <a16:creationId xmlns:a16="http://schemas.microsoft.com/office/drawing/2014/main" id="{F8AF39FA-13F7-4A08-A254-1CF04F3AFFA5}"/>
                    </a:ext>
                  </a:extLst>
                </p:cNvPr>
                <p:cNvSpPr/>
                <p:nvPr/>
              </p:nvSpPr>
              <p:spPr>
                <a:xfrm>
                  <a:off x="2949" y="0"/>
                  <a:ext cx="2624654" cy="316618"/>
                </a:xfrm>
                <a:prstGeom prst="chevron">
                  <a:avLst/>
                </a:prstGeom>
                <a:grpFill/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30" name="Arrow: Chevron 4">
                  <a:extLst>
                    <a:ext uri="{FF2B5EF4-FFF2-40B4-BE49-F238E27FC236}">
                      <a16:creationId xmlns:a16="http://schemas.microsoft.com/office/drawing/2014/main" id="{F1138A52-2ED6-4F9E-A75C-0C65A7326EF9}"/>
                    </a:ext>
                  </a:extLst>
                </p:cNvPr>
                <p:cNvSpPr txBox="1"/>
                <p:nvPr/>
              </p:nvSpPr>
              <p:spPr>
                <a:xfrm>
                  <a:off x="161258" y="0"/>
                  <a:ext cx="2308036" cy="316618"/>
                </a:xfrm>
                <a:prstGeom prst="rect">
                  <a:avLst/>
                </a:prstGeom>
                <a:noFill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56007" tIns="18669" rIns="18669" bIns="18669" numCol="1" spcCol="1270" anchor="ctr" anchorCtr="0">
                  <a:noAutofit/>
                </a:bodyPr>
                <a:lstStyle/>
                <a:p>
                  <a:pPr marL="0" lvl="0" indent="0"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IN" sz="1400" b="1" kern="12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Industry </a:t>
                  </a:r>
                  <a:r>
                    <a:rPr lang="en-IN" sz="14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&amp; Pain points</a:t>
                  </a:r>
                  <a:endParaRPr lang="en-IN" sz="1400" b="1" kern="12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27" name="Arrow: Chevron 26">
                <a:extLst>
                  <a:ext uri="{FF2B5EF4-FFF2-40B4-BE49-F238E27FC236}">
                    <a16:creationId xmlns:a16="http://schemas.microsoft.com/office/drawing/2014/main" id="{1E435EEA-4B99-45D4-B359-2FF81E0A417A}"/>
                  </a:ext>
                </a:extLst>
              </p:cNvPr>
              <p:cNvSpPr/>
              <p:nvPr/>
            </p:nvSpPr>
            <p:spPr>
              <a:xfrm>
                <a:off x="2362189" y="6478216"/>
                <a:ext cx="2624654" cy="316618"/>
              </a:xfrm>
              <a:prstGeom prst="chevron">
                <a:avLst/>
              </a:prstGeom>
              <a:solidFill>
                <a:srgbClr val="923F5D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Market Opportunity</a:t>
                </a:r>
                <a:endParaRPr lang="en-IN" sz="14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3CD153C4-497D-4515-B6F5-25E177A96982}"/>
                  </a:ext>
                </a:extLst>
              </p:cNvPr>
              <p:cNvGrpSpPr/>
              <p:nvPr/>
            </p:nvGrpSpPr>
            <p:grpSpPr>
              <a:xfrm>
                <a:off x="4724378" y="6478216"/>
                <a:ext cx="2624654" cy="316618"/>
                <a:chOff x="4727327" y="0"/>
                <a:chExt cx="2624654" cy="316618"/>
              </a:xfrm>
            </p:grpSpPr>
            <p:sp>
              <p:nvSpPr>
                <p:cNvPr id="25" name="Arrow: Chevron 24">
                  <a:extLst>
                    <a:ext uri="{FF2B5EF4-FFF2-40B4-BE49-F238E27FC236}">
                      <a16:creationId xmlns:a16="http://schemas.microsoft.com/office/drawing/2014/main" id="{5C9C5355-CEEC-4062-8AF5-0E25C134833C}"/>
                    </a:ext>
                  </a:extLst>
                </p:cNvPr>
                <p:cNvSpPr/>
                <p:nvPr/>
              </p:nvSpPr>
              <p:spPr>
                <a:xfrm>
                  <a:off x="4727327" y="0"/>
                  <a:ext cx="2624654" cy="316618"/>
                </a:xfrm>
                <a:prstGeom prst="chevron">
                  <a:avLst/>
                </a:prstGeom>
                <a:solidFill>
                  <a:srgbClr val="4F0077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26" name="Arrow: Chevron 8">
                  <a:extLst>
                    <a:ext uri="{FF2B5EF4-FFF2-40B4-BE49-F238E27FC236}">
                      <a16:creationId xmlns:a16="http://schemas.microsoft.com/office/drawing/2014/main" id="{09DB4DE7-2777-43F3-AB86-8D2515BC8AA0}"/>
                    </a:ext>
                  </a:extLst>
                </p:cNvPr>
                <p:cNvSpPr txBox="1"/>
                <p:nvPr/>
              </p:nvSpPr>
              <p:spPr>
                <a:xfrm>
                  <a:off x="4885636" y="0"/>
                  <a:ext cx="2308036" cy="316618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48006" tIns="16002" rIns="16002" bIns="16002" numCol="1" spcCol="1270" anchor="ctr" anchorCtr="0">
                  <a:noAutofit/>
                </a:bodyPr>
                <a:lstStyle/>
                <a:p>
                  <a:pPr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14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GTM Strategy</a:t>
                  </a:r>
                  <a:endParaRPr lang="en-IN" sz="1400" b="1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9" name="Group 18">
                <a:extLst>
                  <a:ext uri="{FF2B5EF4-FFF2-40B4-BE49-F238E27FC236}">
                    <a16:creationId xmlns:a16="http://schemas.microsoft.com/office/drawing/2014/main" id="{8B092AAE-DCE0-47E8-A8D6-0FA16FDBF558}"/>
                  </a:ext>
                </a:extLst>
              </p:cNvPr>
              <p:cNvGrpSpPr/>
              <p:nvPr/>
            </p:nvGrpSpPr>
            <p:grpSpPr>
              <a:xfrm>
                <a:off x="7086567" y="6478216"/>
                <a:ext cx="2624654" cy="316618"/>
                <a:chOff x="7089516" y="0"/>
                <a:chExt cx="2624654" cy="316618"/>
              </a:xfrm>
            </p:grpSpPr>
            <p:sp>
              <p:nvSpPr>
                <p:cNvPr id="23" name="Arrow: Chevron 22">
                  <a:extLst>
                    <a:ext uri="{FF2B5EF4-FFF2-40B4-BE49-F238E27FC236}">
                      <a16:creationId xmlns:a16="http://schemas.microsoft.com/office/drawing/2014/main" id="{4660181F-B3BF-466D-981B-8F2FF389B0D7}"/>
                    </a:ext>
                  </a:extLst>
                </p:cNvPr>
                <p:cNvSpPr/>
                <p:nvPr/>
              </p:nvSpPr>
              <p:spPr>
                <a:xfrm>
                  <a:off x="7089516" y="0"/>
                  <a:ext cx="2624654" cy="316618"/>
                </a:xfrm>
                <a:prstGeom prst="chevron">
                  <a:avLst/>
                </a:prstGeom>
                <a:solidFill>
                  <a:srgbClr val="4F0077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24" name="Arrow: Chevron 10">
                  <a:extLst>
                    <a:ext uri="{FF2B5EF4-FFF2-40B4-BE49-F238E27FC236}">
                      <a16:creationId xmlns:a16="http://schemas.microsoft.com/office/drawing/2014/main" id="{B8AB04F8-12AE-46F2-BBFB-8DB204AF4FBF}"/>
                    </a:ext>
                  </a:extLst>
                </p:cNvPr>
                <p:cNvSpPr txBox="1"/>
                <p:nvPr/>
              </p:nvSpPr>
              <p:spPr>
                <a:xfrm>
                  <a:off x="7247825" y="0"/>
                  <a:ext cx="2308036" cy="316618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48006" tIns="16002" rIns="16002" bIns="16002" numCol="1" spcCol="1270" anchor="ctr" anchorCtr="0">
                  <a:noAutofit/>
                </a:bodyPr>
                <a:lstStyle/>
                <a:p>
                  <a:pPr marL="0" lvl="0" indent="0" algn="ctr" defTabSz="5334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4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Distribution &amp; Marketing</a:t>
                  </a:r>
                  <a:endParaRPr lang="en-IN" sz="1400" b="1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0209DBB2-2A41-4E20-83E2-0B266CD811F9}"/>
                  </a:ext>
                </a:extLst>
              </p:cNvPr>
              <p:cNvGrpSpPr/>
              <p:nvPr/>
            </p:nvGrpSpPr>
            <p:grpSpPr>
              <a:xfrm>
                <a:off x="9448757" y="6478216"/>
                <a:ext cx="2624654" cy="316618"/>
                <a:chOff x="9451706" y="0"/>
                <a:chExt cx="2624654" cy="316618"/>
              </a:xfrm>
            </p:grpSpPr>
            <p:sp>
              <p:nvSpPr>
                <p:cNvPr id="21" name="Arrow: Chevron 20">
                  <a:extLst>
                    <a:ext uri="{FF2B5EF4-FFF2-40B4-BE49-F238E27FC236}">
                      <a16:creationId xmlns:a16="http://schemas.microsoft.com/office/drawing/2014/main" id="{9DAE4641-A9FB-4CF3-B1A7-9155A300A936}"/>
                    </a:ext>
                  </a:extLst>
                </p:cNvPr>
                <p:cNvSpPr/>
                <p:nvPr/>
              </p:nvSpPr>
              <p:spPr>
                <a:xfrm>
                  <a:off x="9451706" y="0"/>
                  <a:ext cx="2624654" cy="316618"/>
                </a:xfrm>
                <a:prstGeom prst="chevron">
                  <a:avLst/>
                </a:prstGeom>
                <a:solidFill>
                  <a:srgbClr val="4F0077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22" name="Arrow: Chevron 12">
                  <a:extLst>
                    <a:ext uri="{FF2B5EF4-FFF2-40B4-BE49-F238E27FC236}">
                      <a16:creationId xmlns:a16="http://schemas.microsoft.com/office/drawing/2014/main" id="{27A1F0AE-B57E-4FAA-A135-D99E69D31E62}"/>
                    </a:ext>
                  </a:extLst>
                </p:cNvPr>
                <p:cNvSpPr txBox="1"/>
                <p:nvPr/>
              </p:nvSpPr>
              <p:spPr>
                <a:xfrm>
                  <a:off x="9610015" y="0"/>
                  <a:ext cx="2308036" cy="316618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48006" tIns="16002" rIns="16002" bIns="16002" numCol="1" spcCol="1270" anchor="ctr" anchorCtr="0">
                  <a:noAutofit/>
                </a:bodyPr>
                <a:lstStyle/>
                <a:p>
                  <a:pPr marL="0" lvl="0" indent="0" algn="ctr" defTabSz="5334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IN" sz="14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Touchpoints &amp; KPIs</a:t>
                  </a:r>
                </a:p>
              </p:txBody>
            </p:sp>
          </p:grpSp>
        </p:grp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FDF457D-989A-48BE-B96E-3359E38446D8}"/>
                </a:ext>
              </a:extLst>
            </p:cNvPr>
            <p:cNvSpPr txBox="1"/>
            <p:nvPr/>
          </p:nvSpPr>
          <p:spPr>
            <a:xfrm>
              <a:off x="462453" y="25645"/>
              <a:ext cx="100297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rgbClr val="470D64"/>
                  </a:solidFill>
                  <a:latin typeface="Georgia" panose="02040502050405020303" pitchFamily="18" charset="0"/>
                </a:rPr>
                <a:t>Opportunity market size of the electric two-wheelers in India</a:t>
              </a:r>
              <a:endParaRPr lang="en-IN" sz="1600" b="1" dirty="0">
                <a:solidFill>
                  <a:srgbClr val="470D64"/>
                </a:solidFill>
                <a:latin typeface="Georgia" panose="02040502050405020303" pitchFamily="18" charset="0"/>
              </a:endParaRPr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DA63990-10DF-468D-BFC6-4091233DE65B}"/>
                </a:ext>
              </a:extLst>
            </p:cNvPr>
            <p:cNvCxnSpPr/>
            <p:nvPr/>
          </p:nvCxnSpPr>
          <p:spPr>
            <a:xfrm>
              <a:off x="0" y="401379"/>
              <a:ext cx="12192000" cy="0"/>
            </a:xfrm>
            <a:prstGeom prst="line">
              <a:avLst/>
            </a:prstGeom>
            <a:ln>
              <a:solidFill>
                <a:srgbClr val="470D6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77" name="Picture 2" descr="Accenture | Let there be change">
              <a:extLst>
                <a:ext uri="{FF2B5EF4-FFF2-40B4-BE49-F238E27FC236}">
                  <a16:creationId xmlns:a16="http://schemas.microsoft.com/office/drawing/2014/main" id="{41DA61CD-071F-43AD-A99F-EA36CB1B55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422" y="50969"/>
              <a:ext cx="313031" cy="320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115C8DB-0842-4687-A167-D874E85D2026}"/>
                </a:ext>
              </a:extLst>
            </p:cNvPr>
            <p:cNvSpPr txBox="1"/>
            <p:nvPr/>
          </p:nvSpPr>
          <p:spPr>
            <a:xfrm>
              <a:off x="-48290" y="3970166"/>
              <a:ext cx="1196339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b="1" i="1" u="sng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Note</a:t>
              </a:r>
              <a:r>
                <a:rPr lang="en-IN" sz="1200" i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: EV-enabled refers to 13 Indian states where Govt. has approved dedicated EV policies – Maharashtra, Karnataka, Tamil Nadu, Delhi, Haryana, Chhattisgarh, Punjab, Haryana, UP, Rajasthan, Orissa, Gujarat, West Bengal. As per NITI Aayog, 95% of EV Revenue is generated through these 13 states. Acc. to Indian census, these states have 73% of the Indian population</a:t>
              </a:r>
            </a:p>
          </p:txBody>
        </p:sp>
        <p:grpSp>
          <p:nvGrpSpPr>
            <p:cNvPr id="133" name="Group 132">
              <a:extLst>
                <a:ext uri="{FF2B5EF4-FFF2-40B4-BE49-F238E27FC236}">
                  <a16:creationId xmlns:a16="http://schemas.microsoft.com/office/drawing/2014/main" id="{2B1671E1-B323-4478-9030-F89FF76A8742}"/>
                </a:ext>
              </a:extLst>
            </p:cNvPr>
            <p:cNvGrpSpPr/>
            <p:nvPr/>
          </p:nvGrpSpPr>
          <p:grpSpPr>
            <a:xfrm>
              <a:off x="254377" y="4477260"/>
              <a:ext cx="11937623" cy="1936936"/>
              <a:chOff x="23708" y="4519685"/>
              <a:chExt cx="11937623" cy="1936936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F393C39D-7CCE-4319-B533-622CE4A2EB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5661" y="4958513"/>
                <a:ext cx="0" cy="1498108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132" name="Group 131">
                <a:extLst>
                  <a:ext uri="{FF2B5EF4-FFF2-40B4-BE49-F238E27FC236}">
                    <a16:creationId xmlns:a16="http://schemas.microsoft.com/office/drawing/2014/main" id="{D931CAC4-88F4-4057-9001-F98418DE5CC1}"/>
                  </a:ext>
                </a:extLst>
              </p:cNvPr>
              <p:cNvGrpSpPr/>
              <p:nvPr/>
            </p:nvGrpSpPr>
            <p:grpSpPr>
              <a:xfrm>
                <a:off x="23708" y="4519685"/>
                <a:ext cx="11937623" cy="1921141"/>
                <a:chOff x="23708" y="4519685"/>
                <a:chExt cx="11937623" cy="1921141"/>
              </a:xfrm>
            </p:grpSpPr>
            <p:sp>
              <p:nvSpPr>
                <p:cNvPr id="82" name="TextBox 81">
                  <a:extLst>
                    <a:ext uri="{FF2B5EF4-FFF2-40B4-BE49-F238E27FC236}">
                      <a16:creationId xmlns:a16="http://schemas.microsoft.com/office/drawing/2014/main" id="{BC0162CF-F355-4436-A76C-13CC0AC58327}"/>
                    </a:ext>
                  </a:extLst>
                </p:cNvPr>
                <p:cNvSpPr txBox="1"/>
                <p:nvPr/>
              </p:nvSpPr>
              <p:spPr>
                <a:xfrm>
                  <a:off x="47385" y="4519685"/>
                  <a:ext cx="3583587" cy="306467"/>
                </a:xfrm>
                <a:prstGeom prst="roundRect">
                  <a:avLst/>
                </a:prstGeom>
                <a:noFill/>
                <a:ln>
                  <a:solidFill>
                    <a:srgbClr val="4A0073"/>
                  </a:solidFill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200" b="1" dirty="0">
                      <a:solidFill>
                        <a:srgbClr val="4A0073"/>
                      </a:solidFill>
                      <a:latin typeface="Georgia" panose="02040502050405020303" pitchFamily="18" charset="0"/>
                    </a:rPr>
                    <a:t>Competitive Landscape</a:t>
                  </a:r>
                </a:p>
              </p:txBody>
            </p:sp>
            <p:pic>
              <p:nvPicPr>
                <p:cNvPr id="83" name="Picture 82" descr="A picture containing text&#10;&#10;Description automatically generated">
                  <a:extLst>
                    <a:ext uri="{FF2B5EF4-FFF2-40B4-BE49-F238E27FC236}">
                      <a16:creationId xmlns:a16="http://schemas.microsoft.com/office/drawing/2014/main" id="{3E77C6EC-3BD6-403C-811E-FB1712402AB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84364" y="5315194"/>
                  <a:ext cx="841178" cy="385861"/>
                </a:xfrm>
                <a:prstGeom prst="rect">
                  <a:avLst/>
                </a:prstGeom>
              </p:spPr>
            </p:pic>
            <p:pic>
              <p:nvPicPr>
                <p:cNvPr id="84" name="Picture 83" descr="Logo, company name&#10;&#10;Description automatically generated">
                  <a:extLst>
                    <a:ext uri="{FF2B5EF4-FFF2-40B4-BE49-F238E27FC236}">
                      <a16:creationId xmlns:a16="http://schemas.microsoft.com/office/drawing/2014/main" id="{98F3BA53-905A-4F76-8400-22D2008C3D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47385" y="4877671"/>
                  <a:ext cx="878990" cy="439495"/>
                </a:xfrm>
                <a:prstGeom prst="rect">
                  <a:avLst/>
                </a:prstGeom>
              </p:spPr>
            </p:pic>
            <p:pic>
              <p:nvPicPr>
                <p:cNvPr id="87" name="Picture 86">
                  <a:extLst>
                    <a:ext uri="{FF2B5EF4-FFF2-40B4-BE49-F238E27FC236}">
                      <a16:creationId xmlns:a16="http://schemas.microsoft.com/office/drawing/2014/main" id="{BCEA3DAC-5C83-457C-8774-9B966F955EF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40315" y="5667301"/>
                  <a:ext cx="624679" cy="303062"/>
                </a:xfrm>
                <a:prstGeom prst="rect">
                  <a:avLst/>
                </a:prstGeom>
              </p:spPr>
            </p:pic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D97C3193-510A-4521-AF6C-D2F78D8630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0019" y="6120293"/>
                  <a:ext cx="717102" cy="195052"/>
                </a:xfrm>
                <a:prstGeom prst="rect">
                  <a:avLst/>
                </a:prstGeom>
              </p:spPr>
            </p:pic>
            <p:cxnSp>
              <p:nvCxnSpPr>
                <p:cNvPr id="12" name="Straight Connector 11">
                  <a:extLst>
                    <a:ext uri="{FF2B5EF4-FFF2-40B4-BE49-F238E27FC236}">
                      <a16:creationId xmlns:a16="http://schemas.microsoft.com/office/drawing/2014/main" id="{A13A0294-CC8A-462B-BF57-BD1B7C6B9E24}"/>
                    </a:ext>
                  </a:extLst>
                </p:cNvPr>
                <p:cNvCxnSpPr/>
                <p:nvPr/>
              </p:nvCxnSpPr>
              <p:spPr>
                <a:xfrm>
                  <a:off x="47385" y="5320699"/>
                  <a:ext cx="35466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Straight Connector 97">
                  <a:extLst>
                    <a:ext uri="{FF2B5EF4-FFF2-40B4-BE49-F238E27FC236}">
                      <a16:creationId xmlns:a16="http://schemas.microsoft.com/office/drawing/2014/main" id="{17D538BE-4FDA-4F1B-91BB-F8042388EA25}"/>
                    </a:ext>
                  </a:extLst>
                </p:cNvPr>
                <p:cNvCxnSpPr/>
                <p:nvPr/>
              </p:nvCxnSpPr>
              <p:spPr>
                <a:xfrm>
                  <a:off x="23708" y="5689255"/>
                  <a:ext cx="35466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Straight Connector 98">
                  <a:extLst>
                    <a:ext uri="{FF2B5EF4-FFF2-40B4-BE49-F238E27FC236}">
                      <a16:creationId xmlns:a16="http://schemas.microsoft.com/office/drawing/2014/main" id="{5B0AE5B9-BD3D-4A12-995E-EF72B0EF96D0}"/>
                    </a:ext>
                  </a:extLst>
                </p:cNvPr>
                <p:cNvCxnSpPr/>
                <p:nvPr/>
              </p:nvCxnSpPr>
              <p:spPr>
                <a:xfrm>
                  <a:off x="47385" y="6012895"/>
                  <a:ext cx="3546608" cy="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83F0C4CC-A54E-4541-9F99-444AFB9A3224}"/>
                    </a:ext>
                  </a:extLst>
                </p:cNvPr>
                <p:cNvSpPr txBox="1"/>
                <p:nvPr/>
              </p:nvSpPr>
              <p:spPr>
                <a:xfrm>
                  <a:off x="1041989" y="4993286"/>
                  <a:ext cx="1045534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400" dirty="0">
                      <a:solidFill>
                        <a:srgbClr val="4A0073"/>
                      </a:solidFill>
                    </a:rPr>
                    <a:t>11 models</a:t>
                  </a:r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CC1E3319-6BB0-481F-B8CC-6C08706F56A0}"/>
                    </a:ext>
                  </a:extLst>
                </p:cNvPr>
                <p:cNvSpPr txBox="1"/>
                <p:nvPr/>
              </p:nvSpPr>
              <p:spPr>
                <a:xfrm>
                  <a:off x="1058029" y="5326313"/>
                  <a:ext cx="1435977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400" dirty="0">
                      <a:solidFill>
                        <a:srgbClr val="4A0073"/>
                      </a:solidFill>
                    </a:rPr>
                    <a:t>1 model</a:t>
                  </a: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B7942089-3F3A-4312-BD20-1ECB2A71E389}"/>
                    </a:ext>
                  </a:extLst>
                </p:cNvPr>
                <p:cNvSpPr txBox="1"/>
                <p:nvPr/>
              </p:nvSpPr>
              <p:spPr>
                <a:xfrm>
                  <a:off x="1062466" y="5714438"/>
                  <a:ext cx="94621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400" dirty="0">
                      <a:solidFill>
                        <a:srgbClr val="4A0073"/>
                      </a:solidFill>
                    </a:rPr>
                    <a:t>2 models</a:t>
                  </a: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9D645C42-6C03-4005-B66B-6655F13F3D97}"/>
                    </a:ext>
                  </a:extLst>
                </p:cNvPr>
                <p:cNvSpPr txBox="1"/>
                <p:nvPr/>
              </p:nvSpPr>
              <p:spPr>
                <a:xfrm>
                  <a:off x="1045095" y="6039464"/>
                  <a:ext cx="142125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IN" sz="1400" dirty="0">
                      <a:solidFill>
                        <a:srgbClr val="4A0073"/>
                      </a:solidFill>
                    </a:rPr>
                    <a:t>2 models</a:t>
                  </a:r>
                </a:p>
              </p:txBody>
            </p: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92ED2BE0-3BBD-4744-9649-B32F11514A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087522" y="4993286"/>
                  <a:ext cx="0" cy="144754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6" name="TextBox 105">
                  <a:extLst>
                    <a:ext uri="{FF2B5EF4-FFF2-40B4-BE49-F238E27FC236}">
                      <a16:creationId xmlns:a16="http://schemas.microsoft.com/office/drawing/2014/main" id="{DEF228DD-991A-4897-9461-CEF65B81ABA6}"/>
                    </a:ext>
                  </a:extLst>
                </p:cNvPr>
                <p:cNvSpPr txBox="1"/>
                <p:nvPr/>
              </p:nvSpPr>
              <p:spPr>
                <a:xfrm>
                  <a:off x="2189867" y="4996180"/>
                  <a:ext cx="129425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400" dirty="0">
                      <a:solidFill>
                        <a:srgbClr val="4A0073"/>
                      </a:solidFill>
                    </a:rPr>
                    <a:t>46K-95K INR</a:t>
                  </a:r>
                </a:p>
              </p:txBody>
            </p:sp>
            <p:sp>
              <p:nvSpPr>
                <p:cNvPr id="108" name="TextBox 107">
                  <a:extLst>
                    <a:ext uri="{FF2B5EF4-FFF2-40B4-BE49-F238E27FC236}">
                      <a16:creationId xmlns:a16="http://schemas.microsoft.com/office/drawing/2014/main" id="{0EFD608D-FC52-4610-8EE6-0E04DBE22530}"/>
                    </a:ext>
                  </a:extLst>
                </p:cNvPr>
                <p:cNvSpPr txBox="1"/>
                <p:nvPr/>
              </p:nvSpPr>
              <p:spPr>
                <a:xfrm>
                  <a:off x="2184013" y="5308020"/>
                  <a:ext cx="129425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400" dirty="0">
                      <a:solidFill>
                        <a:srgbClr val="4A0073"/>
                      </a:solidFill>
                    </a:rPr>
                    <a:t>110K-123K INR</a:t>
                  </a:r>
                </a:p>
              </p:txBody>
            </p:sp>
            <p:sp>
              <p:nvSpPr>
                <p:cNvPr id="109" name="TextBox 108">
                  <a:extLst>
                    <a:ext uri="{FF2B5EF4-FFF2-40B4-BE49-F238E27FC236}">
                      <a16:creationId xmlns:a16="http://schemas.microsoft.com/office/drawing/2014/main" id="{F950D4B5-3651-4C78-BDA5-0CA1A153405D}"/>
                    </a:ext>
                  </a:extLst>
                </p:cNvPr>
                <p:cNvSpPr txBox="1"/>
                <p:nvPr/>
              </p:nvSpPr>
              <p:spPr>
                <a:xfrm>
                  <a:off x="2186871" y="5675456"/>
                  <a:ext cx="129425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400" dirty="0">
                      <a:solidFill>
                        <a:srgbClr val="4A0073"/>
                      </a:solidFill>
                    </a:rPr>
                    <a:t>100K-115K INR</a:t>
                  </a:r>
                </a:p>
              </p:txBody>
            </p:sp>
            <p:sp>
              <p:nvSpPr>
                <p:cNvPr id="110" name="TextBox 109">
                  <a:extLst>
                    <a:ext uri="{FF2B5EF4-FFF2-40B4-BE49-F238E27FC236}">
                      <a16:creationId xmlns:a16="http://schemas.microsoft.com/office/drawing/2014/main" id="{966226AC-574C-4257-AF06-5D9275523B7A}"/>
                    </a:ext>
                  </a:extLst>
                </p:cNvPr>
                <p:cNvSpPr txBox="1"/>
                <p:nvPr/>
              </p:nvSpPr>
              <p:spPr>
                <a:xfrm>
                  <a:off x="2165288" y="6049833"/>
                  <a:ext cx="1294255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400" dirty="0">
                      <a:solidFill>
                        <a:srgbClr val="4A0073"/>
                      </a:solidFill>
                    </a:rPr>
                    <a:t>100K-130K INR</a:t>
                  </a:r>
                </a:p>
              </p:txBody>
            </p: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BAC92A4C-F7C4-4ADD-B36A-B7E54C8D41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598667" y="4993286"/>
                  <a:ext cx="0" cy="1414329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5" name="Group 114">
                  <a:extLst>
                    <a:ext uri="{FF2B5EF4-FFF2-40B4-BE49-F238E27FC236}">
                      <a16:creationId xmlns:a16="http://schemas.microsoft.com/office/drawing/2014/main" id="{76C4D418-8F82-4F04-9412-877573877587}"/>
                    </a:ext>
                  </a:extLst>
                </p:cNvPr>
                <p:cNvGrpSpPr/>
                <p:nvPr/>
              </p:nvGrpSpPr>
              <p:grpSpPr>
                <a:xfrm>
                  <a:off x="3993824" y="4993286"/>
                  <a:ext cx="1623470" cy="372018"/>
                  <a:chOff x="350" y="199451"/>
                  <a:chExt cx="1367767" cy="820660"/>
                </a:xfrm>
              </p:grpSpPr>
              <p:sp>
                <p:nvSpPr>
                  <p:cNvPr id="116" name="Rectangle 115">
                    <a:extLst>
                      <a:ext uri="{FF2B5EF4-FFF2-40B4-BE49-F238E27FC236}">
                        <a16:creationId xmlns:a16="http://schemas.microsoft.com/office/drawing/2014/main" id="{1E39F21D-BA6D-4BC1-9940-B838D84B8B84}"/>
                      </a:ext>
                    </a:extLst>
                  </p:cNvPr>
                  <p:cNvSpPr/>
                  <p:nvPr/>
                </p:nvSpPr>
                <p:spPr>
                  <a:xfrm>
                    <a:off x="350" y="199451"/>
                    <a:ext cx="1367767" cy="820660"/>
                  </a:xfrm>
                  <a:prstGeom prst="rect">
                    <a:avLst/>
                  </a:prstGeom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17" name="TextBox 116">
                    <a:extLst>
                      <a:ext uri="{FF2B5EF4-FFF2-40B4-BE49-F238E27FC236}">
                        <a16:creationId xmlns:a16="http://schemas.microsoft.com/office/drawing/2014/main" id="{207D4E1F-AEE2-4C76-9580-448C7E65B29D}"/>
                      </a:ext>
                    </a:extLst>
                  </p:cNvPr>
                  <p:cNvSpPr txBox="1"/>
                  <p:nvPr/>
                </p:nvSpPr>
                <p:spPr>
                  <a:xfrm>
                    <a:off x="350" y="199451"/>
                    <a:ext cx="1367767" cy="820660"/>
                  </a:xfrm>
                  <a:prstGeom prst="rect">
                    <a:avLst/>
                  </a:prstGeom>
                  <a:solidFill>
                    <a:srgbClr val="4F0077"/>
                  </a:solidFill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87630" tIns="87630" rIns="87630" bIns="87630" numCol="1" spcCol="1270" anchor="ctr" anchorCtr="0">
                    <a:noAutofit/>
                  </a:bodyPr>
                  <a:lstStyle/>
                  <a:p>
                    <a:pPr marL="0" lvl="0" indent="0" algn="ctr" defTabSz="10223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en-IN" sz="1600" kern="1200">
                        <a:latin typeface="Georgia" panose="02040502050405020303" pitchFamily="18" charset="0"/>
                      </a:rPr>
                      <a:t>Cost of vehicle</a:t>
                    </a:r>
                  </a:p>
                </p:txBody>
              </p:sp>
            </p:grpSp>
            <p:grpSp>
              <p:nvGrpSpPr>
                <p:cNvPr id="118" name="Group 117">
                  <a:extLst>
                    <a:ext uri="{FF2B5EF4-FFF2-40B4-BE49-F238E27FC236}">
                      <a16:creationId xmlns:a16="http://schemas.microsoft.com/office/drawing/2014/main" id="{8FF40199-8B62-4723-B1B7-A3F5C71705DC}"/>
                    </a:ext>
                  </a:extLst>
                </p:cNvPr>
                <p:cNvGrpSpPr/>
                <p:nvPr/>
              </p:nvGrpSpPr>
              <p:grpSpPr>
                <a:xfrm>
                  <a:off x="3993823" y="5454209"/>
                  <a:ext cx="1623461" cy="372018"/>
                  <a:chOff x="350" y="199451"/>
                  <a:chExt cx="1367767" cy="820660"/>
                </a:xfrm>
              </p:grpSpPr>
              <p:sp>
                <p:nvSpPr>
                  <p:cNvPr id="119" name="Rectangle 118">
                    <a:extLst>
                      <a:ext uri="{FF2B5EF4-FFF2-40B4-BE49-F238E27FC236}">
                        <a16:creationId xmlns:a16="http://schemas.microsoft.com/office/drawing/2014/main" id="{A504753B-F755-4E63-B214-B9815AAB214C}"/>
                      </a:ext>
                    </a:extLst>
                  </p:cNvPr>
                  <p:cNvSpPr/>
                  <p:nvPr/>
                </p:nvSpPr>
                <p:spPr>
                  <a:xfrm>
                    <a:off x="350" y="199451"/>
                    <a:ext cx="1367767" cy="820660"/>
                  </a:xfrm>
                  <a:prstGeom prst="rect">
                    <a:avLst/>
                  </a:prstGeom>
                </p:spPr>
                <p:style>
                  <a:lnRef idx="2">
                    <a:schemeClr val="lt1">
                      <a:hueOff val="0"/>
                      <a:satOff val="0"/>
                      <a:lumOff val="0"/>
                      <a:alphaOff val="0"/>
                    </a:schemeClr>
                  </a:lnRef>
                  <a:fillRef idx="1">
                    <a:schemeClr val="accent1">
                      <a:hueOff val="0"/>
                      <a:satOff val="0"/>
                      <a:lumOff val="0"/>
                      <a:alphaOff val="0"/>
                    </a:schemeClr>
                  </a:fillRef>
                  <a:effectRef idx="0">
                    <a:schemeClr val="accent1">
                      <a:hueOff val="0"/>
                      <a:satOff val="0"/>
                      <a:lumOff val="0"/>
                      <a:alphaOff val="0"/>
                    </a:schemeClr>
                  </a:effectRef>
                  <a:fontRef idx="minor">
                    <a:schemeClr val="lt1"/>
                  </a:fontRef>
                </p:style>
              </p:sp>
              <p:sp>
                <p:nvSpPr>
                  <p:cNvPr id="120" name="TextBox 119">
                    <a:extLst>
                      <a:ext uri="{FF2B5EF4-FFF2-40B4-BE49-F238E27FC236}">
                        <a16:creationId xmlns:a16="http://schemas.microsoft.com/office/drawing/2014/main" id="{2A89882D-DFB8-4A6C-8CDA-CD5B66FECD9F}"/>
                      </a:ext>
                    </a:extLst>
                  </p:cNvPr>
                  <p:cNvSpPr txBox="1"/>
                  <p:nvPr/>
                </p:nvSpPr>
                <p:spPr>
                  <a:xfrm>
                    <a:off x="350" y="199451"/>
                    <a:ext cx="1367767" cy="820660"/>
                  </a:xfrm>
                  <a:prstGeom prst="rect">
                    <a:avLst/>
                  </a:prstGeom>
                  <a:solidFill>
                    <a:srgbClr val="4F0077"/>
                  </a:solidFill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spcFirstLastPara="0" vert="horz" wrap="square" lIns="87630" tIns="87630" rIns="87630" bIns="87630" numCol="1" spcCol="1270" anchor="ctr" anchorCtr="0">
                    <a:noAutofit/>
                  </a:bodyPr>
                  <a:lstStyle/>
                  <a:p>
                    <a:pPr marL="0" lvl="0" indent="0" algn="ctr" defTabSz="1022350">
                      <a:lnSpc>
                        <a:spcPct val="90000"/>
                      </a:lnSpc>
                      <a:spcBef>
                        <a:spcPct val="0"/>
                      </a:spcBef>
                      <a:spcAft>
                        <a:spcPct val="35000"/>
                      </a:spcAft>
                      <a:buNone/>
                    </a:pPr>
                    <a:r>
                      <a:rPr lang="en-IN" sz="1600" kern="1200">
                        <a:latin typeface="Georgia" panose="02040502050405020303" pitchFamily="18" charset="0"/>
                      </a:rPr>
                      <a:t>Running Cost</a:t>
                    </a:r>
                  </a:p>
                </p:txBody>
              </p:sp>
            </p:grpSp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B8743608-F6C3-4E8D-B2AB-A8F9F3F15C64}"/>
                    </a:ext>
                  </a:extLst>
                </p:cNvPr>
                <p:cNvSpPr txBox="1"/>
                <p:nvPr/>
              </p:nvSpPr>
              <p:spPr>
                <a:xfrm>
                  <a:off x="4013447" y="5919529"/>
                  <a:ext cx="1603837" cy="372018"/>
                </a:xfrm>
                <a:prstGeom prst="rect">
                  <a:avLst/>
                </a:prstGeom>
                <a:solidFill>
                  <a:srgbClr val="4F0077"/>
                </a:solidFill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87630" tIns="87630" rIns="87630" bIns="87630" numCol="1" spcCol="1270" anchor="ctr" anchorCtr="0">
                  <a:noAutofit/>
                </a:bodyPr>
                <a:lstStyle/>
                <a:p>
                  <a:pPr marL="0" lvl="0" indent="0" algn="ctr" defTabSz="102235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IN" sz="1600" kern="1200">
                      <a:latin typeface="Georgia" panose="02040502050405020303" pitchFamily="18" charset="0"/>
                    </a:rPr>
                    <a:t>Utility value</a:t>
                  </a:r>
                </a:p>
              </p:txBody>
            </p:sp>
            <p:sp>
              <p:nvSpPr>
                <p:cNvPr id="70" name="Rectangle 69">
                  <a:extLst>
                    <a:ext uri="{FF2B5EF4-FFF2-40B4-BE49-F238E27FC236}">
                      <a16:creationId xmlns:a16="http://schemas.microsoft.com/office/drawing/2014/main" id="{924D5E1B-C549-4087-9B06-97FB0BD0030F}"/>
                    </a:ext>
                  </a:extLst>
                </p:cNvPr>
                <p:cNvSpPr/>
                <p:nvPr/>
              </p:nvSpPr>
              <p:spPr>
                <a:xfrm>
                  <a:off x="6053341" y="4710263"/>
                  <a:ext cx="5655171" cy="1668960"/>
                </a:xfrm>
                <a:prstGeom prst="rect">
                  <a:avLst/>
                </a:prstGeom>
                <a:noFill/>
                <a:ln>
                  <a:solidFill>
                    <a:srgbClr val="4F0077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72" name="Straight Connector 71">
                  <a:extLst>
                    <a:ext uri="{FF2B5EF4-FFF2-40B4-BE49-F238E27FC236}">
                      <a16:creationId xmlns:a16="http://schemas.microsoft.com/office/drawing/2014/main" id="{7FEFF654-2083-4768-832E-9DAB8EA0B2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8926063" y="5091218"/>
                  <a:ext cx="0" cy="1202987"/>
                </a:xfrm>
                <a:prstGeom prst="line">
                  <a:avLst/>
                </a:prstGeom>
                <a:ln>
                  <a:solidFill>
                    <a:schemeClr val="tx1">
                      <a:lumMod val="50000"/>
                      <a:lumOff val="50000"/>
                    </a:schemeClr>
                  </a:solidFill>
                  <a:prstDash val="lg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706099C5-BB5D-4A7B-B27B-2E8A8797220C}"/>
                    </a:ext>
                  </a:extLst>
                </p:cNvPr>
                <p:cNvSpPr txBox="1"/>
                <p:nvPr/>
              </p:nvSpPr>
              <p:spPr>
                <a:xfrm>
                  <a:off x="6237900" y="4839397"/>
                  <a:ext cx="2363901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IN" sz="1400" b="1" i="1" u="sng" dirty="0">
                      <a:solidFill>
                        <a:srgbClr val="4F0077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The Urban Commuters</a:t>
                  </a:r>
                </a:p>
              </p:txBody>
            </p:sp>
            <p:sp>
              <p:nvSpPr>
                <p:cNvPr id="78" name="TextBox 77">
                  <a:extLst>
                    <a:ext uri="{FF2B5EF4-FFF2-40B4-BE49-F238E27FC236}">
                      <a16:creationId xmlns:a16="http://schemas.microsoft.com/office/drawing/2014/main" id="{0EB90F2F-850D-4FFC-8E3B-07EE535B743D}"/>
                    </a:ext>
                  </a:extLst>
                </p:cNvPr>
                <p:cNvSpPr txBox="1"/>
                <p:nvPr/>
              </p:nvSpPr>
              <p:spPr>
                <a:xfrm>
                  <a:off x="9151872" y="4837465"/>
                  <a:ext cx="2561012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IN" sz="1400" b="1" i="1" u="sng" dirty="0">
                      <a:solidFill>
                        <a:srgbClr val="4F0077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Students and Professionals</a:t>
                  </a:r>
                </a:p>
              </p:txBody>
            </p:sp>
            <p:sp>
              <p:nvSpPr>
                <p:cNvPr id="79" name="TextBox 78">
                  <a:extLst>
                    <a:ext uri="{FF2B5EF4-FFF2-40B4-BE49-F238E27FC236}">
                      <a16:creationId xmlns:a16="http://schemas.microsoft.com/office/drawing/2014/main" id="{3592F999-A59E-4FBF-B5C7-BACA29AB1ECD}"/>
                    </a:ext>
                  </a:extLst>
                </p:cNvPr>
                <p:cNvSpPr txBox="1"/>
                <p:nvPr/>
              </p:nvSpPr>
              <p:spPr>
                <a:xfrm>
                  <a:off x="6137477" y="5137471"/>
                  <a:ext cx="2788586" cy="12003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IN" sz="12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Age – 18 to 45</a:t>
                  </a: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IN" sz="12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Rich and Middle Class</a:t>
                  </a: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IN" sz="12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Urban areas from the 13 states with EV policies </a:t>
                  </a: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IN" sz="12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Environment conscious people and Technology enthusiasts</a:t>
                  </a:r>
                </a:p>
              </p:txBody>
            </p:sp>
            <p:sp>
              <p:nvSpPr>
                <p:cNvPr id="80" name="TextBox 79">
                  <a:extLst>
                    <a:ext uri="{FF2B5EF4-FFF2-40B4-BE49-F238E27FC236}">
                      <a16:creationId xmlns:a16="http://schemas.microsoft.com/office/drawing/2014/main" id="{68B77FDE-2EB9-4EB5-8CA2-1EA484FF59CF}"/>
                    </a:ext>
                  </a:extLst>
                </p:cNvPr>
                <p:cNvSpPr txBox="1"/>
                <p:nvPr/>
              </p:nvSpPr>
              <p:spPr>
                <a:xfrm>
                  <a:off x="9026486" y="5107402"/>
                  <a:ext cx="2934845" cy="12003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IN" sz="12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Bicycle Subscription Model</a:t>
                  </a: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IN" sz="12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B2B Business with Organization/ College/Workplace</a:t>
                  </a: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IN" sz="12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Users - Commuting on-premises/ campuses</a:t>
                  </a:r>
                </a:p>
                <a:p>
                  <a:pPr marL="171450" indent="-171450">
                    <a:buFont typeface="Arial" panose="020B0604020202020204" pitchFamily="34" charset="0"/>
                    <a:buChar char="•"/>
                  </a:pPr>
                  <a:r>
                    <a:rPr lang="en-IN" sz="1200" dirty="0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Hostel students</a:t>
                  </a:r>
                </a:p>
              </p:txBody>
            </p:sp>
            <p:sp>
              <p:nvSpPr>
                <p:cNvPr id="122" name="TextBox 121">
                  <a:extLst>
                    <a:ext uri="{FF2B5EF4-FFF2-40B4-BE49-F238E27FC236}">
                      <a16:creationId xmlns:a16="http://schemas.microsoft.com/office/drawing/2014/main" id="{ED538205-8837-4339-9095-307AC10A7A33}"/>
                    </a:ext>
                  </a:extLst>
                </p:cNvPr>
                <p:cNvSpPr txBox="1"/>
                <p:nvPr/>
              </p:nvSpPr>
              <p:spPr>
                <a:xfrm>
                  <a:off x="3858025" y="4535893"/>
                  <a:ext cx="1838942" cy="306467"/>
                </a:xfrm>
                <a:prstGeom prst="roundRect">
                  <a:avLst/>
                </a:prstGeom>
                <a:noFill/>
                <a:ln>
                  <a:solidFill>
                    <a:srgbClr val="4A0073"/>
                  </a:solidFill>
                </a:ln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200" b="1" dirty="0">
                      <a:solidFill>
                        <a:srgbClr val="4A0073"/>
                      </a:solidFill>
                      <a:latin typeface="Georgia" panose="02040502050405020303" pitchFamily="18" charset="0"/>
                    </a:rPr>
                    <a:t>Market Drivers</a:t>
                  </a:r>
                </a:p>
              </p:txBody>
            </p:sp>
            <p:sp>
              <p:nvSpPr>
                <p:cNvPr id="71" name="TextBox 70">
                  <a:extLst>
                    <a:ext uri="{FF2B5EF4-FFF2-40B4-BE49-F238E27FC236}">
                      <a16:creationId xmlns:a16="http://schemas.microsoft.com/office/drawing/2014/main" id="{7C94413E-EF25-40E5-9F7B-E81365B0C799}"/>
                    </a:ext>
                  </a:extLst>
                </p:cNvPr>
                <p:cNvSpPr txBox="1"/>
                <p:nvPr/>
              </p:nvSpPr>
              <p:spPr>
                <a:xfrm>
                  <a:off x="7086567" y="4546110"/>
                  <a:ext cx="3583587" cy="306467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solidFill>
                    <a:srgbClr val="4A0073"/>
                  </a:solidFill>
                </a:ln>
                <a:effectLst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IN" sz="1200" b="1" dirty="0">
                      <a:solidFill>
                        <a:srgbClr val="4A0073"/>
                      </a:solidFill>
                      <a:latin typeface="Georgia" panose="02040502050405020303" pitchFamily="18" charset="0"/>
                    </a:rPr>
                    <a:t>Market Definition</a:t>
                  </a:r>
                </a:p>
              </p:txBody>
            </p:sp>
          </p:grpSp>
        </p:grpSp>
        <p:pic>
          <p:nvPicPr>
            <p:cNvPr id="3" name="Picture 2" descr="Timeline&#10;&#10;Description automatically generated">
              <a:extLst>
                <a:ext uri="{FF2B5EF4-FFF2-40B4-BE49-F238E27FC236}">
                  <a16:creationId xmlns:a16="http://schemas.microsoft.com/office/drawing/2014/main" id="{37ABBD87-39CD-4960-97BD-E348BFC72E9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0" y="402147"/>
              <a:ext cx="12192000" cy="35225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30957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>
            <a:extLst>
              <a:ext uri="{FF2B5EF4-FFF2-40B4-BE49-F238E27FC236}">
                <a16:creationId xmlns:a16="http://schemas.microsoft.com/office/drawing/2014/main" id="{8CF34CD3-8AF9-4DC9-9174-A0BBAAD8DF9E}"/>
              </a:ext>
            </a:extLst>
          </p:cNvPr>
          <p:cNvGrpSpPr/>
          <p:nvPr/>
        </p:nvGrpSpPr>
        <p:grpSpPr>
          <a:xfrm>
            <a:off x="-304158" y="33356"/>
            <a:ext cx="12496158" cy="6761478"/>
            <a:chOff x="-304158" y="33356"/>
            <a:chExt cx="12496158" cy="6761478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22DA2EDB-623B-4EA6-8E6B-B88F270971C5}"/>
                </a:ext>
              </a:extLst>
            </p:cNvPr>
            <p:cNvGrpSpPr/>
            <p:nvPr/>
          </p:nvGrpSpPr>
          <p:grpSpPr>
            <a:xfrm>
              <a:off x="9594667" y="5323888"/>
              <a:ext cx="2470918" cy="1036942"/>
              <a:chOff x="9632767" y="5638213"/>
              <a:chExt cx="2470918" cy="1036942"/>
            </a:xfrm>
          </p:grpSpPr>
          <p:sp>
            <p:nvSpPr>
              <p:cNvPr id="2" name="Rectangle: Rounded Corners 1">
                <a:extLst>
                  <a:ext uri="{FF2B5EF4-FFF2-40B4-BE49-F238E27FC236}">
                    <a16:creationId xmlns:a16="http://schemas.microsoft.com/office/drawing/2014/main" id="{F3722AC6-517F-4EED-B198-7D8F16DAE129}"/>
                  </a:ext>
                </a:extLst>
              </p:cNvPr>
              <p:cNvSpPr/>
              <p:nvPr/>
            </p:nvSpPr>
            <p:spPr>
              <a:xfrm>
                <a:off x="9632767" y="5638213"/>
                <a:ext cx="2470918" cy="1036942"/>
              </a:xfrm>
              <a:prstGeom prst="roundRect">
                <a:avLst>
                  <a:gd name="adj" fmla="val 4626"/>
                </a:avLst>
              </a:prstGeom>
              <a:noFill/>
              <a:ln>
                <a:solidFill>
                  <a:srgbClr val="4A00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F0F16D1-5629-426E-ADC8-6275CD132557}"/>
                  </a:ext>
                </a:extLst>
              </p:cNvPr>
              <p:cNvSpPr txBox="1"/>
              <p:nvPr/>
            </p:nvSpPr>
            <p:spPr>
              <a:xfrm>
                <a:off x="9649125" y="5655861"/>
                <a:ext cx="2425600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Cloud connected 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Smart alerts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Smart sensors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Gamification of website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Battery Management system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B82C692-7293-469F-AB4D-B5A9B88C5247}"/>
                </a:ext>
              </a:extLst>
            </p:cNvPr>
            <p:cNvGrpSpPr/>
            <p:nvPr/>
          </p:nvGrpSpPr>
          <p:grpSpPr>
            <a:xfrm>
              <a:off x="-155671" y="510979"/>
              <a:ext cx="9443440" cy="5932831"/>
              <a:chOff x="2748560" y="523404"/>
              <a:chExt cx="9443440" cy="5932831"/>
            </a:xfrm>
          </p:grpSpPr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0CF9F08C-4284-4857-9B43-C607A8626B16}"/>
                  </a:ext>
                </a:extLst>
              </p:cNvPr>
              <p:cNvSpPr/>
              <p:nvPr/>
            </p:nvSpPr>
            <p:spPr>
              <a:xfrm>
                <a:off x="7402558" y="606129"/>
                <a:ext cx="4600865" cy="300581"/>
              </a:xfrm>
              <a:prstGeom prst="roundRect">
                <a:avLst/>
              </a:prstGeom>
              <a:solidFill>
                <a:srgbClr val="4F007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" name="Rectangle: Rounded Corners 7">
                <a:extLst>
                  <a:ext uri="{FF2B5EF4-FFF2-40B4-BE49-F238E27FC236}">
                    <a16:creationId xmlns:a16="http://schemas.microsoft.com/office/drawing/2014/main" id="{71D18DC9-EC27-428C-923D-E7009591CE5C}"/>
                  </a:ext>
                </a:extLst>
              </p:cNvPr>
              <p:cNvSpPr/>
              <p:nvPr/>
            </p:nvSpPr>
            <p:spPr>
              <a:xfrm>
                <a:off x="3536952" y="614725"/>
                <a:ext cx="3724428" cy="300584"/>
              </a:xfrm>
              <a:prstGeom prst="roundRect">
                <a:avLst/>
              </a:prstGeom>
              <a:solidFill>
                <a:srgbClr val="4F007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EB0BD142-32EB-4B00-9ADC-638D0339EBDC}"/>
                  </a:ext>
                </a:extLst>
              </p:cNvPr>
              <p:cNvSpPr/>
              <p:nvPr/>
            </p:nvSpPr>
            <p:spPr>
              <a:xfrm>
                <a:off x="7428364" y="930422"/>
                <a:ext cx="4600866" cy="18917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6210293E-24D5-4575-9C8E-96C058F602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68829" y="3262038"/>
                <a:ext cx="0" cy="3194197"/>
              </a:xfrm>
              <a:prstGeom prst="line">
                <a:avLst/>
              </a:prstGeom>
              <a:ln w="28575">
                <a:solidFill>
                  <a:srgbClr val="470D64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530460CB-94C7-43CA-8B47-7887495F6D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346816" y="3261954"/>
                <a:ext cx="0" cy="3194281"/>
              </a:xfrm>
              <a:prstGeom prst="line">
                <a:avLst/>
              </a:prstGeom>
              <a:ln w="28575">
                <a:solidFill>
                  <a:srgbClr val="470D64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A8DC42AD-C8C1-47A4-848F-87D41DF76DE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90582" y="4346420"/>
                <a:ext cx="8448493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1EB7B8F3-0350-4B2D-9F9C-72378A1A3B9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40312" y="4981624"/>
                <a:ext cx="8398763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055E7539-2DCC-46B8-B230-EB8A18CB39AA}"/>
                  </a:ext>
                </a:extLst>
              </p:cNvPr>
              <p:cNvGrpSpPr/>
              <p:nvPr/>
            </p:nvGrpSpPr>
            <p:grpSpPr>
              <a:xfrm>
                <a:off x="2748560" y="3563945"/>
                <a:ext cx="1247579" cy="775820"/>
                <a:chOff x="4506" y="2511890"/>
                <a:chExt cx="1598842" cy="994256"/>
              </a:xfrm>
            </p:grpSpPr>
            <p:pic>
              <p:nvPicPr>
                <p:cNvPr id="81" name="Graphic 80" descr="Play with solid fill">
                  <a:extLst>
                    <a:ext uri="{FF2B5EF4-FFF2-40B4-BE49-F238E27FC236}">
                      <a16:creationId xmlns:a16="http://schemas.microsoft.com/office/drawing/2014/main" id="{1CEC8CEC-CE1D-457B-B03B-3D0D5C2AE7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rcRect/>
                <a:stretch/>
              </p:blipFill>
              <p:spPr>
                <a:xfrm>
                  <a:off x="592882" y="2511890"/>
                  <a:ext cx="476435" cy="476435"/>
                </a:xfrm>
                <a:prstGeom prst="rect">
                  <a:avLst/>
                </a:prstGeom>
              </p:spPr>
            </p:pic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BC65D968-D1F6-460A-B586-8A867EECA198}"/>
                    </a:ext>
                  </a:extLst>
                </p:cNvPr>
                <p:cNvSpPr/>
                <p:nvPr/>
              </p:nvSpPr>
              <p:spPr>
                <a:xfrm>
                  <a:off x="4506" y="2919015"/>
                  <a:ext cx="1598842" cy="5871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ts val="1500"/>
                    </a:lnSpc>
                  </a:pPr>
                  <a:r>
                    <a:rPr lang="en-IN" sz="1000" b="1">
                      <a:solidFill>
                        <a:srgbClr val="4F0077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Point of </a:t>
                  </a:r>
                </a:p>
                <a:p>
                  <a:pPr algn="ctr">
                    <a:lnSpc>
                      <a:spcPts val="1500"/>
                    </a:lnSpc>
                  </a:pPr>
                  <a:r>
                    <a:rPr lang="en-IN" sz="1000" b="1">
                      <a:solidFill>
                        <a:srgbClr val="4F0077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Contact</a:t>
                  </a:r>
                  <a:endParaRPr lang="en-US" sz="1000" b="1">
                    <a:solidFill>
                      <a:srgbClr val="4F0077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6C762C07-5916-46BA-95DC-886100E92D78}"/>
                  </a:ext>
                </a:extLst>
              </p:cNvPr>
              <p:cNvGrpSpPr/>
              <p:nvPr/>
            </p:nvGrpSpPr>
            <p:grpSpPr>
              <a:xfrm>
                <a:off x="2785832" y="4352241"/>
                <a:ext cx="1166003" cy="595767"/>
                <a:chOff x="55270" y="3813919"/>
                <a:chExt cx="1494297" cy="763508"/>
              </a:xfrm>
            </p:grpSpPr>
            <p:pic>
              <p:nvPicPr>
                <p:cNvPr id="76" name="Graphic 75" descr="Handshake with solid fill">
                  <a:extLst>
                    <a:ext uri="{FF2B5EF4-FFF2-40B4-BE49-F238E27FC236}">
                      <a16:creationId xmlns:a16="http://schemas.microsoft.com/office/drawing/2014/main" id="{D0EAB10D-3C9C-4246-8F4B-3E145FDDE19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2419" y="3813919"/>
                  <a:ext cx="540000" cy="540000"/>
                </a:xfrm>
                <a:prstGeom prst="rect">
                  <a:avLst/>
                </a:prstGeom>
              </p:spPr>
            </p:pic>
            <p:sp>
              <p:nvSpPr>
                <p:cNvPr id="77" name="TextBox 76">
                  <a:extLst>
                    <a:ext uri="{FF2B5EF4-FFF2-40B4-BE49-F238E27FC236}">
                      <a16:creationId xmlns:a16="http://schemas.microsoft.com/office/drawing/2014/main" id="{82A17F40-1A4D-498B-89C5-37A3C9E00C9A}"/>
                    </a:ext>
                  </a:extLst>
                </p:cNvPr>
                <p:cNvSpPr txBox="1"/>
                <p:nvPr/>
              </p:nvSpPr>
              <p:spPr>
                <a:xfrm>
                  <a:off x="55270" y="4254257"/>
                  <a:ext cx="1494297" cy="32317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algn="ctr">
                    <a:lnSpc>
                      <a:spcPts val="1500"/>
                    </a:lnSpc>
                    <a:defRPr sz="1200" b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Calibri Light" panose="020F0302020204030204" pitchFamily="34" charset="0"/>
                      <a:cs typeface="Calibri Light" panose="020F0302020204030204" pitchFamily="34" charset="0"/>
                    </a:defRPr>
                  </a:lvl1pPr>
                </a:lstStyle>
                <a:p>
                  <a:r>
                    <a:rPr lang="en-IN" sz="1000">
                      <a:solidFill>
                        <a:srgbClr val="4F0077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User</a:t>
                  </a:r>
                  <a:endParaRPr lang="en-US" sz="1000">
                    <a:solidFill>
                      <a:srgbClr val="4F0077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19334B9E-3197-4984-B55F-F44BC3E87A8C}"/>
                  </a:ext>
                </a:extLst>
              </p:cNvPr>
              <p:cNvGrpSpPr/>
              <p:nvPr/>
            </p:nvGrpSpPr>
            <p:grpSpPr>
              <a:xfrm>
                <a:off x="2882642" y="5140329"/>
                <a:ext cx="888785" cy="574499"/>
                <a:chOff x="232903" y="5141571"/>
                <a:chExt cx="1139029" cy="736253"/>
              </a:xfrm>
            </p:grpSpPr>
            <p:pic>
              <p:nvPicPr>
                <p:cNvPr id="74" name="Graphic 73" descr="Bar graph with upward trend with solid fill">
                  <a:extLst>
                    <a:ext uri="{FF2B5EF4-FFF2-40B4-BE49-F238E27FC236}">
                      <a16:creationId xmlns:a16="http://schemas.microsoft.com/office/drawing/2014/main" id="{3243D506-3E17-4689-88D2-4E7F29C53C7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78769" y="5141571"/>
                  <a:ext cx="431999" cy="432000"/>
                </a:xfrm>
                <a:prstGeom prst="rect">
                  <a:avLst/>
                </a:prstGeom>
              </p:spPr>
            </p:pic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9B55F8EE-205D-4C9C-B10D-1468D707926A}"/>
                    </a:ext>
                  </a:extLst>
                </p:cNvPr>
                <p:cNvSpPr txBox="1"/>
                <p:nvPr/>
              </p:nvSpPr>
              <p:spPr>
                <a:xfrm>
                  <a:off x="232903" y="5554654"/>
                  <a:ext cx="1139029" cy="32317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algn="ctr">
                    <a:lnSpc>
                      <a:spcPts val="1500"/>
                    </a:lnSpc>
                    <a:defRPr sz="1200" b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Calibri Light" panose="020F0302020204030204" pitchFamily="34" charset="0"/>
                      <a:cs typeface="Calibri Light" panose="020F0302020204030204" pitchFamily="34" charset="0"/>
                    </a:defRPr>
                  </a:lvl1pPr>
                </a:lstStyle>
                <a:p>
                  <a:r>
                    <a:rPr lang="en-US" sz="1000">
                      <a:solidFill>
                        <a:srgbClr val="4F0077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Influencer</a:t>
                  </a:r>
                </a:p>
              </p:txBody>
            </p:sp>
          </p:grp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9346D10E-6401-44B3-B7A3-FF75B7C1866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692054" y="5788967"/>
                <a:ext cx="8347021" cy="0"/>
              </a:xfrm>
              <a:prstGeom prst="line">
                <a:avLst/>
              </a:prstGeom>
              <a:ln>
                <a:solidFill>
                  <a:schemeClr val="tx1">
                    <a:lumMod val="50000"/>
                    <a:lumOff val="50000"/>
                  </a:schemeClr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48D2FFC9-25B3-491C-95C6-387B78B0D32C}"/>
                  </a:ext>
                </a:extLst>
              </p:cNvPr>
              <p:cNvGrpSpPr/>
              <p:nvPr/>
            </p:nvGrpSpPr>
            <p:grpSpPr>
              <a:xfrm>
                <a:off x="2886002" y="5881736"/>
                <a:ext cx="888787" cy="574499"/>
                <a:chOff x="232903" y="5141571"/>
                <a:chExt cx="1139029" cy="736253"/>
              </a:xfrm>
            </p:grpSpPr>
            <p:pic>
              <p:nvPicPr>
                <p:cNvPr id="72" name="Graphic 71" descr="Full Brick Wall with solid fill">
                  <a:extLst>
                    <a:ext uri="{FF2B5EF4-FFF2-40B4-BE49-F238E27FC236}">
                      <a16:creationId xmlns:a16="http://schemas.microsoft.com/office/drawing/2014/main" id="{6F7F8C16-A622-4359-9C07-16879EF4AD0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rcRect/>
                <a:stretch/>
              </p:blipFill>
              <p:spPr>
                <a:xfrm>
                  <a:off x="578769" y="5141571"/>
                  <a:ext cx="431998" cy="431999"/>
                </a:xfrm>
                <a:prstGeom prst="rect">
                  <a:avLst/>
                </a:prstGeom>
              </p:spPr>
            </p:pic>
            <p:sp>
              <p:nvSpPr>
                <p:cNvPr id="73" name="TextBox 72">
                  <a:extLst>
                    <a:ext uri="{FF2B5EF4-FFF2-40B4-BE49-F238E27FC236}">
                      <a16:creationId xmlns:a16="http://schemas.microsoft.com/office/drawing/2014/main" id="{8E4D3658-DDFE-45D0-9984-1D92EA398B3C}"/>
                    </a:ext>
                  </a:extLst>
                </p:cNvPr>
                <p:cNvSpPr txBox="1"/>
                <p:nvPr/>
              </p:nvSpPr>
              <p:spPr>
                <a:xfrm>
                  <a:off x="232903" y="5554654"/>
                  <a:ext cx="1139029" cy="32317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>
                  <a:defPPr>
                    <a:defRPr lang="en-US"/>
                  </a:defPPr>
                  <a:lvl1pPr algn="ctr">
                    <a:lnSpc>
                      <a:spcPts val="1500"/>
                    </a:lnSpc>
                    <a:defRPr sz="1200" b="1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Calibri Light" panose="020F0302020204030204" pitchFamily="34" charset="0"/>
                      <a:cs typeface="Calibri Light" panose="020F0302020204030204" pitchFamily="34" charset="0"/>
                    </a:defRPr>
                  </a:lvl1pPr>
                </a:lstStyle>
                <a:p>
                  <a:r>
                    <a:rPr lang="en-US" sz="1000">
                      <a:solidFill>
                        <a:srgbClr val="4F0077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Gatekeeper</a:t>
                  </a:r>
                </a:p>
              </p:txBody>
            </p:sp>
          </p:grp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F3461DC-FB63-4F4E-951D-CE96B47D41AF}"/>
                  </a:ext>
                </a:extLst>
              </p:cNvPr>
              <p:cNvSpPr txBox="1"/>
              <p:nvPr/>
            </p:nvSpPr>
            <p:spPr>
              <a:xfrm>
                <a:off x="7687569" y="3345212"/>
                <a:ext cx="101574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100" b="1">
                    <a:solidFill>
                      <a:srgbClr val="4F007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Corporates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7A5B0D-607F-4A1A-99ED-2310480CBC29}"/>
                  </a:ext>
                </a:extLst>
              </p:cNvPr>
              <p:cNvSpPr txBox="1"/>
              <p:nvPr/>
            </p:nvSpPr>
            <p:spPr>
              <a:xfrm>
                <a:off x="8928895" y="3342405"/>
                <a:ext cx="1658095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100" b="1">
                    <a:solidFill>
                      <a:srgbClr val="4F007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Educational Institutes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E973912-0074-4EA7-8DB4-0C63CE95E75E}"/>
                  </a:ext>
                </a:extLst>
              </p:cNvPr>
              <p:cNvSpPr txBox="1"/>
              <p:nvPr/>
            </p:nvSpPr>
            <p:spPr>
              <a:xfrm>
                <a:off x="10611804" y="3342405"/>
                <a:ext cx="1483591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100" b="1">
                    <a:solidFill>
                      <a:srgbClr val="4F007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Co-working spaces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075FAC06-8597-48E0-A02C-48ADA84853D9}"/>
                  </a:ext>
                </a:extLst>
              </p:cNvPr>
              <p:cNvSpPr txBox="1"/>
              <p:nvPr/>
            </p:nvSpPr>
            <p:spPr>
              <a:xfrm>
                <a:off x="6018187" y="3361607"/>
                <a:ext cx="959342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100" b="1">
                    <a:solidFill>
                      <a:srgbClr val="4F007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Individual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07B94F1D-6AC2-42B0-9915-9368F462D1B2}"/>
                  </a:ext>
                </a:extLst>
              </p:cNvPr>
              <p:cNvSpPr txBox="1"/>
              <p:nvPr/>
            </p:nvSpPr>
            <p:spPr>
              <a:xfrm>
                <a:off x="3771582" y="3351016"/>
                <a:ext cx="1451758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100" b="1">
                    <a:solidFill>
                      <a:srgbClr val="4F007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B2B customers</a:t>
                </a: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868DD5B6-0CF9-4F44-A957-379FE29FF6A3}"/>
                  </a:ext>
                </a:extLst>
              </p:cNvPr>
              <p:cNvSpPr txBox="1"/>
              <p:nvPr/>
            </p:nvSpPr>
            <p:spPr>
              <a:xfrm>
                <a:off x="3692054" y="3777118"/>
                <a:ext cx="1483835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100">
                    <a:latin typeface="Arial" panose="020B0604020202020204" pitchFamily="34" charset="0"/>
                    <a:cs typeface="Arial" panose="020B0604020202020204" pitchFamily="34" charset="0"/>
                  </a:rPr>
                  <a:t>Strategy &amp; </a:t>
                </a:r>
              </a:p>
              <a:p>
                <a:pPr algn="ctr"/>
                <a:r>
                  <a:rPr lang="en-IN" sz="1100">
                    <a:latin typeface="Arial" panose="020B0604020202020204" pitchFamily="34" charset="0"/>
                    <a:cs typeface="Arial" panose="020B0604020202020204" pitchFamily="34" charset="0"/>
                  </a:rPr>
                  <a:t>Operations Manager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5A2D15D-0FDE-409C-9EB9-9596BD76E35D}"/>
                  </a:ext>
                </a:extLst>
              </p:cNvPr>
              <p:cNvSpPr txBox="1"/>
              <p:nvPr/>
            </p:nvSpPr>
            <p:spPr>
              <a:xfrm>
                <a:off x="5448113" y="3778697"/>
                <a:ext cx="19007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100">
                    <a:latin typeface="Arial" panose="020B0604020202020204" pitchFamily="34" charset="0"/>
                    <a:cs typeface="Arial" panose="020B0604020202020204" pitchFamily="34" charset="0"/>
                  </a:rPr>
                  <a:t>Application, Social Media, </a:t>
                </a:r>
              </a:p>
              <a:p>
                <a:pPr algn="ctr"/>
                <a:r>
                  <a:rPr lang="en-IN" sz="1100">
                    <a:latin typeface="Arial" panose="020B0604020202020204" pitchFamily="34" charset="0"/>
                    <a:cs typeface="Arial" panose="020B0604020202020204" pitchFamily="34" charset="0"/>
                  </a:rPr>
                  <a:t>Channel partners</a:t>
                </a:r>
              </a:p>
            </p:txBody>
          </p:sp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9806D2A7-408B-4A79-8DB4-A231D35FA23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938179" y="3401386"/>
                <a:ext cx="0" cy="3029909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29F95835-48B1-4759-A7D0-B495B620D97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595418" y="3381833"/>
                <a:ext cx="0" cy="3074402"/>
              </a:xfrm>
              <a:prstGeom prst="line">
                <a:avLst/>
              </a:prstGeom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A656EDE-D3BD-4BBC-B2F3-D4FFF7F40BC3}"/>
                  </a:ext>
                </a:extLst>
              </p:cNvPr>
              <p:cNvSpPr txBox="1"/>
              <p:nvPr/>
            </p:nvSpPr>
            <p:spPr>
              <a:xfrm>
                <a:off x="7322457" y="3779279"/>
                <a:ext cx="1676799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100">
                    <a:latin typeface="Arial" panose="020B0604020202020204" pitchFamily="34" charset="0"/>
                    <a:cs typeface="Arial" panose="020B0604020202020204" pitchFamily="34" charset="0"/>
                  </a:rPr>
                  <a:t>HR / Sustainability Manager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34860E0-F2D9-4945-80B2-BA362E142413}"/>
                  </a:ext>
                </a:extLst>
              </p:cNvPr>
              <p:cNvSpPr txBox="1"/>
              <p:nvPr/>
            </p:nvSpPr>
            <p:spPr>
              <a:xfrm>
                <a:off x="8922714" y="3800517"/>
                <a:ext cx="1676799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100">
                    <a:latin typeface="Arial" panose="020B0604020202020204" pitchFamily="34" charset="0"/>
                    <a:cs typeface="Arial" panose="020B0604020202020204" pitchFamily="34" charset="0"/>
                  </a:rPr>
                  <a:t>Administration/ </a:t>
                </a:r>
              </a:p>
              <a:p>
                <a:pPr algn="ctr"/>
                <a:r>
                  <a:rPr lang="en-IN" sz="1100">
                    <a:latin typeface="Arial" panose="020B0604020202020204" pitchFamily="34" charset="0"/>
                    <a:cs typeface="Arial" panose="020B0604020202020204" pitchFamily="34" charset="0"/>
                  </a:rPr>
                  <a:t>Student Body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7E8E5BB-AAB4-4F5B-837B-1DDF2948CD28}"/>
                  </a:ext>
                </a:extLst>
              </p:cNvPr>
              <p:cNvSpPr txBox="1"/>
              <p:nvPr/>
            </p:nvSpPr>
            <p:spPr>
              <a:xfrm>
                <a:off x="10428935" y="3815132"/>
                <a:ext cx="1676799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100">
                    <a:latin typeface="Arial" panose="020B0604020202020204" pitchFamily="34" charset="0"/>
                    <a:cs typeface="Arial" panose="020B0604020202020204" pitchFamily="34" charset="0"/>
                  </a:rPr>
                  <a:t>HR/Operations Manager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F124240E-87E3-4FAE-8AE9-895217FB23FD}"/>
                  </a:ext>
                </a:extLst>
              </p:cNvPr>
              <p:cNvSpPr txBox="1"/>
              <p:nvPr/>
            </p:nvSpPr>
            <p:spPr>
              <a:xfrm>
                <a:off x="7288665" y="4528278"/>
                <a:ext cx="16767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100">
                    <a:latin typeface="Arial" panose="020B0604020202020204" pitchFamily="34" charset="0"/>
                    <a:cs typeface="Arial" panose="020B0604020202020204" pitchFamily="34" charset="0"/>
                  </a:rPr>
                  <a:t>Employees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F002A06-5C53-458B-BAD9-ABEF7A3AA172}"/>
                  </a:ext>
                </a:extLst>
              </p:cNvPr>
              <p:cNvSpPr txBox="1"/>
              <p:nvPr/>
            </p:nvSpPr>
            <p:spPr>
              <a:xfrm>
                <a:off x="8922715" y="4548110"/>
                <a:ext cx="16767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100">
                    <a:latin typeface="Arial" panose="020B0604020202020204" pitchFamily="34" charset="0"/>
                    <a:cs typeface="Arial" panose="020B0604020202020204" pitchFamily="34" charset="0"/>
                  </a:rPr>
                  <a:t>Students &amp; Staff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0FE82AA-F4B6-4961-A9E9-B30E4AE3C94B}"/>
                  </a:ext>
                </a:extLst>
              </p:cNvPr>
              <p:cNvSpPr txBox="1"/>
              <p:nvPr/>
            </p:nvSpPr>
            <p:spPr>
              <a:xfrm>
                <a:off x="10416065" y="4531698"/>
                <a:ext cx="16767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100">
                    <a:latin typeface="Arial" panose="020B0604020202020204" pitchFamily="34" charset="0"/>
                    <a:cs typeface="Arial" panose="020B0604020202020204" pitchFamily="34" charset="0"/>
                  </a:rPr>
                  <a:t>Employees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FDCBC1E-ABEA-4C24-9B80-9E3E7E1A62FB}"/>
                  </a:ext>
                </a:extLst>
              </p:cNvPr>
              <p:cNvSpPr txBox="1"/>
              <p:nvPr/>
            </p:nvSpPr>
            <p:spPr>
              <a:xfrm>
                <a:off x="7261380" y="5056180"/>
                <a:ext cx="1676799" cy="600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100">
                    <a:latin typeface="Arial" panose="020B0604020202020204" pitchFamily="34" charset="0"/>
                    <a:cs typeface="Arial" panose="020B0604020202020204" pitchFamily="34" charset="0"/>
                  </a:rPr>
                  <a:t>Social Media, </a:t>
                </a:r>
              </a:p>
              <a:p>
                <a:pPr algn="ctr"/>
                <a:r>
                  <a:rPr lang="en-IN" sz="1100">
                    <a:latin typeface="Arial" panose="020B0604020202020204" pitchFamily="34" charset="0"/>
                    <a:cs typeface="Arial" panose="020B0604020202020204" pitchFamily="34" charset="0"/>
                  </a:rPr>
                  <a:t>Influential Corporates Management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0A66F241-5883-47EE-8E42-1272929623FA}"/>
                  </a:ext>
                </a:extLst>
              </p:cNvPr>
              <p:cNvSpPr txBox="1"/>
              <p:nvPr/>
            </p:nvSpPr>
            <p:spPr>
              <a:xfrm>
                <a:off x="8922714" y="5069838"/>
                <a:ext cx="1676799" cy="600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100">
                    <a:latin typeface="Arial" panose="020B0604020202020204" pitchFamily="34" charset="0"/>
                    <a:cs typeface="Arial" panose="020B0604020202020204" pitchFamily="34" charset="0"/>
                  </a:rPr>
                  <a:t>Social Media Influencers, Influential College Management</a:t>
                </a:r>
                <a:endParaRPr lang="en-IN" sz="11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84CFB05-1C12-42BA-8EC7-03CCEE158FCD}"/>
                  </a:ext>
                </a:extLst>
              </p:cNvPr>
              <p:cNvSpPr txBox="1"/>
              <p:nvPr/>
            </p:nvSpPr>
            <p:spPr>
              <a:xfrm>
                <a:off x="10416066" y="5154448"/>
                <a:ext cx="1676799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100">
                    <a:latin typeface="Arial" panose="020B0604020202020204" pitchFamily="34" charset="0"/>
                    <a:cs typeface="Arial" panose="020B0604020202020204" pitchFamily="34" charset="0"/>
                  </a:rPr>
                  <a:t>HR, Marketing</a:t>
                </a:r>
              </a:p>
              <a:p>
                <a:pPr algn="ctr"/>
                <a:r>
                  <a:rPr lang="en-IN" sz="1100">
                    <a:latin typeface="Arial" panose="020B0604020202020204" pitchFamily="34" charset="0"/>
                    <a:cs typeface="Arial" panose="020B0604020202020204" pitchFamily="34" charset="0"/>
                  </a:rPr>
                  <a:t>Team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73016052-2260-4BD6-8628-E9F823D4EA90}"/>
                  </a:ext>
                </a:extLst>
              </p:cNvPr>
              <p:cNvSpPr txBox="1"/>
              <p:nvPr/>
            </p:nvSpPr>
            <p:spPr>
              <a:xfrm>
                <a:off x="7322458" y="5917822"/>
                <a:ext cx="1676799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100">
                    <a:latin typeface="Arial" panose="020B0604020202020204" pitchFamily="34" charset="0"/>
                    <a:cs typeface="Arial" panose="020B0604020202020204" pitchFamily="34" charset="0"/>
                  </a:rPr>
                  <a:t>Competitors, Other Options to travel</a:t>
                </a:r>
                <a:endParaRPr lang="en-IN" sz="11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23EC6218-7138-483D-910F-7FA544FD2F34}"/>
                  </a:ext>
                </a:extLst>
              </p:cNvPr>
              <p:cNvSpPr txBox="1"/>
              <p:nvPr/>
            </p:nvSpPr>
            <p:spPr>
              <a:xfrm>
                <a:off x="8958067" y="5924599"/>
                <a:ext cx="1676799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100">
                    <a:latin typeface="Arial" panose="020B0604020202020204" pitchFamily="34" charset="0"/>
                    <a:cs typeface="Arial" panose="020B0604020202020204" pitchFamily="34" charset="0"/>
                  </a:rPr>
                  <a:t>Institutional guidelines, Budget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49FA14A-DE2A-4AB3-8749-8DE6E33E3FAF}"/>
                  </a:ext>
                </a:extLst>
              </p:cNvPr>
              <p:cNvSpPr txBox="1"/>
              <p:nvPr/>
            </p:nvSpPr>
            <p:spPr>
              <a:xfrm>
                <a:off x="10515201" y="5922353"/>
                <a:ext cx="1676799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100">
                    <a:latin typeface="Arial" panose="020B0604020202020204" pitchFamily="34" charset="0"/>
                    <a:cs typeface="Arial" panose="020B0604020202020204" pitchFamily="34" charset="0"/>
                  </a:rPr>
                  <a:t>Competitors, Other options to travel</a:t>
                </a:r>
                <a:endParaRPr lang="en-IN" sz="11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60A86E9C-D0EB-4397-8B6D-33524AD237B9}"/>
                  </a:ext>
                </a:extLst>
              </p:cNvPr>
              <p:cNvSpPr txBox="1"/>
              <p:nvPr/>
            </p:nvSpPr>
            <p:spPr>
              <a:xfrm>
                <a:off x="3590582" y="4541102"/>
                <a:ext cx="16767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100">
                    <a:latin typeface="Arial" panose="020B0604020202020204" pitchFamily="34" charset="0"/>
                    <a:cs typeface="Arial" panose="020B0604020202020204" pitchFamily="34" charset="0"/>
                  </a:rPr>
                  <a:t>Delivery Team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8061F075-ABF1-44A3-AC87-061A75AD1A49}"/>
                  </a:ext>
                </a:extLst>
              </p:cNvPr>
              <p:cNvSpPr txBox="1"/>
              <p:nvPr/>
            </p:nvSpPr>
            <p:spPr>
              <a:xfrm>
                <a:off x="5552758" y="4535687"/>
                <a:ext cx="16767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100">
                    <a:latin typeface="Arial" panose="020B0604020202020204" pitchFamily="34" charset="0"/>
                    <a:cs typeface="Arial" panose="020B0604020202020204" pitchFamily="34" charset="0"/>
                  </a:rPr>
                  <a:t>Individual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8CBEB9E-3563-460C-BCB5-B3EBD46243EE}"/>
                  </a:ext>
                </a:extLst>
              </p:cNvPr>
              <p:cNvSpPr txBox="1"/>
              <p:nvPr/>
            </p:nvSpPr>
            <p:spPr>
              <a:xfrm>
                <a:off x="3658348" y="5215311"/>
                <a:ext cx="16767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100">
                    <a:latin typeface="Arial" panose="020B0604020202020204" pitchFamily="34" charset="0"/>
                    <a:cs typeface="Arial" panose="020B0604020202020204" pitchFamily="34" charset="0"/>
                  </a:rPr>
                  <a:t>Management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1D8E09F9-1015-4B0F-8214-7C2C4DEFF6AD}"/>
                  </a:ext>
                </a:extLst>
              </p:cNvPr>
              <p:cNvSpPr txBox="1"/>
              <p:nvPr/>
            </p:nvSpPr>
            <p:spPr>
              <a:xfrm>
                <a:off x="5689962" y="5128049"/>
                <a:ext cx="1676799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100">
                    <a:latin typeface="Arial" panose="020B0604020202020204" pitchFamily="34" charset="0"/>
                    <a:cs typeface="Arial" panose="020B0604020202020204" pitchFamily="34" charset="0"/>
                  </a:rPr>
                  <a:t>Social Media Influencer, Online reviews</a:t>
                </a:r>
                <a:endParaRPr lang="en-IN" sz="11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D7611FE-EA13-493D-9C53-676CD3270779}"/>
                  </a:ext>
                </a:extLst>
              </p:cNvPr>
              <p:cNvSpPr txBox="1"/>
              <p:nvPr/>
            </p:nvSpPr>
            <p:spPr>
              <a:xfrm>
                <a:off x="3640312" y="5960146"/>
                <a:ext cx="16767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100">
                    <a:latin typeface="Arial" panose="020B0604020202020204" pitchFamily="34" charset="0"/>
                    <a:cs typeface="Arial" panose="020B0604020202020204" pitchFamily="34" charset="0"/>
                  </a:rPr>
                  <a:t>Competitors, Cost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D97344A7-0AAB-4878-BF98-C3CFC91B6213}"/>
                  </a:ext>
                </a:extLst>
              </p:cNvPr>
              <p:cNvSpPr txBox="1"/>
              <p:nvPr/>
            </p:nvSpPr>
            <p:spPr>
              <a:xfrm>
                <a:off x="5619644" y="5960146"/>
                <a:ext cx="1676799" cy="2616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100">
                    <a:latin typeface="Arial" panose="020B0604020202020204" pitchFamily="34" charset="0"/>
                    <a:cs typeface="Arial" panose="020B0604020202020204" pitchFamily="34" charset="0"/>
                  </a:rPr>
                  <a:t>Other Options to travel</a:t>
                </a:r>
              </a:p>
            </p:txBody>
          </p:sp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07235A13-62DA-42D0-A24A-D744CC9C4E30}"/>
                  </a:ext>
                </a:extLst>
              </p:cNvPr>
              <p:cNvSpPr/>
              <p:nvPr/>
            </p:nvSpPr>
            <p:spPr>
              <a:xfrm>
                <a:off x="3555113" y="2939416"/>
                <a:ext cx="1834507" cy="276969"/>
              </a:xfrm>
              <a:prstGeom prst="roundRect">
                <a:avLst/>
              </a:prstGeom>
              <a:solidFill>
                <a:srgbClr val="4F007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b="1">
                    <a:latin typeface="Arial" panose="020B0604020202020204" pitchFamily="34" charset="0"/>
                    <a:cs typeface="Arial" panose="020B0604020202020204" pitchFamily="34" charset="0"/>
                  </a:rPr>
                  <a:t>B2B</a:t>
                </a:r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552FF4F9-021A-446A-9D8D-E369EDEE0570}"/>
                  </a:ext>
                </a:extLst>
              </p:cNvPr>
              <p:cNvSpPr/>
              <p:nvPr/>
            </p:nvSpPr>
            <p:spPr>
              <a:xfrm>
                <a:off x="5542918" y="2939415"/>
                <a:ext cx="1724690" cy="276999"/>
              </a:xfrm>
              <a:prstGeom prst="roundRect">
                <a:avLst/>
              </a:prstGeom>
              <a:solidFill>
                <a:srgbClr val="4F007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b="1">
                    <a:latin typeface="Arial" panose="020B0604020202020204" pitchFamily="34" charset="0"/>
                    <a:cs typeface="Arial" panose="020B0604020202020204" pitchFamily="34" charset="0"/>
                  </a:rPr>
                  <a:t>B2C</a:t>
                </a:r>
              </a:p>
            </p:txBody>
          </p:sp>
          <p:sp>
            <p:nvSpPr>
              <p:cNvPr id="48" name="Rectangle: Rounded Corners 47">
                <a:extLst>
                  <a:ext uri="{FF2B5EF4-FFF2-40B4-BE49-F238E27FC236}">
                    <a16:creationId xmlns:a16="http://schemas.microsoft.com/office/drawing/2014/main" id="{F50B3A57-7051-401A-9D85-C81D3CFD873A}"/>
                  </a:ext>
                </a:extLst>
              </p:cNvPr>
              <p:cNvSpPr/>
              <p:nvPr/>
            </p:nvSpPr>
            <p:spPr>
              <a:xfrm>
                <a:off x="7406345" y="2942855"/>
                <a:ext cx="4622885" cy="276999"/>
              </a:xfrm>
              <a:prstGeom prst="roundRect">
                <a:avLst/>
              </a:prstGeom>
              <a:solidFill>
                <a:srgbClr val="4F007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IN" sz="1600" b="1">
                    <a:latin typeface="Arial" panose="020B0604020202020204" pitchFamily="34" charset="0"/>
                    <a:cs typeface="Arial" panose="020B0604020202020204" pitchFamily="34" charset="0"/>
                  </a:rPr>
                  <a:t>B2B2C</a:t>
                </a:r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DAD5F96-0614-4B66-B795-46456B825E43}"/>
                  </a:ext>
                </a:extLst>
              </p:cNvPr>
              <p:cNvSpPr/>
              <p:nvPr/>
            </p:nvSpPr>
            <p:spPr>
              <a:xfrm>
                <a:off x="3554600" y="943032"/>
                <a:ext cx="3706780" cy="187637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pic>
            <p:nvPicPr>
              <p:cNvPr id="50" name="Graphic 49" descr="Road with solid fill">
                <a:extLst>
                  <a:ext uri="{FF2B5EF4-FFF2-40B4-BE49-F238E27FC236}">
                    <a16:creationId xmlns:a16="http://schemas.microsoft.com/office/drawing/2014/main" id="{5EDA4A04-28F2-4891-B717-A6C8F997AC3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rcRect/>
              <a:stretch/>
            </p:blipFill>
            <p:spPr>
              <a:xfrm>
                <a:off x="3018800" y="1605964"/>
                <a:ext cx="435076" cy="435076"/>
              </a:xfrm>
              <a:prstGeom prst="rect">
                <a:avLst/>
              </a:prstGeom>
            </p:spPr>
          </p:pic>
          <p:pic>
            <p:nvPicPr>
              <p:cNvPr id="51" name="Graphic 50" descr="Gauge with solid fill">
                <a:extLst>
                  <a:ext uri="{FF2B5EF4-FFF2-40B4-BE49-F238E27FC236}">
                    <a16:creationId xmlns:a16="http://schemas.microsoft.com/office/drawing/2014/main" id="{EEBF5BB5-25ED-49F1-8689-DF7A829A97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3034644" y="1020986"/>
                <a:ext cx="435076" cy="435076"/>
              </a:xfrm>
              <a:prstGeom prst="rect">
                <a:avLst/>
              </a:prstGeom>
            </p:spPr>
          </p:pic>
          <p:pic>
            <p:nvPicPr>
              <p:cNvPr id="52" name="Graphic 51" descr="Money with solid fill">
                <a:extLst>
                  <a:ext uri="{FF2B5EF4-FFF2-40B4-BE49-F238E27FC236}">
                    <a16:creationId xmlns:a16="http://schemas.microsoft.com/office/drawing/2014/main" id="{F966198A-7363-4272-930D-E717F7DC4C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p:blipFill>
            <p:spPr>
              <a:xfrm>
                <a:off x="3030921" y="2200597"/>
                <a:ext cx="435076" cy="435076"/>
              </a:xfrm>
              <a:prstGeom prst="rect">
                <a:avLst/>
              </a:prstGeom>
            </p:spPr>
          </p:pic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20A27BE5-C13D-4472-A80F-3DFA27A7CB27}"/>
                  </a:ext>
                </a:extLst>
              </p:cNvPr>
              <p:cNvSpPr txBox="1"/>
              <p:nvPr/>
            </p:nvSpPr>
            <p:spPr>
              <a:xfrm>
                <a:off x="8279191" y="2266667"/>
                <a:ext cx="295750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b="1">
                    <a:solidFill>
                      <a:srgbClr val="4F007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Rental / Subscription based Model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A7B6DBA-B794-426C-9D9B-E8F64C27AAA4}"/>
                  </a:ext>
                </a:extLst>
              </p:cNvPr>
              <p:cNvSpPr txBox="1"/>
              <p:nvPr/>
            </p:nvSpPr>
            <p:spPr>
              <a:xfrm>
                <a:off x="3536952" y="2572349"/>
                <a:ext cx="2140996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000">
                    <a:solidFill>
                      <a:srgbClr val="4F007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Value + Competitor based pricing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B8F805A-54C6-485B-8EE4-DEE13851EC36}"/>
                  </a:ext>
                </a:extLst>
              </p:cNvPr>
              <p:cNvSpPr txBox="1"/>
              <p:nvPr/>
            </p:nvSpPr>
            <p:spPr>
              <a:xfrm>
                <a:off x="3746487" y="614725"/>
                <a:ext cx="145175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ABC </a:t>
                </a:r>
                <a:r>
                  <a:rPr lang="en-IN" sz="1400" b="1" i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Photon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7E1A0A6-7A7C-418E-A184-47266AB10F4F}"/>
                  </a:ext>
                </a:extLst>
              </p:cNvPr>
              <p:cNvSpPr txBox="1"/>
              <p:nvPr/>
            </p:nvSpPr>
            <p:spPr>
              <a:xfrm>
                <a:off x="9032063" y="608987"/>
                <a:ext cx="145175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ABC </a:t>
                </a:r>
                <a:r>
                  <a:rPr lang="en-IN" sz="1400" b="1" i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Hydra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479CCA9-0707-4C29-B27E-50D8E3BE57CC}"/>
                  </a:ext>
                </a:extLst>
              </p:cNvPr>
              <p:cNvSpPr txBox="1"/>
              <p:nvPr/>
            </p:nvSpPr>
            <p:spPr>
              <a:xfrm>
                <a:off x="5672609" y="606120"/>
                <a:ext cx="145175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ABC </a:t>
                </a:r>
                <a:r>
                  <a:rPr lang="en-IN" sz="1400" b="1" i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Photon+</a:t>
                </a:r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EB05B06-4ECE-4CAD-9AAC-957EEE8F512F}"/>
                  </a:ext>
                </a:extLst>
              </p:cNvPr>
              <p:cNvSpPr txBox="1"/>
              <p:nvPr/>
            </p:nvSpPr>
            <p:spPr>
              <a:xfrm>
                <a:off x="3961836" y="1685002"/>
                <a:ext cx="102105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>
                    <a:solidFill>
                      <a:srgbClr val="4F007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IN" sz="1200" b="1">
                    <a:solidFill>
                      <a:srgbClr val="4F007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15-125 km</a:t>
                </a: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9C57FC5-7A49-4957-BE4F-008E409350E7}"/>
                  </a:ext>
                </a:extLst>
              </p:cNvPr>
              <p:cNvSpPr txBox="1"/>
              <p:nvPr/>
            </p:nvSpPr>
            <p:spPr>
              <a:xfrm>
                <a:off x="5902333" y="1688907"/>
                <a:ext cx="102105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>
                    <a:solidFill>
                      <a:srgbClr val="4F007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</a:t>
                </a:r>
                <a:r>
                  <a:rPr lang="en-IN" sz="1200" b="1">
                    <a:solidFill>
                      <a:srgbClr val="4F007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75-190 km</a:t>
                </a: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86E7CC51-AFE8-450F-9C87-10200279EE0C}"/>
                  </a:ext>
                </a:extLst>
              </p:cNvPr>
              <p:cNvSpPr txBox="1"/>
              <p:nvPr/>
            </p:nvSpPr>
            <p:spPr>
              <a:xfrm>
                <a:off x="3986217" y="2289575"/>
                <a:ext cx="102105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>
                    <a:solidFill>
                      <a:srgbClr val="4F007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95-99k*</a:t>
                </a:r>
                <a:endParaRPr lang="en-IN" sz="1200" b="1">
                  <a:solidFill>
                    <a:srgbClr val="4F0077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2B1CB1C-ABC8-4880-BD25-112E0FBE03B9}"/>
                  </a:ext>
                </a:extLst>
              </p:cNvPr>
              <p:cNvSpPr txBox="1"/>
              <p:nvPr/>
            </p:nvSpPr>
            <p:spPr>
              <a:xfrm>
                <a:off x="5861075" y="2283924"/>
                <a:ext cx="102105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>
                    <a:solidFill>
                      <a:srgbClr val="4F007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1.2-1.4 Lac*</a:t>
                </a:r>
                <a:endParaRPr lang="en-IN" sz="1200" b="1">
                  <a:solidFill>
                    <a:srgbClr val="4F0077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B8FD5107-56C5-4741-85F1-C79EFD1BC2ED}"/>
                  </a:ext>
                </a:extLst>
              </p:cNvPr>
              <p:cNvSpPr txBox="1"/>
              <p:nvPr/>
            </p:nvSpPr>
            <p:spPr>
              <a:xfrm>
                <a:off x="6322605" y="2578536"/>
                <a:ext cx="983972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000">
                    <a:solidFill>
                      <a:srgbClr val="4F007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*with battery</a:t>
                </a: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B5858035-39B8-4EF7-98B9-CEC5CF6A853C}"/>
                  </a:ext>
                </a:extLst>
              </p:cNvPr>
              <p:cNvSpPr txBox="1"/>
              <p:nvPr/>
            </p:nvSpPr>
            <p:spPr>
              <a:xfrm>
                <a:off x="3986216" y="1153216"/>
                <a:ext cx="1021059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>
                    <a:solidFill>
                      <a:srgbClr val="4F007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85-90 kmph</a:t>
                </a:r>
                <a:endParaRPr lang="en-IN" sz="1200" b="1">
                  <a:solidFill>
                    <a:srgbClr val="4F0077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5C8A589-A771-4D8F-ACE1-1EB3DBC3FC2C}"/>
                  </a:ext>
                </a:extLst>
              </p:cNvPr>
              <p:cNvSpPr txBox="1"/>
              <p:nvPr/>
            </p:nvSpPr>
            <p:spPr>
              <a:xfrm>
                <a:off x="5773511" y="1155513"/>
                <a:ext cx="126350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>
                    <a:solidFill>
                      <a:srgbClr val="4F007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115-120 </a:t>
                </a:r>
                <a:r>
                  <a:rPr lang="en-IN" sz="1200" b="1">
                    <a:solidFill>
                      <a:srgbClr val="4F007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kmph</a:t>
                </a:r>
              </a:p>
            </p:txBody>
          </p:sp>
          <p:pic>
            <p:nvPicPr>
              <p:cNvPr id="65" name="Graphic 64" descr="Scooter with solid fill">
                <a:extLst>
                  <a:ext uri="{FF2B5EF4-FFF2-40B4-BE49-F238E27FC236}">
                    <a16:creationId xmlns:a16="http://schemas.microsoft.com/office/drawing/2014/main" id="{A030C4A1-B0FC-4E94-8831-3F27DE959C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>
                <a:off x="5142496" y="523404"/>
                <a:ext cx="494247" cy="494247"/>
              </a:xfrm>
              <a:prstGeom prst="rect">
                <a:avLst/>
              </a:prstGeom>
            </p:spPr>
          </p:pic>
          <p:pic>
            <p:nvPicPr>
              <p:cNvPr id="66" name="Graphic 65" descr="Cycling with solid fill">
                <a:extLst>
                  <a:ext uri="{FF2B5EF4-FFF2-40B4-BE49-F238E27FC236}">
                    <a16:creationId xmlns:a16="http://schemas.microsoft.com/office/drawing/2014/main" id="{CD17D572-4E71-41AF-B698-A1EBBC8BB9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8842190" y="593556"/>
                <a:ext cx="341205" cy="341205"/>
              </a:xfrm>
              <a:prstGeom prst="rect">
                <a:avLst/>
              </a:prstGeom>
            </p:spPr>
          </p:pic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BA089310-3585-4DCC-9868-C235788BF00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32881" y="1179252"/>
                <a:ext cx="0" cy="1381671"/>
              </a:xfrm>
              <a:prstGeom prst="line">
                <a:avLst/>
              </a:prstGeom>
              <a:ln>
                <a:solidFill>
                  <a:srgbClr val="4A0E64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D6E4AB6C-C115-4107-AB49-ED1D503CA34B}"/>
                  </a:ext>
                </a:extLst>
              </p:cNvPr>
              <p:cNvSpPr txBox="1"/>
              <p:nvPr/>
            </p:nvSpPr>
            <p:spPr>
              <a:xfrm>
                <a:off x="7718383" y="1727645"/>
                <a:ext cx="39988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>
                    <a:solidFill>
                      <a:srgbClr val="4F007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30 km with throttle and 35 km with Pedal assist</a:t>
                </a:r>
                <a:endParaRPr lang="en-IN" sz="1200" b="1">
                  <a:solidFill>
                    <a:srgbClr val="4F0077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D9303411-2F72-4E86-AFFB-02EE1D413AFC}"/>
                  </a:ext>
                </a:extLst>
              </p:cNvPr>
              <p:cNvSpPr txBox="1"/>
              <p:nvPr/>
            </p:nvSpPr>
            <p:spPr>
              <a:xfrm>
                <a:off x="7643723" y="1155512"/>
                <a:ext cx="399880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>
                    <a:solidFill>
                      <a:srgbClr val="4F0077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Low speed and Cruise mode</a:t>
                </a:r>
                <a:endParaRPr lang="en-IN" sz="1200" b="1">
                  <a:solidFill>
                    <a:srgbClr val="4F0077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9D5DC47D-2DE2-4AE3-8518-5CE9B0438BD9}"/>
                  </a:ext>
                </a:extLst>
              </p:cNvPr>
              <p:cNvSpPr txBox="1"/>
              <p:nvPr/>
            </p:nvSpPr>
            <p:spPr>
              <a:xfrm>
                <a:off x="7688659" y="910142"/>
                <a:ext cx="4072797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Electric Bicycle – </a:t>
                </a:r>
                <a:r>
                  <a:rPr lang="en-IN" sz="1200" b="1" i="1" dirty="0">
                    <a:solidFill>
                      <a:srgbClr val="923F5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Save Money &amp; Travel Responsibly </a:t>
                </a: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EA679E3A-9280-47C2-AF18-A0F86137DE77}"/>
                  </a:ext>
                </a:extLst>
              </p:cNvPr>
              <p:cNvSpPr txBox="1"/>
              <p:nvPr/>
            </p:nvSpPr>
            <p:spPr>
              <a:xfrm>
                <a:off x="3861123" y="888635"/>
                <a:ext cx="3121246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b="1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Electric Scooter –</a:t>
                </a:r>
                <a:r>
                  <a:rPr lang="en-IN" sz="1200" b="1" i="1" dirty="0">
                    <a:solidFill>
                      <a:srgbClr val="923F5D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EV for all, all for EV </a:t>
                </a:r>
              </a:p>
            </p:txBody>
          </p:sp>
        </p:grpSp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600462A3-6BD2-4209-B70C-21EDC361C789}"/>
                </a:ext>
              </a:extLst>
            </p:cNvPr>
            <p:cNvGrpSpPr/>
            <p:nvPr/>
          </p:nvGrpSpPr>
          <p:grpSpPr>
            <a:xfrm>
              <a:off x="9579160" y="1263168"/>
              <a:ext cx="2492707" cy="525223"/>
              <a:chOff x="327003" y="1696295"/>
              <a:chExt cx="2492707" cy="525223"/>
            </a:xfrm>
          </p:grpSpPr>
          <p:sp>
            <p:nvSpPr>
              <p:cNvPr id="84" name="Rectangle: Rounded Corners 83">
                <a:extLst>
                  <a:ext uri="{FF2B5EF4-FFF2-40B4-BE49-F238E27FC236}">
                    <a16:creationId xmlns:a16="http://schemas.microsoft.com/office/drawing/2014/main" id="{F89E5655-D1C2-4257-BDB9-805BEF29BD66}"/>
                  </a:ext>
                </a:extLst>
              </p:cNvPr>
              <p:cNvSpPr/>
              <p:nvPr/>
            </p:nvSpPr>
            <p:spPr>
              <a:xfrm>
                <a:off x="327003" y="1696295"/>
                <a:ext cx="2492707" cy="525223"/>
              </a:xfrm>
              <a:prstGeom prst="roundRect">
                <a:avLst>
                  <a:gd name="adj" fmla="val 8375"/>
                </a:avLst>
              </a:prstGeom>
              <a:noFill/>
              <a:ln>
                <a:solidFill>
                  <a:srgbClr val="4A00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7580ED9F-39CD-4899-BF9B-94C26FCE778E}"/>
                  </a:ext>
                </a:extLst>
              </p:cNvPr>
              <p:cNvSpPr txBox="1"/>
              <p:nvPr/>
            </p:nvSpPr>
            <p:spPr>
              <a:xfrm>
                <a:off x="651778" y="1745529"/>
                <a:ext cx="216165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EV with/without Battery </a:t>
                </a:r>
              </a:p>
              <a:p>
                <a:pPr algn="ctr"/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Battery standardization</a:t>
                </a:r>
              </a:p>
            </p:txBody>
          </p:sp>
          <p:pic>
            <p:nvPicPr>
              <p:cNvPr id="86" name="Graphic 85" descr="Disconnected with solid fill">
                <a:extLst>
                  <a:ext uri="{FF2B5EF4-FFF2-40B4-BE49-F238E27FC236}">
                    <a16:creationId xmlns:a16="http://schemas.microsoft.com/office/drawing/2014/main" id="{D004343C-53E4-4AD3-9D6A-9C46732D02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rcRect/>
              <a:stretch/>
            </p:blipFill>
            <p:spPr>
              <a:xfrm>
                <a:off x="414812" y="1747825"/>
                <a:ext cx="430887" cy="430887"/>
              </a:xfrm>
              <a:prstGeom prst="rect">
                <a:avLst/>
              </a:prstGeom>
            </p:spPr>
          </p:pic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33EA1C97-DB33-4CE8-AFCA-DDF268FA43A2}"/>
                </a:ext>
              </a:extLst>
            </p:cNvPr>
            <p:cNvGrpSpPr/>
            <p:nvPr/>
          </p:nvGrpSpPr>
          <p:grpSpPr>
            <a:xfrm>
              <a:off x="9583380" y="1925639"/>
              <a:ext cx="2484255" cy="525223"/>
              <a:chOff x="344782" y="2393184"/>
              <a:chExt cx="2484255" cy="525223"/>
            </a:xfrm>
          </p:grpSpPr>
          <p:pic>
            <p:nvPicPr>
              <p:cNvPr id="88" name="Graphic 87" descr="Sustainability with solid fill">
                <a:extLst>
                  <a:ext uri="{FF2B5EF4-FFF2-40B4-BE49-F238E27FC236}">
                    <a16:creationId xmlns:a16="http://schemas.microsoft.com/office/drawing/2014/main" id="{4AA2D231-74AB-4E68-A871-66D46A42581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rcRect/>
              <a:stretch/>
            </p:blipFill>
            <p:spPr>
              <a:xfrm>
                <a:off x="464889" y="2444885"/>
                <a:ext cx="430887" cy="430887"/>
              </a:xfrm>
              <a:prstGeom prst="rect">
                <a:avLst/>
              </a:prstGeom>
            </p:spPr>
          </p:pic>
          <p:sp>
            <p:nvSpPr>
              <p:cNvPr id="89" name="Rectangle: Rounded Corners 88">
                <a:extLst>
                  <a:ext uri="{FF2B5EF4-FFF2-40B4-BE49-F238E27FC236}">
                    <a16:creationId xmlns:a16="http://schemas.microsoft.com/office/drawing/2014/main" id="{F6F1F15C-295A-4E00-B098-054FD956BB5B}"/>
                  </a:ext>
                </a:extLst>
              </p:cNvPr>
              <p:cNvSpPr/>
              <p:nvPr/>
            </p:nvSpPr>
            <p:spPr>
              <a:xfrm>
                <a:off x="344782" y="2393184"/>
                <a:ext cx="2484255" cy="525223"/>
              </a:xfrm>
              <a:prstGeom prst="roundRect">
                <a:avLst>
                  <a:gd name="adj" fmla="val 8375"/>
                </a:avLst>
              </a:prstGeom>
              <a:noFill/>
              <a:ln>
                <a:solidFill>
                  <a:srgbClr val="4A00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A6823CE0-3A02-4B30-BD5A-46EA89B9EF02}"/>
                  </a:ext>
                </a:extLst>
              </p:cNvPr>
              <p:cNvSpPr txBox="1"/>
              <p:nvPr/>
            </p:nvSpPr>
            <p:spPr>
              <a:xfrm>
                <a:off x="612481" y="2442170"/>
                <a:ext cx="216165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Electric Vehicle</a:t>
                </a:r>
              </a:p>
              <a:p>
                <a:pPr algn="ctr"/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Battery Recycling </a:t>
                </a:r>
              </a:p>
            </p:txBody>
          </p: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4C013E59-EBC3-455D-9F58-D5FB97DC4BEC}"/>
                </a:ext>
              </a:extLst>
            </p:cNvPr>
            <p:cNvGrpSpPr/>
            <p:nvPr/>
          </p:nvGrpSpPr>
          <p:grpSpPr>
            <a:xfrm>
              <a:off x="9579161" y="609397"/>
              <a:ext cx="2492706" cy="525223"/>
              <a:chOff x="317543" y="3141514"/>
              <a:chExt cx="2492706" cy="525223"/>
            </a:xfrm>
          </p:grpSpPr>
          <p:pic>
            <p:nvPicPr>
              <p:cNvPr id="92" name="Graphic 91" descr="Battery Charging">
                <a:extLst>
                  <a:ext uri="{FF2B5EF4-FFF2-40B4-BE49-F238E27FC236}">
                    <a16:creationId xmlns:a16="http://schemas.microsoft.com/office/drawing/2014/main" id="{59865064-2271-4748-ACDA-1BA6079BED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/>
              </a:stretch>
            </p:blipFill>
            <p:spPr>
              <a:xfrm>
                <a:off x="464467" y="3163758"/>
                <a:ext cx="430887" cy="430887"/>
              </a:xfrm>
              <a:prstGeom prst="rect">
                <a:avLst/>
              </a:prstGeom>
            </p:spPr>
          </p:pic>
          <p:sp>
            <p:nvSpPr>
              <p:cNvPr id="93" name="Rectangle: Rounded Corners 92">
                <a:extLst>
                  <a:ext uri="{FF2B5EF4-FFF2-40B4-BE49-F238E27FC236}">
                    <a16:creationId xmlns:a16="http://schemas.microsoft.com/office/drawing/2014/main" id="{79CFCF55-97C7-4CA0-BB61-7877C8C3C243}"/>
                  </a:ext>
                </a:extLst>
              </p:cNvPr>
              <p:cNvSpPr/>
              <p:nvPr/>
            </p:nvSpPr>
            <p:spPr>
              <a:xfrm>
                <a:off x="317543" y="3141514"/>
                <a:ext cx="2492706" cy="525223"/>
              </a:xfrm>
              <a:prstGeom prst="roundRect">
                <a:avLst>
                  <a:gd name="adj" fmla="val 8375"/>
                </a:avLst>
              </a:prstGeom>
              <a:noFill/>
              <a:ln>
                <a:solidFill>
                  <a:srgbClr val="4A00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D14EDEA1-D6A9-43E7-A098-8FCC9F422D78}"/>
                  </a:ext>
                </a:extLst>
              </p:cNvPr>
              <p:cNvSpPr txBox="1"/>
              <p:nvPr/>
            </p:nvSpPr>
            <p:spPr>
              <a:xfrm>
                <a:off x="593693" y="3191673"/>
                <a:ext cx="216165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Shared Charging</a:t>
                </a:r>
              </a:p>
              <a:p>
                <a:pPr algn="ctr"/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Infrastructure</a:t>
                </a:r>
              </a:p>
            </p:txBody>
          </p:sp>
        </p:grp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6D1EE7CF-4C0D-4134-BFBF-F6FFE95C9DD5}"/>
                </a:ext>
              </a:extLst>
            </p:cNvPr>
            <p:cNvGrpSpPr/>
            <p:nvPr/>
          </p:nvGrpSpPr>
          <p:grpSpPr>
            <a:xfrm>
              <a:off x="9591022" y="4655085"/>
              <a:ext cx="2474563" cy="525223"/>
              <a:chOff x="361163" y="10273983"/>
              <a:chExt cx="2474563" cy="525223"/>
            </a:xfrm>
          </p:grpSpPr>
          <p:pic>
            <p:nvPicPr>
              <p:cNvPr id="96" name="Graphic 95" descr="Syncing cloud with solid fill">
                <a:extLst>
                  <a:ext uri="{FF2B5EF4-FFF2-40B4-BE49-F238E27FC236}">
                    <a16:creationId xmlns:a16="http://schemas.microsoft.com/office/drawing/2014/main" id="{400E934E-B3DC-4B60-BBF4-313A689F45D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rcRect/>
              <a:stretch/>
            </p:blipFill>
            <p:spPr>
              <a:xfrm>
                <a:off x="482480" y="10294305"/>
                <a:ext cx="430887" cy="430887"/>
              </a:xfrm>
              <a:prstGeom prst="rect">
                <a:avLst/>
              </a:prstGeom>
            </p:spPr>
          </p:pic>
          <p:sp>
            <p:nvSpPr>
              <p:cNvPr id="97" name="Rectangle: Rounded Corners 96">
                <a:extLst>
                  <a:ext uri="{FF2B5EF4-FFF2-40B4-BE49-F238E27FC236}">
                    <a16:creationId xmlns:a16="http://schemas.microsoft.com/office/drawing/2014/main" id="{E3DA8ED0-6BD6-4D82-9315-9B889D99745A}"/>
                  </a:ext>
                </a:extLst>
              </p:cNvPr>
              <p:cNvSpPr/>
              <p:nvPr/>
            </p:nvSpPr>
            <p:spPr>
              <a:xfrm>
                <a:off x="361163" y="10273983"/>
                <a:ext cx="2474563" cy="525223"/>
              </a:xfrm>
              <a:prstGeom prst="roundRect">
                <a:avLst>
                  <a:gd name="adj" fmla="val 8375"/>
                </a:avLst>
              </a:prstGeom>
              <a:noFill/>
              <a:ln>
                <a:solidFill>
                  <a:srgbClr val="4A00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8" name="TextBox 97">
                <a:extLst>
                  <a:ext uri="{FF2B5EF4-FFF2-40B4-BE49-F238E27FC236}">
                    <a16:creationId xmlns:a16="http://schemas.microsoft.com/office/drawing/2014/main" id="{E30B47FB-0DE8-4152-BFC3-67937195F1BD}"/>
                  </a:ext>
                </a:extLst>
              </p:cNvPr>
              <p:cNvSpPr txBox="1"/>
              <p:nvPr/>
            </p:nvSpPr>
            <p:spPr>
              <a:xfrm>
                <a:off x="667656" y="10289428"/>
                <a:ext cx="207858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Creating</a:t>
                </a:r>
              </a:p>
              <a:p>
                <a:pPr algn="ctr"/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Digital Ecosystem</a:t>
                </a:r>
              </a:p>
            </p:txBody>
          </p:sp>
        </p:grpSp>
        <p:grpSp>
          <p:nvGrpSpPr>
            <p:cNvPr id="99" name="Group 98">
              <a:extLst>
                <a:ext uri="{FF2B5EF4-FFF2-40B4-BE49-F238E27FC236}">
                  <a16:creationId xmlns:a16="http://schemas.microsoft.com/office/drawing/2014/main" id="{51FAE8EE-C375-45BD-989B-5AECF0337DBE}"/>
                </a:ext>
              </a:extLst>
            </p:cNvPr>
            <p:cNvGrpSpPr/>
            <p:nvPr/>
          </p:nvGrpSpPr>
          <p:grpSpPr>
            <a:xfrm>
              <a:off x="9597484" y="3998039"/>
              <a:ext cx="2461684" cy="525223"/>
              <a:chOff x="359034" y="7815470"/>
              <a:chExt cx="2461684" cy="525223"/>
            </a:xfrm>
          </p:grpSpPr>
          <p:sp>
            <p:nvSpPr>
              <p:cNvPr id="100" name="Rectangle: Rounded Corners 99">
                <a:extLst>
                  <a:ext uri="{FF2B5EF4-FFF2-40B4-BE49-F238E27FC236}">
                    <a16:creationId xmlns:a16="http://schemas.microsoft.com/office/drawing/2014/main" id="{2D18CFCB-F301-475F-9993-A9C13E68E449}"/>
                  </a:ext>
                </a:extLst>
              </p:cNvPr>
              <p:cNvSpPr/>
              <p:nvPr/>
            </p:nvSpPr>
            <p:spPr>
              <a:xfrm>
                <a:off x="359034" y="7815470"/>
                <a:ext cx="2461684" cy="525223"/>
              </a:xfrm>
              <a:prstGeom prst="roundRect">
                <a:avLst>
                  <a:gd name="adj" fmla="val 8375"/>
                </a:avLst>
              </a:prstGeom>
              <a:noFill/>
              <a:ln>
                <a:solidFill>
                  <a:srgbClr val="4A00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55DF9A65-B559-4E13-A5AD-ECE5B4CE2ED5}"/>
                  </a:ext>
                </a:extLst>
              </p:cNvPr>
              <p:cNvSpPr txBox="1"/>
              <p:nvPr/>
            </p:nvSpPr>
            <p:spPr>
              <a:xfrm>
                <a:off x="934458" y="7842541"/>
                <a:ext cx="15983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Reskilling &amp; Incentivising dealers</a:t>
                </a:r>
              </a:p>
            </p:txBody>
          </p:sp>
        </p:grpSp>
        <p:grpSp>
          <p:nvGrpSpPr>
            <p:cNvPr id="102" name="Group 101">
              <a:extLst>
                <a:ext uri="{FF2B5EF4-FFF2-40B4-BE49-F238E27FC236}">
                  <a16:creationId xmlns:a16="http://schemas.microsoft.com/office/drawing/2014/main" id="{418F396F-64B6-4719-BB36-5024EE06C539}"/>
                </a:ext>
              </a:extLst>
            </p:cNvPr>
            <p:cNvGrpSpPr/>
            <p:nvPr/>
          </p:nvGrpSpPr>
          <p:grpSpPr>
            <a:xfrm>
              <a:off x="9581117" y="3339099"/>
              <a:ext cx="2492293" cy="525223"/>
              <a:chOff x="352877" y="7852664"/>
              <a:chExt cx="2492293" cy="525223"/>
            </a:xfrm>
          </p:grpSpPr>
          <p:pic>
            <p:nvPicPr>
              <p:cNvPr id="103" name="Graphic 102" descr="Handshake with solid fill">
                <a:extLst>
                  <a:ext uri="{FF2B5EF4-FFF2-40B4-BE49-F238E27FC236}">
                    <a16:creationId xmlns:a16="http://schemas.microsoft.com/office/drawing/2014/main" id="{27229068-2468-406C-B153-D054DDB98C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rcRect/>
              <a:stretch/>
            </p:blipFill>
            <p:spPr>
              <a:xfrm>
                <a:off x="462995" y="7902604"/>
                <a:ext cx="430887" cy="430887"/>
              </a:xfrm>
              <a:prstGeom prst="rect">
                <a:avLst/>
              </a:prstGeom>
            </p:spPr>
          </p:pic>
          <p:sp>
            <p:nvSpPr>
              <p:cNvPr id="104" name="Rectangle: Rounded Corners 103">
                <a:extLst>
                  <a:ext uri="{FF2B5EF4-FFF2-40B4-BE49-F238E27FC236}">
                    <a16:creationId xmlns:a16="http://schemas.microsoft.com/office/drawing/2014/main" id="{D961093C-4E87-469D-BCB5-898DE4E1B85F}"/>
                  </a:ext>
                </a:extLst>
              </p:cNvPr>
              <p:cNvSpPr/>
              <p:nvPr/>
            </p:nvSpPr>
            <p:spPr>
              <a:xfrm>
                <a:off x="352877" y="7852664"/>
                <a:ext cx="2492293" cy="525223"/>
              </a:xfrm>
              <a:prstGeom prst="roundRect">
                <a:avLst>
                  <a:gd name="adj" fmla="val 8375"/>
                </a:avLst>
              </a:prstGeom>
              <a:noFill/>
              <a:ln>
                <a:solidFill>
                  <a:srgbClr val="4A0073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05" name="TextBox 104">
                <a:extLst>
                  <a:ext uri="{FF2B5EF4-FFF2-40B4-BE49-F238E27FC236}">
                    <a16:creationId xmlns:a16="http://schemas.microsoft.com/office/drawing/2014/main" id="{4C759E18-A1D5-476A-BAD2-EAD2FE545D92}"/>
                  </a:ext>
                </a:extLst>
              </p:cNvPr>
              <p:cNvSpPr txBox="1"/>
              <p:nvPr/>
            </p:nvSpPr>
            <p:spPr>
              <a:xfrm>
                <a:off x="935967" y="7882933"/>
                <a:ext cx="15983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Transforming</a:t>
                </a: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dealer to true EV advocates</a:t>
                </a:r>
              </a:p>
            </p:txBody>
          </p:sp>
        </p:grpSp>
        <p:pic>
          <p:nvPicPr>
            <p:cNvPr id="106" name="Graphic 105" descr="Teacher with solid fill">
              <a:extLst>
                <a:ext uri="{FF2B5EF4-FFF2-40B4-BE49-F238E27FC236}">
                  <a16:creationId xmlns:a16="http://schemas.microsoft.com/office/drawing/2014/main" id="{CF486FF0-C77C-4C4D-9B83-E628CA67AA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rcRect/>
            <a:stretch/>
          </p:blipFill>
          <p:spPr>
            <a:xfrm>
              <a:off x="9716775" y="4072699"/>
              <a:ext cx="380996" cy="380996"/>
            </a:xfrm>
            <a:prstGeom prst="rect">
              <a:avLst/>
            </a:prstGeom>
          </p:spPr>
        </p:pic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9B8BBE14-8A48-4E2F-870E-BE7384642FE0}"/>
                </a:ext>
              </a:extLst>
            </p:cNvPr>
            <p:cNvSpPr txBox="1"/>
            <p:nvPr/>
          </p:nvSpPr>
          <p:spPr>
            <a:xfrm rot="16200000">
              <a:off x="8098248" y="1751493"/>
              <a:ext cx="2515024" cy="230832"/>
            </a:xfrm>
            <a:prstGeom prst="rect">
              <a:avLst/>
            </a:prstGeom>
            <a:solidFill>
              <a:srgbClr val="4F0077"/>
            </a:solidFill>
            <a:ln>
              <a:noFill/>
              <a:prstDash val="solid"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sz="9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Battery Hiccups &amp; Range anxiety solution</a:t>
              </a:r>
            </a:p>
          </p:txBody>
        </p:sp>
        <p:pic>
          <p:nvPicPr>
            <p:cNvPr id="109" name="Graphic 108" descr="Factory with solid fill">
              <a:extLst>
                <a:ext uri="{FF2B5EF4-FFF2-40B4-BE49-F238E27FC236}">
                  <a16:creationId xmlns:a16="http://schemas.microsoft.com/office/drawing/2014/main" id="{BA430E25-66C5-41AF-9E97-16396340271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rcRect/>
            <a:stretch/>
          </p:blipFill>
          <p:spPr>
            <a:xfrm>
              <a:off x="9719395" y="2635680"/>
              <a:ext cx="430887" cy="430887"/>
            </a:xfrm>
            <a:prstGeom prst="rect">
              <a:avLst/>
            </a:prstGeom>
          </p:spPr>
        </p:pic>
        <p:sp>
          <p:nvSpPr>
            <p:cNvPr id="110" name="Rectangle: Rounded Corners 109">
              <a:extLst>
                <a:ext uri="{FF2B5EF4-FFF2-40B4-BE49-F238E27FC236}">
                  <a16:creationId xmlns:a16="http://schemas.microsoft.com/office/drawing/2014/main" id="{DC877AC7-49E3-4A6D-A08B-907B29ECFF4A}"/>
                </a:ext>
              </a:extLst>
            </p:cNvPr>
            <p:cNvSpPr/>
            <p:nvPr/>
          </p:nvSpPr>
          <p:spPr>
            <a:xfrm>
              <a:off x="9582356" y="2583979"/>
              <a:ext cx="2483231" cy="525223"/>
            </a:xfrm>
            <a:prstGeom prst="roundRect">
              <a:avLst>
                <a:gd name="adj" fmla="val 8375"/>
              </a:avLst>
            </a:prstGeom>
            <a:noFill/>
            <a:ln>
              <a:solidFill>
                <a:srgbClr val="4A007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82612C95-D4F2-48D3-B447-CA8B34BC209A}"/>
                </a:ext>
              </a:extLst>
            </p:cNvPr>
            <p:cNvSpPr txBox="1"/>
            <p:nvPr/>
          </p:nvSpPr>
          <p:spPr>
            <a:xfrm>
              <a:off x="9869713" y="2615757"/>
              <a:ext cx="216165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Inhouse Battery </a:t>
              </a:r>
            </a:p>
            <a:p>
              <a:pPr algn="ctr"/>
              <a:r>
                <a:rPr lang="en-IN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Manufacturing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09143522-EBA2-4CFC-B099-C29163F9160B}"/>
                </a:ext>
              </a:extLst>
            </p:cNvPr>
            <p:cNvSpPr txBox="1"/>
            <p:nvPr/>
          </p:nvSpPr>
          <p:spPr>
            <a:xfrm>
              <a:off x="451943" y="33356"/>
              <a:ext cx="100297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>
                  <a:solidFill>
                    <a:srgbClr val="470D64"/>
                  </a:solidFill>
                  <a:latin typeface="Georgia" panose="02040502050405020303" pitchFamily="18" charset="0"/>
                </a:rPr>
                <a:t>Diversified product portfolio for Indian consumers &amp; proposed solution for identified issues  </a:t>
              </a:r>
            </a:p>
          </p:txBody>
        </p: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B446D00E-565D-439F-96A5-B8379912DBEA}"/>
                </a:ext>
              </a:extLst>
            </p:cNvPr>
            <p:cNvCxnSpPr/>
            <p:nvPr/>
          </p:nvCxnSpPr>
          <p:spPr>
            <a:xfrm>
              <a:off x="0" y="401379"/>
              <a:ext cx="12192000" cy="0"/>
            </a:xfrm>
            <a:prstGeom prst="line">
              <a:avLst/>
            </a:prstGeom>
            <a:ln>
              <a:solidFill>
                <a:srgbClr val="470D6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4" name="Picture 2" descr="Accenture | Let there be change">
              <a:extLst>
                <a:ext uri="{FF2B5EF4-FFF2-40B4-BE49-F238E27FC236}">
                  <a16:creationId xmlns:a16="http://schemas.microsoft.com/office/drawing/2014/main" id="{EC0E5F6F-13B6-4B4C-817D-9A7B312EA0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422" y="50969"/>
              <a:ext cx="313031" cy="320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C3A40A79-65DF-4A60-99C8-8E63C1EF0BFD}"/>
                </a:ext>
              </a:extLst>
            </p:cNvPr>
            <p:cNvSpPr txBox="1"/>
            <p:nvPr/>
          </p:nvSpPr>
          <p:spPr>
            <a:xfrm rot="16200000">
              <a:off x="8785696" y="3811806"/>
              <a:ext cx="1177261" cy="230832"/>
            </a:xfrm>
            <a:prstGeom prst="rect">
              <a:avLst/>
            </a:prstGeom>
            <a:solidFill>
              <a:srgbClr val="4F0077"/>
            </a:solidFill>
            <a:ln>
              <a:noFill/>
              <a:prstDash val="solid"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sz="9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Service anxiety</a:t>
              </a:r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4C8D1C51-EDD0-42C0-8D92-615E10DA2BA7}"/>
                </a:ext>
              </a:extLst>
            </p:cNvPr>
            <p:cNvGrpSpPr/>
            <p:nvPr/>
          </p:nvGrpSpPr>
          <p:grpSpPr>
            <a:xfrm>
              <a:off x="0" y="6478216"/>
              <a:ext cx="12073411" cy="316618"/>
              <a:chOff x="0" y="6478216"/>
              <a:chExt cx="12073411" cy="316618"/>
            </a:xfrm>
          </p:grpSpPr>
          <p:grpSp>
            <p:nvGrpSpPr>
              <p:cNvPr id="117" name="Group 116">
                <a:extLst>
                  <a:ext uri="{FF2B5EF4-FFF2-40B4-BE49-F238E27FC236}">
                    <a16:creationId xmlns:a16="http://schemas.microsoft.com/office/drawing/2014/main" id="{5DBE9CD0-AA7F-4790-9196-F48AABF17BC5}"/>
                  </a:ext>
                </a:extLst>
              </p:cNvPr>
              <p:cNvGrpSpPr/>
              <p:nvPr/>
            </p:nvGrpSpPr>
            <p:grpSpPr>
              <a:xfrm>
                <a:off x="0" y="6478216"/>
                <a:ext cx="2624654" cy="316618"/>
                <a:chOff x="2949" y="0"/>
                <a:chExt cx="2624654" cy="316618"/>
              </a:xfrm>
              <a:solidFill>
                <a:srgbClr val="4F0077"/>
              </a:solidFill>
            </p:grpSpPr>
            <p:sp>
              <p:nvSpPr>
                <p:cNvPr id="128" name="Arrow: Chevron 127">
                  <a:extLst>
                    <a:ext uri="{FF2B5EF4-FFF2-40B4-BE49-F238E27FC236}">
                      <a16:creationId xmlns:a16="http://schemas.microsoft.com/office/drawing/2014/main" id="{82E97DCD-8E86-4EA2-B53B-9B797E4C1BC7}"/>
                    </a:ext>
                  </a:extLst>
                </p:cNvPr>
                <p:cNvSpPr/>
                <p:nvPr/>
              </p:nvSpPr>
              <p:spPr>
                <a:xfrm>
                  <a:off x="2949" y="0"/>
                  <a:ext cx="2624654" cy="316618"/>
                </a:xfrm>
                <a:prstGeom prst="chevron">
                  <a:avLst/>
                </a:prstGeom>
                <a:grpFill/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29" name="Arrow: Chevron 4">
                  <a:extLst>
                    <a:ext uri="{FF2B5EF4-FFF2-40B4-BE49-F238E27FC236}">
                      <a16:creationId xmlns:a16="http://schemas.microsoft.com/office/drawing/2014/main" id="{66C8E7DB-E7D5-43D6-8641-6D18F27FCCF9}"/>
                    </a:ext>
                  </a:extLst>
                </p:cNvPr>
                <p:cNvSpPr txBox="1"/>
                <p:nvPr/>
              </p:nvSpPr>
              <p:spPr>
                <a:xfrm>
                  <a:off x="161258" y="0"/>
                  <a:ext cx="2308036" cy="316618"/>
                </a:xfrm>
                <a:prstGeom prst="rect">
                  <a:avLst/>
                </a:prstGeom>
                <a:noFill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56007" tIns="18669" rIns="18669" bIns="18669" numCol="1" spcCol="1270" anchor="ctr" anchorCtr="0">
                  <a:noAutofit/>
                </a:bodyPr>
                <a:lstStyle/>
                <a:p>
                  <a:pPr marL="0" lvl="0" indent="0"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IN" sz="1400" b="1" kern="12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Industry </a:t>
                  </a:r>
                  <a:r>
                    <a:rPr lang="en-IN" sz="14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&amp; Pain points</a:t>
                  </a:r>
                  <a:endParaRPr lang="en-IN" sz="1400" b="1" kern="12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18" name="Arrow: Chevron 117">
                <a:extLst>
                  <a:ext uri="{FF2B5EF4-FFF2-40B4-BE49-F238E27FC236}">
                    <a16:creationId xmlns:a16="http://schemas.microsoft.com/office/drawing/2014/main" id="{4D8C1945-C82E-41B4-9674-2A5BD089BFC6}"/>
                  </a:ext>
                </a:extLst>
              </p:cNvPr>
              <p:cNvSpPr/>
              <p:nvPr/>
            </p:nvSpPr>
            <p:spPr>
              <a:xfrm>
                <a:off x="2362189" y="6478216"/>
                <a:ext cx="2624654" cy="316618"/>
              </a:xfrm>
              <a:prstGeom prst="chevron">
                <a:avLst/>
              </a:prstGeom>
              <a:solidFill>
                <a:srgbClr val="4A0073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Market Opportunity</a:t>
                </a:r>
                <a:endParaRPr lang="en-IN" sz="14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B9DED1D7-4094-4882-8C77-19172960390B}"/>
                  </a:ext>
                </a:extLst>
              </p:cNvPr>
              <p:cNvGrpSpPr/>
              <p:nvPr/>
            </p:nvGrpSpPr>
            <p:grpSpPr>
              <a:xfrm>
                <a:off x="4724378" y="6478216"/>
                <a:ext cx="2624654" cy="316618"/>
                <a:chOff x="4727327" y="0"/>
                <a:chExt cx="2624654" cy="316618"/>
              </a:xfrm>
            </p:grpSpPr>
            <p:sp>
              <p:nvSpPr>
                <p:cNvPr id="126" name="Arrow: Chevron 125">
                  <a:extLst>
                    <a:ext uri="{FF2B5EF4-FFF2-40B4-BE49-F238E27FC236}">
                      <a16:creationId xmlns:a16="http://schemas.microsoft.com/office/drawing/2014/main" id="{85A5ABBF-69D2-4188-AAEC-4DFDE404A518}"/>
                    </a:ext>
                  </a:extLst>
                </p:cNvPr>
                <p:cNvSpPr/>
                <p:nvPr/>
              </p:nvSpPr>
              <p:spPr>
                <a:xfrm>
                  <a:off x="4727327" y="0"/>
                  <a:ext cx="2624654" cy="316618"/>
                </a:xfrm>
                <a:prstGeom prst="chevron">
                  <a:avLst/>
                </a:prstGeom>
                <a:solidFill>
                  <a:srgbClr val="923F5D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27" name="Arrow: Chevron 8">
                  <a:extLst>
                    <a:ext uri="{FF2B5EF4-FFF2-40B4-BE49-F238E27FC236}">
                      <a16:creationId xmlns:a16="http://schemas.microsoft.com/office/drawing/2014/main" id="{41481F4F-2C1A-4CDF-9951-3B9C605E8D4E}"/>
                    </a:ext>
                  </a:extLst>
                </p:cNvPr>
                <p:cNvSpPr txBox="1"/>
                <p:nvPr/>
              </p:nvSpPr>
              <p:spPr>
                <a:xfrm>
                  <a:off x="4885636" y="0"/>
                  <a:ext cx="2308036" cy="316618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48006" tIns="16002" rIns="16002" bIns="16002" numCol="1" spcCol="1270" anchor="ctr" anchorCtr="0">
                  <a:noAutofit/>
                </a:bodyPr>
                <a:lstStyle/>
                <a:p>
                  <a:pPr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14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GTM Strategy</a:t>
                  </a:r>
                  <a:endParaRPr lang="en-IN" sz="1400" b="1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1EA4CE9C-E45E-4A97-8B9F-8D99D768AFE4}"/>
                  </a:ext>
                </a:extLst>
              </p:cNvPr>
              <p:cNvGrpSpPr/>
              <p:nvPr/>
            </p:nvGrpSpPr>
            <p:grpSpPr>
              <a:xfrm>
                <a:off x="7086567" y="6478216"/>
                <a:ext cx="2624654" cy="316618"/>
                <a:chOff x="7089516" y="0"/>
                <a:chExt cx="2624654" cy="316618"/>
              </a:xfrm>
            </p:grpSpPr>
            <p:sp>
              <p:nvSpPr>
                <p:cNvPr id="124" name="Arrow: Chevron 123">
                  <a:extLst>
                    <a:ext uri="{FF2B5EF4-FFF2-40B4-BE49-F238E27FC236}">
                      <a16:creationId xmlns:a16="http://schemas.microsoft.com/office/drawing/2014/main" id="{CEA18356-8CBE-4C62-8E79-D18148C24108}"/>
                    </a:ext>
                  </a:extLst>
                </p:cNvPr>
                <p:cNvSpPr/>
                <p:nvPr/>
              </p:nvSpPr>
              <p:spPr>
                <a:xfrm>
                  <a:off x="7089516" y="0"/>
                  <a:ext cx="2624654" cy="316618"/>
                </a:xfrm>
                <a:prstGeom prst="chevron">
                  <a:avLst/>
                </a:prstGeom>
                <a:solidFill>
                  <a:srgbClr val="4F0077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25" name="Arrow: Chevron 10">
                  <a:extLst>
                    <a:ext uri="{FF2B5EF4-FFF2-40B4-BE49-F238E27FC236}">
                      <a16:creationId xmlns:a16="http://schemas.microsoft.com/office/drawing/2014/main" id="{313D1510-B7D8-41AD-AA88-0EB0CA1396DA}"/>
                    </a:ext>
                  </a:extLst>
                </p:cNvPr>
                <p:cNvSpPr txBox="1"/>
                <p:nvPr/>
              </p:nvSpPr>
              <p:spPr>
                <a:xfrm>
                  <a:off x="7247825" y="0"/>
                  <a:ext cx="2308036" cy="316618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48006" tIns="16002" rIns="16002" bIns="16002" numCol="1" spcCol="1270" anchor="ctr" anchorCtr="0">
                  <a:noAutofit/>
                </a:bodyPr>
                <a:lstStyle/>
                <a:p>
                  <a:pPr marL="0" lvl="0" indent="0" algn="ctr" defTabSz="5334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4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Distribution &amp; Marketing</a:t>
                  </a:r>
                  <a:endParaRPr lang="en-IN" sz="1400" b="1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45611DF1-DB5B-480B-947C-35D6B881FF86}"/>
                  </a:ext>
                </a:extLst>
              </p:cNvPr>
              <p:cNvGrpSpPr/>
              <p:nvPr/>
            </p:nvGrpSpPr>
            <p:grpSpPr>
              <a:xfrm>
                <a:off x="9448757" y="6478216"/>
                <a:ext cx="2624654" cy="316618"/>
                <a:chOff x="9451706" y="0"/>
                <a:chExt cx="2624654" cy="316618"/>
              </a:xfrm>
            </p:grpSpPr>
            <p:sp>
              <p:nvSpPr>
                <p:cNvPr id="122" name="Arrow: Chevron 121">
                  <a:extLst>
                    <a:ext uri="{FF2B5EF4-FFF2-40B4-BE49-F238E27FC236}">
                      <a16:creationId xmlns:a16="http://schemas.microsoft.com/office/drawing/2014/main" id="{41B3BDA7-B111-4D2B-8F10-976456E05A2C}"/>
                    </a:ext>
                  </a:extLst>
                </p:cNvPr>
                <p:cNvSpPr/>
                <p:nvPr/>
              </p:nvSpPr>
              <p:spPr>
                <a:xfrm>
                  <a:off x="9451706" y="0"/>
                  <a:ext cx="2624654" cy="316618"/>
                </a:xfrm>
                <a:prstGeom prst="chevron">
                  <a:avLst/>
                </a:prstGeom>
                <a:solidFill>
                  <a:srgbClr val="4F0077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23" name="Arrow: Chevron 12">
                  <a:extLst>
                    <a:ext uri="{FF2B5EF4-FFF2-40B4-BE49-F238E27FC236}">
                      <a16:creationId xmlns:a16="http://schemas.microsoft.com/office/drawing/2014/main" id="{984265C0-EF40-47B8-888B-D15A94D15634}"/>
                    </a:ext>
                  </a:extLst>
                </p:cNvPr>
                <p:cNvSpPr txBox="1"/>
                <p:nvPr/>
              </p:nvSpPr>
              <p:spPr>
                <a:xfrm>
                  <a:off x="9610015" y="0"/>
                  <a:ext cx="2308036" cy="316618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48006" tIns="16002" rIns="16002" bIns="16002" numCol="1" spcCol="1270" anchor="ctr" anchorCtr="0">
                  <a:noAutofit/>
                </a:bodyPr>
                <a:lstStyle/>
                <a:p>
                  <a:pPr marL="0" lvl="0" indent="0" algn="ctr" defTabSz="5334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IN" sz="14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Touchpoints &amp; KPIs</a:t>
                  </a:r>
                </a:p>
              </p:txBody>
            </p:sp>
          </p:grpSp>
        </p:grp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2D2C099E-0FAD-41EF-8C11-CA59F43A1627}"/>
                </a:ext>
              </a:extLst>
            </p:cNvPr>
            <p:cNvSpPr/>
            <p:nvPr/>
          </p:nvSpPr>
          <p:spPr>
            <a:xfrm>
              <a:off x="-304158" y="2565356"/>
              <a:ext cx="1247578" cy="2657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1500"/>
                </a:lnSpc>
              </a:pPr>
              <a:r>
                <a:rPr lang="en-IN" sz="1000" b="1" dirty="0">
                  <a:solidFill>
                    <a:srgbClr val="4F00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Price</a:t>
              </a:r>
              <a:endParaRPr lang="en-US" sz="1000" b="1" dirty="0">
                <a:solidFill>
                  <a:srgbClr val="4F007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450AEB69-5CAE-4305-AF9C-74AB43241D90}"/>
                </a:ext>
              </a:extLst>
            </p:cNvPr>
            <p:cNvSpPr/>
            <p:nvPr/>
          </p:nvSpPr>
          <p:spPr>
            <a:xfrm>
              <a:off x="-263769" y="1939386"/>
              <a:ext cx="1247578" cy="2657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1500"/>
                </a:lnSpc>
              </a:pPr>
              <a:r>
                <a:rPr lang="en-IN" sz="1000" b="1" dirty="0">
                  <a:solidFill>
                    <a:srgbClr val="4F00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Range</a:t>
              </a:r>
              <a:endParaRPr lang="en-US" sz="1000" b="1" dirty="0">
                <a:solidFill>
                  <a:srgbClr val="4F007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43B91CAF-4591-46B7-B027-573C965C2E1C}"/>
                </a:ext>
              </a:extLst>
            </p:cNvPr>
            <p:cNvSpPr/>
            <p:nvPr/>
          </p:nvSpPr>
          <p:spPr>
            <a:xfrm>
              <a:off x="-269124" y="1349037"/>
              <a:ext cx="1247578" cy="26577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1500"/>
                </a:lnSpc>
              </a:pPr>
              <a:r>
                <a:rPr lang="en-IN" sz="1000" b="1" dirty="0">
                  <a:solidFill>
                    <a:srgbClr val="4F0077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Speed</a:t>
              </a:r>
              <a:endParaRPr lang="en-US" sz="1000" b="1" dirty="0">
                <a:solidFill>
                  <a:srgbClr val="4F0077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68BF8A9-8606-4C4D-9513-6D605D88769A}"/>
                </a:ext>
              </a:extLst>
            </p:cNvPr>
            <p:cNvSpPr txBox="1"/>
            <p:nvPr/>
          </p:nvSpPr>
          <p:spPr>
            <a:xfrm rot="16200000">
              <a:off x="8529458" y="5392265"/>
              <a:ext cx="1699035" cy="230832"/>
            </a:xfrm>
            <a:prstGeom prst="rect">
              <a:avLst/>
            </a:prstGeom>
            <a:solidFill>
              <a:srgbClr val="4F0077"/>
            </a:solidFill>
            <a:ln>
              <a:noFill/>
              <a:prstDash val="solid"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IN" sz="900" b="1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New Age technology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99648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E92DAF4-5BF2-427A-90E0-0C8785819EFD}"/>
              </a:ext>
            </a:extLst>
          </p:cNvPr>
          <p:cNvGrpSpPr/>
          <p:nvPr/>
        </p:nvGrpSpPr>
        <p:grpSpPr>
          <a:xfrm>
            <a:off x="-13479" y="22325"/>
            <a:ext cx="12205479" cy="6772509"/>
            <a:chOff x="-13479" y="22325"/>
            <a:chExt cx="12205479" cy="6772509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74E4C43-1CB8-48BC-A2D3-96DC9FF9683E}"/>
                </a:ext>
              </a:extLst>
            </p:cNvPr>
            <p:cNvSpPr txBox="1"/>
            <p:nvPr/>
          </p:nvSpPr>
          <p:spPr>
            <a:xfrm>
              <a:off x="458120" y="22325"/>
              <a:ext cx="100297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>
                  <a:solidFill>
                    <a:srgbClr val="470D64"/>
                  </a:solidFill>
                  <a:latin typeface="Georgia" panose="02040502050405020303" pitchFamily="18" charset="0"/>
                </a:rPr>
                <a:t>Distribution Channels and Creating Customer Awareness</a:t>
              </a:r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8E842A8-1F25-45D6-A86D-27ACED5CDCBD}"/>
                </a:ext>
              </a:extLst>
            </p:cNvPr>
            <p:cNvCxnSpPr/>
            <p:nvPr/>
          </p:nvCxnSpPr>
          <p:spPr>
            <a:xfrm>
              <a:off x="0" y="401379"/>
              <a:ext cx="12192000" cy="0"/>
            </a:xfrm>
            <a:prstGeom prst="line">
              <a:avLst/>
            </a:prstGeom>
            <a:ln>
              <a:solidFill>
                <a:srgbClr val="470D6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2" name="Picture 2" descr="Accenture | Let there be change">
              <a:extLst>
                <a:ext uri="{FF2B5EF4-FFF2-40B4-BE49-F238E27FC236}">
                  <a16:creationId xmlns:a16="http://schemas.microsoft.com/office/drawing/2014/main" id="{CF466C0D-3A63-44A8-AA99-6EBF0F37EE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422" y="50969"/>
              <a:ext cx="313031" cy="320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D4881A1-71BC-4D20-8E97-F91FBBE31905}"/>
                </a:ext>
              </a:extLst>
            </p:cNvPr>
            <p:cNvSpPr txBox="1"/>
            <p:nvPr/>
          </p:nvSpPr>
          <p:spPr>
            <a:xfrm>
              <a:off x="-13479" y="4082293"/>
              <a:ext cx="2907881" cy="292388"/>
            </a:xfrm>
            <a:prstGeom prst="rect">
              <a:avLst/>
            </a:prstGeom>
            <a:noFill/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300" b="1" u="sng" dirty="0">
                  <a:solidFill>
                    <a:srgbClr val="470D64"/>
                  </a:solidFill>
                  <a:latin typeface="Georgia" panose="02040502050405020303" pitchFamily="18" charset="0"/>
                </a:rPr>
                <a:t>Direct Sales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FB75864-C4EB-4200-A699-15E2FA953FFB}"/>
                </a:ext>
              </a:extLst>
            </p:cNvPr>
            <p:cNvSpPr txBox="1"/>
            <p:nvPr/>
          </p:nvSpPr>
          <p:spPr>
            <a:xfrm>
              <a:off x="3189961" y="4084959"/>
              <a:ext cx="2907881" cy="292388"/>
            </a:xfrm>
            <a:prstGeom prst="rect">
              <a:avLst/>
            </a:prstGeom>
            <a:noFill/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300" b="1" u="sng" dirty="0">
                  <a:solidFill>
                    <a:srgbClr val="470D64"/>
                  </a:solidFill>
                  <a:latin typeface="Georgia" panose="02040502050405020303" pitchFamily="18" charset="0"/>
                </a:rPr>
                <a:t>Indirect Sales</a:t>
              </a: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6E358BAE-9C5D-4BF7-8FD3-0BCE391364A9}"/>
                </a:ext>
              </a:extLst>
            </p:cNvPr>
            <p:cNvSpPr txBox="1"/>
            <p:nvPr/>
          </p:nvSpPr>
          <p:spPr>
            <a:xfrm>
              <a:off x="339723" y="4495005"/>
              <a:ext cx="2850238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Onus comes on </a:t>
              </a:r>
              <a:r>
                <a:rPr lang="en-IN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OEM</a:t>
              </a:r>
              <a:r>
                <a:rPr lang="en-IN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’s Salesforce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Higher </a:t>
              </a:r>
              <a:r>
                <a:rPr lang="en-IN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Customer Satisfaction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Fixed</a:t>
              </a:r>
              <a:r>
                <a:rPr lang="en-IN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prices without dealer markups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Higher Service Standards 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Brand Value &amp; Image</a:t>
              </a:r>
              <a:r>
                <a:rPr lang="en-IN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are maintained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00AF39E6-1F7C-48A8-AEEB-298647875385}"/>
                </a:ext>
              </a:extLst>
            </p:cNvPr>
            <p:cNvSpPr txBox="1"/>
            <p:nvPr/>
          </p:nvSpPr>
          <p:spPr>
            <a:xfrm>
              <a:off x="3134930" y="4507027"/>
              <a:ext cx="2850238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ABC has network of 700 primary dealers and 4000 secondary sub- dealers. </a:t>
              </a:r>
              <a:r>
                <a:rPr lang="en-IN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We can’t alienate them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IN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Onus of </a:t>
              </a:r>
              <a:r>
                <a:rPr lang="en-IN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Warranty and Recall </a:t>
              </a:r>
              <a:r>
                <a:rPr lang="en-IN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work on Dealers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Development of </a:t>
              </a:r>
              <a:r>
                <a:rPr lang="en-US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secondary market</a:t>
              </a:r>
              <a:r>
                <a:rPr 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which maximizes value for consumer</a:t>
              </a:r>
              <a:endParaRPr lang="en-IN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50C35BB-FE33-49EE-B2C4-DFECFAB9D211}"/>
                </a:ext>
              </a:extLst>
            </p:cNvPr>
            <p:cNvGrpSpPr/>
            <p:nvPr/>
          </p:nvGrpSpPr>
          <p:grpSpPr>
            <a:xfrm>
              <a:off x="6562218" y="572859"/>
              <a:ext cx="5425207" cy="5838866"/>
              <a:chOff x="6432295" y="572859"/>
              <a:chExt cx="5425207" cy="5838866"/>
            </a:xfrm>
          </p:grpSpPr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77B37ECF-824F-4B44-8348-E57137256760}"/>
                  </a:ext>
                </a:extLst>
              </p:cNvPr>
              <p:cNvSpPr txBox="1"/>
              <p:nvPr/>
            </p:nvSpPr>
            <p:spPr>
              <a:xfrm>
                <a:off x="9009607" y="3545862"/>
                <a:ext cx="253534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Consumers</a:t>
                </a: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–Technology and Sustainability Enthusiasts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Influencers</a:t>
                </a: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- Review Channels,</a:t>
                </a:r>
              </a:p>
              <a:p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Youth, Environmentalists</a:t>
                </a:r>
              </a:p>
            </p:txBody>
          </p:sp>
          <p:sp>
            <p:nvSpPr>
              <p:cNvPr id="89" name="Shape 240">
                <a:extLst>
                  <a:ext uri="{FF2B5EF4-FFF2-40B4-BE49-F238E27FC236}">
                    <a16:creationId xmlns:a16="http://schemas.microsoft.com/office/drawing/2014/main" id="{A2D15AF7-04AA-48F3-B736-7809193E57E3}"/>
                  </a:ext>
                </a:extLst>
              </p:cNvPr>
              <p:cNvSpPr/>
              <p:nvPr/>
            </p:nvSpPr>
            <p:spPr>
              <a:xfrm>
                <a:off x="8098823" y="2778330"/>
                <a:ext cx="502163" cy="328454"/>
              </a:xfrm>
              <a:custGeom>
                <a:avLst/>
                <a:gdLst/>
                <a:ahLst/>
                <a:cxnLst/>
                <a:rect l="0" t="0" r="0" b="0"/>
                <a:pathLst>
                  <a:path w="3496" h="2287" extrusionOk="0">
                    <a:moveTo>
                      <a:pt x="2772" y="1708"/>
                    </a:moveTo>
                    <a:lnTo>
                      <a:pt x="2734" y="1711"/>
                    </a:lnTo>
                    <a:lnTo>
                      <a:pt x="2699" y="1721"/>
                    </a:lnTo>
                    <a:lnTo>
                      <a:pt x="2666" y="1735"/>
                    </a:lnTo>
                    <a:lnTo>
                      <a:pt x="2638" y="1757"/>
                    </a:lnTo>
                    <a:lnTo>
                      <a:pt x="2611" y="1781"/>
                    </a:lnTo>
                    <a:lnTo>
                      <a:pt x="2591" y="1810"/>
                    </a:lnTo>
                    <a:lnTo>
                      <a:pt x="2574" y="1842"/>
                    </a:lnTo>
                    <a:lnTo>
                      <a:pt x="2563" y="1877"/>
                    </a:lnTo>
                    <a:lnTo>
                      <a:pt x="2559" y="1914"/>
                    </a:lnTo>
                    <a:lnTo>
                      <a:pt x="2561" y="1948"/>
                    </a:lnTo>
                    <a:lnTo>
                      <a:pt x="2569" y="1980"/>
                    </a:lnTo>
                    <a:lnTo>
                      <a:pt x="2580" y="2010"/>
                    </a:lnTo>
                    <a:lnTo>
                      <a:pt x="2596" y="2036"/>
                    </a:lnTo>
                    <a:lnTo>
                      <a:pt x="2616" y="2061"/>
                    </a:lnTo>
                    <a:lnTo>
                      <a:pt x="2640" y="2081"/>
                    </a:lnTo>
                    <a:lnTo>
                      <a:pt x="2666" y="2098"/>
                    </a:lnTo>
                    <a:lnTo>
                      <a:pt x="2696" y="2111"/>
                    </a:lnTo>
                    <a:lnTo>
                      <a:pt x="2727" y="2118"/>
                    </a:lnTo>
                    <a:lnTo>
                      <a:pt x="2761" y="2121"/>
                    </a:lnTo>
                    <a:lnTo>
                      <a:pt x="2798" y="2118"/>
                    </a:lnTo>
                    <a:lnTo>
                      <a:pt x="2833" y="2109"/>
                    </a:lnTo>
                    <a:lnTo>
                      <a:pt x="2866" y="2093"/>
                    </a:lnTo>
                    <a:lnTo>
                      <a:pt x="2895" y="2073"/>
                    </a:lnTo>
                    <a:lnTo>
                      <a:pt x="2921" y="2048"/>
                    </a:lnTo>
                    <a:lnTo>
                      <a:pt x="2943" y="2019"/>
                    </a:lnTo>
                    <a:lnTo>
                      <a:pt x="2959" y="1986"/>
                    </a:lnTo>
                    <a:lnTo>
                      <a:pt x="2969" y="1951"/>
                    </a:lnTo>
                    <a:lnTo>
                      <a:pt x="2974" y="1914"/>
                    </a:lnTo>
                    <a:lnTo>
                      <a:pt x="2971" y="1881"/>
                    </a:lnTo>
                    <a:lnTo>
                      <a:pt x="2964" y="1849"/>
                    </a:lnTo>
                    <a:lnTo>
                      <a:pt x="2952" y="1819"/>
                    </a:lnTo>
                    <a:lnTo>
                      <a:pt x="2936" y="1792"/>
                    </a:lnTo>
                    <a:lnTo>
                      <a:pt x="2916" y="1768"/>
                    </a:lnTo>
                    <a:lnTo>
                      <a:pt x="2893" y="1747"/>
                    </a:lnTo>
                    <a:lnTo>
                      <a:pt x="2866" y="1730"/>
                    </a:lnTo>
                    <a:lnTo>
                      <a:pt x="2836" y="1718"/>
                    </a:lnTo>
                    <a:lnTo>
                      <a:pt x="2806" y="1710"/>
                    </a:lnTo>
                    <a:lnTo>
                      <a:pt x="2772" y="1708"/>
                    </a:lnTo>
                    <a:close/>
                    <a:moveTo>
                      <a:pt x="918" y="1708"/>
                    </a:moveTo>
                    <a:lnTo>
                      <a:pt x="881" y="1711"/>
                    </a:lnTo>
                    <a:lnTo>
                      <a:pt x="846" y="1721"/>
                    </a:lnTo>
                    <a:lnTo>
                      <a:pt x="813" y="1735"/>
                    </a:lnTo>
                    <a:lnTo>
                      <a:pt x="783" y="1757"/>
                    </a:lnTo>
                    <a:lnTo>
                      <a:pt x="758" y="1781"/>
                    </a:lnTo>
                    <a:lnTo>
                      <a:pt x="736" y="1810"/>
                    </a:lnTo>
                    <a:lnTo>
                      <a:pt x="721" y="1842"/>
                    </a:lnTo>
                    <a:lnTo>
                      <a:pt x="710" y="1877"/>
                    </a:lnTo>
                    <a:lnTo>
                      <a:pt x="706" y="1914"/>
                    </a:lnTo>
                    <a:lnTo>
                      <a:pt x="708" y="1948"/>
                    </a:lnTo>
                    <a:lnTo>
                      <a:pt x="714" y="1980"/>
                    </a:lnTo>
                    <a:lnTo>
                      <a:pt x="726" y="2010"/>
                    </a:lnTo>
                    <a:lnTo>
                      <a:pt x="743" y="2036"/>
                    </a:lnTo>
                    <a:lnTo>
                      <a:pt x="762" y="2061"/>
                    </a:lnTo>
                    <a:lnTo>
                      <a:pt x="786" y="2081"/>
                    </a:lnTo>
                    <a:lnTo>
                      <a:pt x="813" y="2098"/>
                    </a:lnTo>
                    <a:lnTo>
                      <a:pt x="842" y="2111"/>
                    </a:lnTo>
                    <a:lnTo>
                      <a:pt x="874" y="2118"/>
                    </a:lnTo>
                    <a:lnTo>
                      <a:pt x="908" y="2121"/>
                    </a:lnTo>
                    <a:lnTo>
                      <a:pt x="945" y="2118"/>
                    </a:lnTo>
                    <a:lnTo>
                      <a:pt x="980" y="2109"/>
                    </a:lnTo>
                    <a:lnTo>
                      <a:pt x="1012" y="2093"/>
                    </a:lnTo>
                    <a:lnTo>
                      <a:pt x="1041" y="2073"/>
                    </a:lnTo>
                    <a:lnTo>
                      <a:pt x="1067" y="2048"/>
                    </a:lnTo>
                    <a:lnTo>
                      <a:pt x="1088" y="2019"/>
                    </a:lnTo>
                    <a:lnTo>
                      <a:pt x="1104" y="1986"/>
                    </a:lnTo>
                    <a:lnTo>
                      <a:pt x="1115" y="1951"/>
                    </a:lnTo>
                    <a:lnTo>
                      <a:pt x="1119" y="1914"/>
                    </a:lnTo>
                    <a:lnTo>
                      <a:pt x="1118" y="1881"/>
                    </a:lnTo>
                    <a:lnTo>
                      <a:pt x="1111" y="1849"/>
                    </a:lnTo>
                    <a:lnTo>
                      <a:pt x="1099" y="1819"/>
                    </a:lnTo>
                    <a:lnTo>
                      <a:pt x="1083" y="1792"/>
                    </a:lnTo>
                    <a:lnTo>
                      <a:pt x="1063" y="1768"/>
                    </a:lnTo>
                    <a:lnTo>
                      <a:pt x="1039" y="1747"/>
                    </a:lnTo>
                    <a:lnTo>
                      <a:pt x="1013" y="1730"/>
                    </a:lnTo>
                    <a:lnTo>
                      <a:pt x="983" y="1718"/>
                    </a:lnTo>
                    <a:lnTo>
                      <a:pt x="951" y="1710"/>
                    </a:lnTo>
                    <a:lnTo>
                      <a:pt x="918" y="1708"/>
                    </a:lnTo>
                    <a:close/>
                    <a:moveTo>
                      <a:pt x="2425" y="588"/>
                    </a:moveTo>
                    <a:lnTo>
                      <a:pt x="2321" y="1745"/>
                    </a:lnTo>
                    <a:lnTo>
                      <a:pt x="2321" y="1765"/>
                    </a:lnTo>
                    <a:lnTo>
                      <a:pt x="2327" y="1784"/>
                    </a:lnTo>
                    <a:lnTo>
                      <a:pt x="2338" y="1800"/>
                    </a:lnTo>
                    <a:lnTo>
                      <a:pt x="2353" y="1812"/>
                    </a:lnTo>
                    <a:lnTo>
                      <a:pt x="2371" y="1819"/>
                    </a:lnTo>
                    <a:lnTo>
                      <a:pt x="2391" y="1823"/>
                    </a:lnTo>
                    <a:lnTo>
                      <a:pt x="2408" y="1823"/>
                    </a:lnTo>
                    <a:lnTo>
                      <a:pt x="2423" y="1779"/>
                    </a:lnTo>
                    <a:lnTo>
                      <a:pt x="2442" y="1739"/>
                    </a:lnTo>
                    <a:lnTo>
                      <a:pt x="2467" y="1701"/>
                    </a:lnTo>
                    <a:lnTo>
                      <a:pt x="2494" y="1667"/>
                    </a:lnTo>
                    <a:lnTo>
                      <a:pt x="2526" y="1636"/>
                    </a:lnTo>
                    <a:lnTo>
                      <a:pt x="2562" y="1609"/>
                    </a:lnTo>
                    <a:lnTo>
                      <a:pt x="2600" y="1586"/>
                    </a:lnTo>
                    <a:lnTo>
                      <a:pt x="2641" y="1566"/>
                    </a:lnTo>
                    <a:lnTo>
                      <a:pt x="2684" y="1554"/>
                    </a:lnTo>
                    <a:lnTo>
                      <a:pt x="2729" y="1545"/>
                    </a:lnTo>
                    <a:lnTo>
                      <a:pt x="2776" y="1542"/>
                    </a:lnTo>
                    <a:lnTo>
                      <a:pt x="2823" y="1545"/>
                    </a:lnTo>
                    <a:lnTo>
                      <a:pt x="2867" y="1554"/>
                    </a:lnTo>
                    <a:lnTo>
                      <a:pt x="2910" y="1566"/>
                    </a:lnTo>
                    <a:lnTo>
                      <a:pt x="2950" y="1586"/>
                    </a:lnTo>
                    <a:lnTo>
                      <a:pt x="2986" y="1609"/>
                    </a:lnTo>
                    <a:lnTo>
                      <a:pt x="3020" y="1636"/>
                    </a:lnTo>
                    <a:lnTo>
                      <a:pt x="3051" y="1667"/>
                    </a:lnTo>
                    <a:lnTo>
                      <a:pt x="3078" y="1701"/>
                    </a:lnTo>
                    <a:lnTo>
                      <a:pt x="3099" y="1739"/>
                    </a:lnTo>
                    <a:lnTo>
                      <a:pt x="3117" y="1779"/>
                    </a:lnTo>
                    <a:lnTo>
                      <a:pt x="3130" y="1823"/>
                    </a:lnTo>
                    <a:lnTo>
                      <a:pt x="3185" y="1823"/>
                    </a:lnTo>
                    <a:lnTo>
                      <a:pt x="3208" y="1819"/>
                    </a:lnTo>
                    <a:lnTo>
                      <a:pt x="3231" y="1810"/>
                    </a:lnTo>
                    <a:lnTo>
                      <a:pt x="3250" y="1796"/>
                    </a:lnTo>
                    <a:lnTo>
                      <a:pt x="3265" y="1778"/>
                    </a:lnTo>
                    <a:lnTo>
                      <a:pt x="3275" y="1758"/>
                    </a:lnTo>
                    <a:lnTo>
                      <a:pt x="3281" y="1734"/>
                    </a:lnTo>
                    <a:lnTo>
                      <a:pt x="3323" y="1263"/>
                    </a:lnTo>
                    <a:lnTo>
                      <a:pt x="2858" y="1263"/>
                    </a:lnTo>
                    <a:lnTo>
                      <a:pt x="2825" y="1261"/>
                    </a:lnTo>
                    <a:lnTo>
                      <a:pt x="2793" y="1255"/>
                    </a:lnTo>
                    <a:lnTo>
                      <a:pt x="2762" y="1244"/>
                    </a:lnTo>
                    <a:lnTo>
                      <a:pt x="2734" y="1229"/>
                    </a:lnTo>
                    <a:lnTo>
                      <a:pt x="2709" y="1210"/>
                    </a:lnTo>
                    <a:lnTo>
                      <a:pt x="2686" y="1189"/>
                    </a:lnTo>
                    <a:lnTo>
                      <a:pt x="2665" y="1163"/>
                    </a:lnTo>
                    <a:lnTo>
                      <a:pt x="2649" y="1136"/>
                    </a:lnTo>
                    <a:lnTo>
                      <a:pt x="2637" y="1106"/>
                    </a:lnTo>
                    <a:lnTo>
                      <a:pt x="2629" y="1075"/>
                    </a:lnTo>
                    <a:lnTo>
                      <a:pt x="2626" y="1042"/>
                    </a:lnTo>
                    <a:lnTo>
                      <a:pt x="2626" y="1009"/>
                    </a:lnTo>
                    <a:lnTo>
                      <a:pt x="2664" y="588"/>
                    </a:lnTo>
                    <a:lnTo>
                      <a:pt x="2425" y="588"/>
                    </a:lnTo>
                    <a:close/>
                    <a:moveTo>
                      <a:pt x="501" y="0"/>
                    </a:moveTo>
                    <a:lnTo>
                      <a:pt x="2231" y="0"/>
                    </a:lnTo>
                    <a:lnTo>
                      <a:pt x="2264" y="2"/>
                    </a:lnTo>
                    <a:lnTo>
                      <a:pt x="2295" y="9"/>
                    </a:lnTo>
                    <a:lnTo>
                      <a:pt x="2325" y="19"/>
                    </a:lnTo>
                    <a:lnTo>
                      <a:pt x="2353" y="34"/>
                    </a:lnTo>
                    <a:lnTo>
                      <a:pt x="2379" y="52"/>
                    </a:lnTo>
                    <a:lnTo>
                      <a:pt x="2403" y="74"/>
                    </a:lnTo>
                    <a:lnTo>
                      <a:pt x="2422" y="100"/>
                    </a:lnTo>
                    <a:lnTo>
                      <a:pt x="2439" y="128"/>
                    </a:lnTo>
                    <a:lnTo>
                      <a:pt x="2451" y="157"/>
                    </a:lnTo>
                    <a:lnTo>
                      <a:pt x="2458" y="188"/>
                    </a:lnTo>
                    <a:lnTo>
                      <a:pt x="2462" y="220"/>
                    </a:lnTo>
                    <a:lnTo>
                      <a:pt x="2461" y="254"/>
                    </a:lnTo>
                    <a:lnTo>
                      <a:pt x="2440" y="422"/>
                    </a:lnTo>
                    <a:lnTo>
                      <a:pt x="2997" y="422"/>
                    </a:lnTo>
                    <a:lnTo>
                      <a:pt x="3015" y="424"/>
                    </a:lnTo>
                    <a:lnTo>
                      <a:pt x="3031" y="430"/>
                    </a:lnTo>
                    <a:lnTo>
                      <a:pt x="3046" y="439"/>
                    </a:lnTo>
                    <a:lnTo>
                      <a:pt x="3059" y="451"/>
                    </a:lnTo>
                    <a:lnTo>
                      <a:pt x="3069" y="466"/>
                    </a:lnTo>
                    <a:lnTo>
                      <a:pt x="3395" y="1097"/>
                    </a:lnTo>
                    <a:lnTo>
                      <a:pt x="3417" y="1097"/>
                    </a:lnTo>
                    <a:lnTo>
                      <a:pt x="3438" y="1101"/>
                    </a:lnTo>
                    <a:lnTo>
                      <a:pt x="3457" y="1108"/>
                    </a:lnTo>
                    <a:lnTo>
                      <a:pt x="3473" y="1121"/>
                    </a:lnTo>
                    <a:lnTo>
                      <a:pt x="3486" y="1136"/>
                    </a:lnTo>
                    <a:lnTo>
                      <a:pt x="3493" y="1155"/>
                    </a:lnTo>
                    <a:lnTo>
                      <a:pt x="3496" y="1176"/>
                    </a:lnTo>
                    <a:lnTo>
                      <a:pt x="3496" y="1178"/>
                    </a:lnTo>
                    <a:lnTo>
                      <a:pt x="3496" y="1180"/>
                    </a:lnTo>
                    <a:lnTo>
                      <a:pt x="3496" y="1184"/>
                    </a:lnTo>
                    <a:lnTo>
                      <a:pt x="3496" y="1186"/>
                    </a:lnTo>
                    <a:lnTo>
                      <a:pt x="3446" y="1745"/>
                    </a:lnTo>
                    <a:lnTo>
                      <a:pt x="3439" y="1784"/>
                    </a:lnTo>
                    <a:lnTo>
                      <a:pt x="3426" y="1822"/>
                    </a:lnTo>
                    <a:lnTo>
                      <a:pt x="3409" y="1857"/>
                    </a:lnTo>
                    <a:lnTo>
                      <a:pt x="3386" y="1889"/>
                    </a:lnTo>
                    <a:lnTo>
                      <a:pt x="3359" y="1916"/>
                    </a:lnTo>
                    <a:lnTo>
                      <a:pt x="3328" y="1941"/>
                    </a:lnTo>
                    <a:lnTo>
                      <a:pt x="3296" y="1961"/>
                    </a:lnTo>
                    <a:lnTo>
                      <a:pt x="3258" y="1976"/>
                    </a:lnTo>
                    <a:lnTo>
                      <a:pt x="3221" y="1985"/>
                    </a:lnTo>
                    <a:lnTo>
                      <a:pt x="3181" y="1989"/>
                    </a:lnTo>
                    <a:lnTo>
                      <a:pt x="3130" y="1989"/>
                    </a:lnTo>
                    <a:lnTo>
                      <a:pt x="3116" y="2033"/>
                    </a:lnTo>
                    <a:lnTo>
                      <a:pt x="3098" y="2077"/>
                    </a:lnTo>
                    <a:lnTo>
                      <a:pt x="3073" y="2116"/>
                    </a:lnTo>
                    <a:lnTo>
                      <a:pt x="3046" y="2153"/>
                    </a:lnTo>
                    <a:lnTo>
                      <a:pt x="3014" y="2186"/>
                    </a:lnTo>
                    <a:lnTo>
                      <a:pt x="2978" y="2215"/>
                    </a:lnTo>
                    <a:lnTo>
                      <a:pt x="2938" y="2241"/>
                    </a:lnTo>
                    <a:lnTo>
                      <a:pt x="2896" y="2260"/>
                    </a:lnTo>
                    <a:lnTo>
                      <a:pt x="2851" y="2275"/>
                    </a:lnTo>
                    <a:lnTo>
                      <a:pt x="2805" y="2284"/>
                    </a:lnTo>
                    <a:lnTo>
                      <a:pt x="2757" y="2287"/>
                    </a:lnTo>
                    <a:lnTo>
                      <a:pt x="2708" y="2284"/>
                    </a:lnTo>
                    <a:lnTo>
                      <a:pt x="2662" y="2275"/>
                    </a:lnTo>
                    <a:lnTo>
                      <a:pt x="2619" y="2260"/>
                    </a:lnTo>
                    <a:lnTo>
                      <a:pt x="2577" y="2241"/>
                    </a:lnTo>
                    <a:lnTo>
                      <a:pt x="2539" y="2215"/>
                    </a:lnTo>
                    <a:lnTo>
                      <a:pt x="2505" y="2186"/>
                    </a:lnTo>
                    <a:lnTo>
                      <a:pt x="2474" y="2153"/>
                    </a:lnTo>
                    <a:lnTo>
                      <a:pt x="2449" y="2116"/>
                    </a:lnTo>
                    <a:lnTo>
                      <a:pt x="2426" y="2077"/>
                    </a:lnTo>
                    <a:lnTo>
                      <a:pt x="2410" y="2033"/>
                    </a:lnTo>
                    <a:lnTo>
                      <a:pt x="2400" y="1989"/>
                    </a:lnTo>
                    <a:lnTo>
                      <a:pt x="2387" y="1989"/>
                    </a:lnTo>
                    <a:lnTo>
                      <a:pt x="2350" y="1985"/>
                    </a:lnTo>
                    <a:lnTo>
                      <a:pt x="2315" y="1978"/>
                    </a:lnTo>
                    <a:lnTo>
                      <a:pt x="2283" y="1964"/>
                    </a:lnTo>
                    <a:lnTo>
                      <a:pt x="2252" y="1947"/>
                    </a:lnTo>
                    <a:lnTo>
                      <a:pt x="2225" y="1925"/>
                    </a:lnTo>
                    <a:lnTo>
                      <a:pt x="2196" y="1946"/>
                    </a:lnTo>
                    <a:lnTo>
                      <a:pt x="2164" y="1964"/>
                    </a:lnTo>
                    <a:lnTo>
                      <a:pt x="2129" y="1977"/>
                    </a:lnTo>
                    <a:lnTo>
                      <a:pt x="2093" y="1985"/>
                    </a:lnTo>
                    <a:lnTo>
                      <a:pt x="2055" y="1989"/>
                    </a:lnTo>
                    <a:lnTo>
                      <a:pt x="1275" y="1989"/>
                    </a:lnTo>
                    <a:lnTo>
                      <a:pt x="1263" y="2033"/>
                    </a:lnTo>
                    <a:lnTo>
                      <a:pt x="1243" y="2077"/>
                    </a:lnTo>
                    <a:lnTo>
                      <a:pt x="1220" y="2116"/>
                    </a:lnTo>
                    <a:lnTo>
                      <a:pt x="1192" y="2153"/>
                    </a:lnTo>
                    <a:lnTo>
                      <a:pt x="1159" y="2186"/>
                    </a:lnTo>
                    <a:lnTo>
                      <a:pt x="1124" y="2215"/>
                    </a:lnTo>
                    <a:lnTo>
                      <a:pt x="1085" y="2241"/>
                    </a:lnTo>
                    <a:lnTo>
                      <a:pt x="1043" y="2260"/>
                    </a:lnTo>
                    <a:lnTo>
                      <a:pt x="998" y="2275"/>
                    </a:lnTo>
                    <a:lnTo>
                      <a:pt x="951" y="2284"/>
                    </a:lnTo>
                    <a:lnTo>
                      <a:pt x="902" y="2287"/>
                    </a:lnTo>
                    <a:lnTo>
                      <a:pt x="854" y="2284"/>
                    </a:lnTo>
                    <a:lnTo>
                      <a:pt x="808" y="2275"/>
                    </a:lnTo>
                    <a:lnTo>
                      <a:pt x="764" y="2260"/>
                    </a:lnTo>
                    <a:lnTo>
                      <a:pt x="724" y="2241"/>
                    </a:lnTo>
                    <a:lnTo>
                      <a:pt x="685" y="2215"/>
                    </a:lnTo>
                    <a:lnTo>
                      <a:pt x="651" y="2186"/>
                    </a:lnTo>
                    <a:lnTo>
                      <a:pt x="621" y="2153"/>
                    </a:lnTo>
                    <a:lnTo>
                      <a:pt x="594" y="2116"/>
                    </a:lnTo>
                    <a:lnTo>
                      <a:pt x="573" y="2077"/>
                    </a:lnTo>
                    <a:lnTo>
                      <a:pt x="557" y="2033"/>
                    </a:lnTo>
                    <a:lnTo>
                      <a:pt x="545" y="1989"/>
                    </a:lnTo>
                    <a:lnTo>
                      <a:pt x="482" y="1989"/>
                    </a:lnTo>
                    <a:lnTo>
                      <a:pt x="450" y="1985"/>
                    </a:lnTo>
                    <a:lnTo>
                      <a:pt x="418" y="1979"/>
                    </a:lnTo>
                    <a:lnTo>
                      <a:pt x="388" y="1968"/>
                    </a:lnTo>
                    <a:lnTo>
                      <a:pt x="360" y="1955"/>
                    </a:lnTo>
                    <a:lnTo>
                      <a:pt x="334" y="1935"/>
                    </a:lnTo>
                    <a:lnTo>
                      <a:pt x="310" y="1913"/>
                    </a:lnTo>
                    <a:lnTo>
                      <a:pt x="291" y="1889"/>
                    </a:lnTo>
                    <a:lnTo>
                      <a:pt x="274" y="1861"/>
                    </a:lnTo>
                    <a:lnTo>
                      <a:pt x="262" y="1831"/>
                    </a:lnTo>
                    <a:lnTo>
                      <a:pt x="255" y="1800"/>
                    </a:lnTo>
                    <a:lnTo>
                      <a:pt x="251" y="1767"/>
                    </a:lnTo>
                    <a:lnTo>
                      <a:pt x="252" y="1734"/>
                    </a:lnTo>
                    <a:lnTo>
                      <a:pt x="281" y="1438"/>
                    </a:lnTo>
                    <a:lnTo>
                      <a:pt x="208" y="1438"/>
                    </a:lnTo>
                    <a:lnTo>
                      <a:pt x="186" y="1435"/>
                    </a:lnTo>
                    <a:lnTo>
                      <a:pt x="167" y="1426"/>
                    </a:lnTo>
                    <a:lnTo>
                      <a:pt x="150" y="1413"/>
                    </a:lnTo>
                    <a:lnTo>
                      <a:pt x="137" y="1396"/>
                    </a:lnTo>
                    <a:lnTo>
                      <a:pt x="130" y="1377"/>
                    </a:lnTo>
                    <a:lnTo>
                      <a:pt x="128" y="1355"/>
                    </a:lnTo>
                    <a:lnTo>
                      <a:pt x="131" y="1332"/>
                    </a:lnTo>
                    <a:lnTo>
                      <a:pt x="140" y="1313"/>
                    </a:lnTo>
                    <a:lnTo>
                      <a:pt x="153" y="1296"/>
                    </a:lnTo>
                    <a:lnTo>
                      <a:pt x="170" y="1284"/>
                    </a:lnTo>
                    <a:lnTo>
                      <a:pt x="190" y="1275"/>
                    </a:lnTo>
                    <a:lnTo>
                      <a:pt x="213" y="1272"/>
                    </a:lnTo>
                    <a:lnTo>
                      <a:pt x="297" y="1272"/>
                    </a:lnTo>
                    <a:lnTo>
                      <a:pt x="297" y="1272"/>
                    </a:lnTo>
                    <a:lnTo>
                      <a:pt x="1295" y="1272"/>
                    </a:lnTo>
                    <a:lnTo>
                      <a:pt x="1324" y="1269"/>
                    </a:lnTo>
                    <a:lnTo>
                      <a:pt x="1350" y="1259"/>
                    </a:lnTo>
                    <a:lnTo>
                      <a:pt x="1373" y="1244"/>
                    </a:lnTo>
                    <a:lnTo>
                      <a:pt x="1393" y="1225"/>
                    </a:lnTo>
                    <a:lnTo>
                      <a:pt x="1408" y="1203"/>
                    </a:lnTo>
                    <a:lnTo>
                      <a:pt x="1419" y="1176"/>
                    </a:lnTo>
                    <a:lnTo>
                      <a:pt x="1423" y="1147"/>
                    </a:lnTo>
                    <a:lnTo>
                      <a:pt x="1421" y="1122"/>
                    </a:lnTo>
                    <a:lnTo>
                      <a:pt x="1413" y="1097"/>
                    </a:lnTo>
                    <a:lnTo>
                      <a:pt x="1402" y="1076"/>
                    </a:lnTo>
                    <a:lnTo>
                      <a:pt x="1386" y="1057"/>
                    </a:lnTo>
                    <a:lnTo>
                      <a:pt x="1366" y="1042"/>
                    </a:lnTo>
                    <a:lnTo>
                      <a:pt x="1343" y="1031"/>
                    </a:lnTo>
                    <a:lnTo>
                      <a:pt x="1319" y="1025"/>
                    </a:lnTo>
                    <a:lnTo>
                      <a:pt x="448" y="1025"/>
                    </a:lnTo>
                    <a:lnTo>
                      <a:pt x="426" y="1022"/>
                    </a:lnTo>
                    <a:lnTo>
                      <a:pt x="407" y="1013"/>
                    </a:lnTo>
                    <a:lnTo>
                      <a:pt x="390" y="1001"/>
                    </a:lnTo>
                    <a:lnTo>
                      <a:pt x="377" y="984"/>
                    </a:lnTo>
                    <a:lnTo>
                      <a:pt x="370" y="965"/>
                    </a:lnTo>
                    <a:lnTo>
                      <a:pt x="368" y="942"/>
                    </a:lnTo>
                    <a:lnTo>
                      <a:pt x="371" y="920"/>
                    </a:lnTo>
                    <a:lnTo>
                      <a:pt x="379" y="901"/>
                    </a:lnTo>
                    <a:lnTo>
                      <a:pt x="393" y="884"/>
                    </a:lnTo>
                    <a:lnTo>
                      <a:pt x="410" y="871"/>
                    </a:lnTo>
                    <a:lnTo>
                      <a:pt x="430" y="862"/>
                    </a:lnTo>
                    <a:lnTo>
                      <a:pt x="453" y="859"/>
                    </a:lnTo>
                    <a:lnTo>
                      <a:pt x="1334" y="859"/>
                    </a:lnTo>
                    <a:lnTo>
                      <a:pt x="1361" y="856"/>
                    </a:lnTo>
                    <a:lnTo>
                      <a:pt x="1388" y="846"/>
                    </a:lnTo>
                    <a:lnTo>
                      <a:pt x="1411" y="832"/>
                    </a:lnTo>
                    <a:lnTo>
                      <a:pt x="1430" y="812"/>
                    </a:lnTo>
                    <a:lnTo>
                      <a:pt x="1446" y="789"/>
                    </a:lnTo>
                    <a:lnTo>
                      <a:pt x="1456" y="764"/>
                    </a:lnTo>
                    <a:lnTo>
                      <a:pt x="1460" y="735"/>
                    </a:lnTo>
                    <a:lnTo>
                      <a:pt x="1458" y="709"/>
                    </a:lnTo>
                    <a:lnTo>
                      <a:pt x="1451" y="685"/>
                    </a:lnTo>
                    <a:lnTo>
                      <a:pt x="1439" y="664"/>
                    </a:lnTo>
                    <a:lnTo>
                      <a:pt x="1423" y="645"/>
                    </a:lnTo>
                    <a:lnTo>
                      <a:pt x="1404" y="630"/>
                    </a:lnTo>
                    <a:lnTo>
                      <a:pt x="1383" y="619"/>
                    </a:lnTo>
                    <a:lnTo>
                      <a:pt x="1358" y="613"/>
                    </a:lnTo>
                    <a:lnTo>
                      <a:pt x="80" y="613"/>
                    </a:lnTo>
                    <a:lnTo>
                      <a:pt x="58" y="609"/>
                    </a:lnTo>
                    <a:lnTo>
                      <a:pt x="38" y="601"/>
                    </a:lnTo>
                    <a:lnTo>
                      <a:pt x="22" y="588"/>
                    </a:lnTo>
                    <a:lnTo>
                      <a:pt x="11" y="572"/>
                    </a:lnTo>
                    <a:lnTo>
                      <a:pt x="2" y="552"/>
                    </a:lnTo>
                    <a:lnTo>
                      <a:pt x="0" y="531"/>
                    </a:lnTo>
                    <a:lnTo>
                      <a:pt x="3" y="508"/>
                    </a:lnTo>
                    <a:lnTo>
                      <a:pt x="13" y="489"/>
                    </a:lnTo>
                    <a:lnTo>
                      <a:pt x="26" y="472"/>
                    </a:lnTo>
                    <a:lnTo>
                      <a:pt x="43" y="459"/>
                    </a:lnTo>
                    <a:lnTo>
                      <a:pt x="63" y="451"/>
                    </a:lnTo>
                    <a:lnTo>
                      <a:pt x="84" y="449"/>
                    </a:lnTo>
                    <a:lnTo>
                      <a:pt x="1049" y="449"/>
                    </a:lnTo>
                    <a:lnTo>
                      <a:pt x="1049" y="448"/>
                    </a:lnTo>
                    <a:lnTo>
                      <a:pt x="1378" y="448"/>
                    </a:lnTo>
                    <a:lnTo>
                      <a:pt x="1405" y="444"/>
                    </a:lnTo>
                    <a:lnTo>
                      <a:pt x="1429" y="436"/>
                    </a:lnTo>
                    <a:lnTo>
                      <a:pt x="1451" y="422"/>
                    </a:lnTo>
                    <a:lnTo>
                      <a:pt x="1470" y="404"/>
                    </a:lnTo>
                    <a:lnTo>
                      <a:pt x="1484" y="383"/>
                    </a:lnTo>
                    <a:lnTo>
                      <a:pt x="1493" y="358"/>
                    </a:lnTo>
                    <a:lnTo>
                      <a:pt x="1496" y="332"/>
                    </a:lnTo>
                    <a:lnTo>
                      <a:pt x="1494" y="305"/>
                    </a:lnTo>
                    <a:lnTo>
                      <a:pt x="1487" y="281"/>
                    </a:lnTo>
                    <a:lnTo>
                      <a:pt x="1473" y="259"/>
                    </a:lnTo>
                    <a:lnTo>
                      <a:pt x="1456" y="241"/>
                    </a:lnTo>
                    <a:lnTo>
                      <a:pt x="1435" y="228"/>
                    </a:lnTo>
                    <a:lnTo>
                      <a:pt x="1410" y="219"/>
                    </a:lnTo>
                    <a:lnTo>
                      <a:pt x="1384" y="216"/>
                    </a:lnTo>
                    <a:lnTo>
                      <a:pt x="399" y="216"/>
                    </a:lnTo>
                    <a:lnTo>
                      <a:pt x="416" y="78"/>
                    </a:lnTo>
                    <a:lnTo>
                      <a:pt x="421" y="56"/>
                    </a:lnTo>
                    <a:lnTo>
                      <a:pt x="430" y="38"/>
                    </a:lnTo>
                    <a:lnTo>
                      <a:pt x="443" y="22"/>
                    </a:lnTo>
                    <a:lnTo>
                      <a:pt x="460" y="11"/>
                    </a:lnTo>
                    <a:lnTo>
                      <a:pt x="479" y="3"/>
                    </a:lnTo>
                    <a:lnTo>
                      <a:pt x="50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lIns="91425" tIns="45700" rIns="91425" bIns="45700" anchor="t" anchorCtr="0">
                <a:noAutofit/>
              </a:bodyPr>
              <a:lstStyle/>
              <a:p>
                <a:endParaRPr sz="2400" kern="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  <a:rtl val="0"/>
                </a:endParaRPr>
              </a:p>
            </p:txBody>
          </p:sp>
          <p:grpSp>
            <p:nvGrpSpPr>
              <p:cNvPr id="90" name="Shape 247">
                <a:extLst>
                  <a:ext uri="{FF2B5EF4-FFF2-40B4-BE49-F238E27FC236}">
                    <a16:creationId xmlns:a16="http://schemas.microsoft.com/office/drawing/2014/main" id="{4D084C40-98FA-4E25-B45B-C6AB599FE7E7}"/>
                  </a:ext>
                </a:extLst>
              </p:cNvPr>
              <p:cNvGrpSpPr/>
              <p:nvPr/>
            </p:nvGrpSpPr>
            <p:grpSpPr>
              <a:xfrm>
                <a:off x="6661128" y="3905810"/>
                <a:ext cx="408866" cy="382750"/>
                <a:chOff x="1022350" y="2490788"/>
                <a:chExt cx="1739900" cy="1628775"/>
              </a:xfrm>
            </p:grpSpPr>
            <p:sp>
              <p:nvSpPr>
                <p:cNvPr id="91" name="Shape 248">
                  <a:extLst>
                    <a:ext uri="{FF2B5EF4-FFF2-40B4-BE49-F238E27FC236}">
                      <a16:creationId xmlns:a16="http://schemas.microsoft.com/office/drawing/2014/main" id="{70D83D8A-B273-4F39-8489-128414151203}"/>
                    </a:ext>
                  </a:extLst>
                </p:cNvPr>
                <p:cNvSpPr/>
                <p:nvPr/>
              </p:nvSpPr>
              <p:spPr>
                <a:xfrm>
                  <a:off x="1354137" y="2641600"/>
                  <a:ext cx="209550" cy="58738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27" h="145" extrusionOk="0">
                      <a:moveTo>
                        <a:pt x="72" y="0"/>
                      </a:moveTo>
                      <a:lnTo>
                        <a:pt x="455" y="0"/>
                      </a:lnTo>
                      <a:lnTo>
                        <a:pt x="477" y="4"/>
                      </a:lnTo>
                      <a:lnTo>
                        <a:pt x="497" y="15"/>
                      </a:lnTo>
                      <a:lnTo>
                        <a:pt x="512" y="31"/>
                      </a:lnTo>
                      <a:lnTo>
                        <a:pt x="523" y="50"/>
                      </a:lnTo>
                      <a:lnTo>
                        <a:pt x="527" y="72"/>
                      </a:lnTo>
                      <a:lnTo>
                        <a:pt x="523" y="96"/>
                      </a:lnTo>
                      <a:lnTo>
                        <a:pt x="512" y="115"/>
                      </a:lnTo>
                      <a:lnTo>
                        <a:pt x="497" y="131"/>
                      </a:lnTo>
                      <a:lnTo>
                        <a:pt x="477" y="141"/>
                      </a:lnTo>
                      <a:lnTo>
                        <a:pt x="455" y="145"/>
                      </a:lnTo>
                      <a:lnTo>
                        <a:pt x="72" y="145"/>
                      </a:lnTo>
                      <a:lnTo>
                        <a:pt x="49" y="141"/>
                      </a:lnTo>
                      <a:lnTo>
                        <a:pt x="29" y="131"/>
                      </a:lnTo>
                      <a:lnTo>
                        <a:pt x="13" y="115"/>
                      </a:lnTo>
                      <a:lnTo>
                        <a:pt x="4" y="96"/>
                      </a:lnTo>
                      <a:lnTo>
                        <a:pt x="0" y="72"/>
                      </a:lnTo>
                      <a:lnTo>
                        <a:pt x="4" y="50"/>
                      </a:lnTo>
                      <a:lnTo>
                        <a:pt x="13" y="31"/>
                      </a:lnTo>
                      <a:lnTo>
                        <a:pt x="29" y="15"/>
                      </a:lnTo>
                      <a:lnTo>
                        <a:pt x="49" y="4"/>
                      </a:lnTo>
                      <a:lnTo>
                        <a:pt x="7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lIns="91425" tIns="45700" rIns="91425" bIns="45700" anchor="t" anchorCtr="0">
                  <a:noAutofit/>
                </a:bodyPr>
                <a:lstStyle/>
                <a:p>
                  <a:endParaRPr sz="2400" kern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endParaRPr>
                </a:p>
              </p:txBody>
            </p:sp>
            <p:sp>
              <p:nvSpPr>
                <p:cNvPr id="92" name="Shape 249">
                  <a:extLst>
                    <a:ext uri="{FF2B5EF4-FFF2-40B4-BE49-F238E27FC236}">
                      <a16:creationId xmlns:a16="http://schemas.microsoft.com/office/drawing/2014/main" id="{AB8A6145-C958-4659-9801-689AAA4E0C90}"/>
                    </a:ext>
                  </a:extLst>
                </p:cNvPr>
                <p:cNvSpPr/>
                <p:nvPr/>
              </p:nvSpPr>
              <p:spPr>
                <a:xfrm>
                  <a:off x="1022350" y="2490788"/>
                  <a:ext cx="1739900" cy="1628775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4385" h="4105" extrusionOk="0">
                      <a:moveTo>
                        <a:pt x="389" y="3271"/>
                      </a:moveTo>
                      <a:lnTo>
                        <a:pt x="389" y="3829"/>
                      </a:lnTo>
                      <a:lnTo>
                        <a:pt x="3996" y="3829"/>
                      </a:lnTo>
                      <a:lnTo>
                        <a:pt x="3996" y="3271"/>
                      </a:lnTo>
                      <a:lnTo>
                        <a:pt x="389" y="3271"/>
                      </a:lnTo>
                      <a:close/>
                      <a:moveTo>
                        <a:pt x="3423" y="2462"/>
                      </a:moveTo>
                      <a:lnTo>
                        <a:pt x="3400" y="2466"/>
                      </a:lnTo>
                      <a:lnTo>
                        <a:pt x="3380" y="2477"/>
                      </a:lnTo>
                      <a:lnTo>
                        <a:pt x="3365" y="2491"/>
                      </a:lnTo>
                      <a:lnTo>
                        <a:pt x="3355" y="2511"/>
                      </a:lnTo>
                      <a:lnTo>
                        <a:pt x="3351" y="2534"/>
                      </a:lnTo>
                      <a:lnTo>
                        <a:pt x="3351" y="2895"/>
                      </a:lnTo>
                      <a:lnTo>
                        <a:pt x="3355" y="2918"/>
                      </a:lnTo>
                      <a:lnTo>
                        <a:pt x="3365" y="2938"/>
                      </a:lnTo>
                      <a:lnTo>
                        <a:pt x="3380" y="2952"/>
                      </a:lnTo>
                      <a:lnTo>
                        <a:pt x="3400" y="2963"/>
                      </a:lnTo>
                      <a:lnTo>
                        <a:pt x="3423" y="2967"/>
                      </a:lnTo>
                      <a:lnTo>
                        <a:pt x="3784" y="2967"/>
                      </a:lnTo>
                      <a:lnTo>
                        <a:pt x="3807" y="2963"/>
                      </a:lnTo>
                      <a:lnTo>
                        <a:pt x="3827" y="2952"/>
                      </a:lnTo>
                      <a:lnTo>
                        <a:pt x="3841" y="2938"/>
                      </a:lnTo>
                      <a:lnTo>
                        <a:pt x="3852" y="2918"/>
                      </a:lnTo>
                      <a:lnTo>
                        <a:pt x="3856" y="2895"/>
                      </a:lnTo>
                      <a:lnTo>
                        <a:pt x="3856" y="2534"/>
                      </a:lnTo>
                      <a:lnTo>
                        <a:pt x="3852" y="2511"/>
                      </a:lnTo>
                      <a:lnTo>
                        <a:pt x="3841" y="2491"/>
                      </a:lnTo>
                      <a:lnTo>
                        <a:pt x="3827" y="2477"/>
                      </a:lnTo>
                      <a:lnTo>
                        <a:pt x="3807" y="2466"/>
                      </a:lnTo>
                      <a:lnTo>
                        <a:pt x="3784" y="2462"/>
                      </a:lnTo>
                      <a:lnTo>
                        <a:pt x="3423" y="2462"/>
                      </a:lnTo>
                      <a:close/>
                      <a:moveTo>
                        <a:pt x="2719" y="2462"/>
                      </a:moveTo>
                      <a:lnTo>
                        <a:pt x="2696" y="2466"/>
                      </a:lnTo>
                      <a:lnTo>
                        <a:pt x="2676" y="2477"/>
                      </a:lnTo>
                      <a:lnTo>
                        <a:pt x="2660" y="2491"/>
                      </a:lnTo>
                      <a:lnTo>
                        <a:pt x="2651" y="2511"/>
                      </a:lnTo>
                      <a:lnTo>
                        <a:pt x="2647" y="2534"/>
                      </a:lnTo>
                      <a:lnTo>
                        <a:pt x="2647" y="2895"/>
                      </a:lnTo>
                      <a:lnTo>
                        <a:pt x="2651" y="2918"/>
                      </a:lnTo>
                      <a:lnTo>
                        <a:pt x="2660" y="2938"/>
                      </a:lnTo>
                      <a:lnTo>
                        <a:pt x="2676" y="2952"/>
                      </a:lnTo>
                      <a:lnTo>
                        <a:pt x="2696" y="2963"/>
                      </a:lnTo>
                      <a:lnTo>
                        <a:pt x="2719" y="2967"/>
                      </a:lnTo>
                      <a:lnTo>
                        <a:pt x="3079" y="2967"/>
                      </a:lnTo>
                      <a:lnTo>
                        <a:pt x="3103" y="2963"/>
                      </a:lnTo>
                      <a:lnTo>
                        <a:pt x="3121" y="2952"/>
                      </a:lnTo>
                      <a:lnTo>
                        <a:pt x="3137" y="2938"/>
                      </a:lnTo>
                      <a:lnTo>
                        <a:pt x="3148" y="2918"/>
                      </a:lnTo>
                      <a:lnTo>
                        <a:pt x="3152" y="2895"/>
                      </a:lnTo>
                      <a:lnTo>
                        <a:pt x="3152" y="2534"/>
                      </a:lnTo>
                      <a:lnTo>
                        <a:pt x="3148" y="2511"/>
                      </a:lnTo>
                      <a:lnTo>
                        <a:pt x="3137" y="2491"/>
                      </a:lnTo>
                      <a:lnTo>
                        <a:pt x="3121" y="2477"/>
                      </a:lnTo>
                      <a:lnTo>
                        <a:pt x="3103" y="2466"/>
                      </a:lnTo>
                      <a:lnTo>
                        <a:pt x="3079" y="2462"/>
                      </a:lnTo>
                      <a:lnTo>
                        <a:pt x="2719" y="2462"/>
                      </a:lnTo>
                      <a:close/>
                      <a:moveTo>
                        <a:pt x="1985" y="2462"/>
                      </a:moveTo>
                      <a:lnTo>
                        <a:pt x="1963" y="2466"/>
                      </a:lnTo>
                      <a:lnTo>
                        <a:pt x="1943" y="2477"/>
                      </a:lnTo>
                      <a:lnTo>
                        <a:pt x="1927" y="2491"/>
                      </a:lnTo>
                      <a:lnTo>
                        <a:pt x="1917" y="2511"/>
                      </a:lnTo>
                      <a:lnTo>
                        <a:pt x="1913" y="2534"/>
                      </a:lnTo>
                      <a:lnTo>
                        <a:pt x="1913" y="2895"/>
                      </a:lnTo>
                      <a:lnTo>
                        <a:pt x="1917" y="2918"/>
                      </a:lnTo>
                      <a:lnTo>
                        <a:pt x="1927" y="2938"/>
                      </a:lnTo>
                      <a:lnTo>
                        <a:pt x="1943" y="2952"/>
                      </a:lnTo>
                      <a:lnTo>
                        <a:pt x="1963" y="2963"/>
                      </a:lnTo>
                      <a:lnTo>
                        <a:pt x="1985" y="2967"/>
                      </a:lnTo>
                      <a:lnTo>
                        <a:pt x="2345" y="2967"/>
                      </a:lnTo>
                      <a:lnTo>
                        <a:pt x="2369" y="2963"/>
                      </a:lnTo>
                      <a:lnTo>
                        <a:pt x="2388" y="2952"/>
                      </a:lnTo>
                      <a:lnTo>
                        <a:pt x="2404" y="2938"/>
                      </a:lnTo>
                      <a:lnTo>
                        <a:pt x="2415" y="2918"/>
                      </a:lnTo>
                      <a:lnTo>
                        <a:pt x="2419" y="2895"/>
                      </a:lnTo>
                      <a:lnTo>
                        <a:pt x="2419" y="2534"/>
                      </a:lnTo>
                      <a:lnTo>
                        <a:pt x="2415" y="2511"/>
                      </a:lnTo>
                      <a:lnTo>
                        <a:pt x="2404" y="2491"/>
                      </a:lnTo>
                      <a:lnTo>
                        <a:pt x="2388" y="2477"/>
                      </a:lnTo>
                      <a:lnTo>
                        <a:pt x="2369" y="2466"/>
                      </a:lnTo>
                      <a:lnTo>
                        <a:pt x="2345" y="2462"/>
                      </a:lnTo>
                      <a:lnTo>
                        <a:pt x="1985" y="2462"/>
                      </a:lnTo>
                      <a:close/>
                      <a:moveTo>
                        <a:pt x="3423" y="1867"/>
                      </a:moveTo>
                      <a:lnTo>
                        <a:pt x="3400" y="1871"/>
                      </a:lnTo>
                      <a:lnTo>
                        <a:pt x="3380" y="1881"/>
                      </a:lnTo>
                      <a:lnTo>
                        <a:pt x="3365" y="1897"/>
                      </a:lnTo>
                      <a:lnTo>
                        <a:pt x="3355" y="1917"/>
                      </a:lnTo>
                      <a:lnTo>
                        <a:pt x="3351" y="1939"/>
                      </a:lnTo>
                      <a:lnTo>
                        <a:pt x="3351" y="2299"/>
                      </a:lnTo>
                      <a:lnTo>
                        <a:pt x="3355" y="2322"/>
                      </a:lnTo>
                      <a:lnTo>
                        <a:pt x="3365" y="2342"/>
                      </a:lnTo>
                      <a:lnTo>
                        <a:pt x="3380" y="2358"/>
                      </a:lnTo>
                      <a:lnTo>
                        <a:pt x="3400" y="2369"/>
                      </a:lnTo>
                      <a:lnTo>
                        <a:pt x="3423" y="2371"/>
                      </a:lnTo>
                      <a:lnTo>
                        <a:pt x="3784" y="2371"/>
                      </a:lnTo>
                      <a:lnTo>
                        <a:pt x="3807" y="2369"/>
                      </a:lnTo>
                      <a:lnTo>
                        <a:pt x="3827" y="2358"/>
                      </a:lnTo>
                      <a:lnTo>
                        <a:pt x="3841" y="2342"/>
                      </a:lnTo>
                      <a:lnTo>
                        <a:pt x="3852" y="2322"/>
                      </a:lnTo>
                      <a:lnTo>
                        <a:pt x="3856" y="2299"/>
                      </a:lnTo>
                      <a:lnTo>
                        <a:pt x="3856" y="1939"/>
                      </a:lnTo>
                      <a:lnTo>
                        <a:pt x="3852" y="1917"/>
                      </a:lnTo>
                      <a:lnTo>
                        <a:pt x="3841" y="1897"/>
                      </a:lnTo>
                      <a:lnTo>
                        <a:pt x="3827" y="1881"/>
                      </a:lnTo>
                      <a:lnTo>
                        <a:pt x="3807" y="1871"/>
                      </a:lnTo>
                      <a:lnTo>
                        <a:pt x="3784" y="1867"/>
                      </a:lnTo>
                      <a:lnTo>
                        <a:pt x="3423" y="1867"/>
                      </a:lnTo>
                      <a:close/>
                      <a:moveTo>
                        <a:pt x="2719" y="1867"/>
                      </a:moveTo>
                      <a:lnTo>
                        <a:pt x="2696" y="1871"/>
                      </a:lnTo>
                      <a:lnTo>
                        <a:pt x="2676" y="1881"/>
                      </a:lnTo>
                      <a:lnTo>
                        <a:pt x="2660" y="1897"/>
                      </a:lnTo>
                      <a:lnTo>
                        <a:pt x="2651" y="1917"/>
                      </a:lnTo>
                      <a:lnTo>
                        <a:pt x="2647" y="1939"/>
                      </a:lnTo>
                      <a:lnTo>
                        <a:pt x="2647" y="2299"/>
                      </a:lnTo>
                      <a:lnTo>
                        <a:pt x="2651" y="2322"/>
                      </a:lnTo>
                      <a:lnTo>
                        <a:pt x="2660" y="2342"/>
                      </a:lnTo>
                      <a:lnTo>
                        <a:pt x="2676" y="2358"/>
                      </a:lnTo>
                      <a:lnTo>
                        <a:pt x="2696" y="2369"/>
                      </a:lnTo>
                      <a:lnTo>
                        <a:pt x="2719" y="2371"/>
                      </a:lnTo>
                      <a:lnTo>
                        <a:pt x="3079" y="2371"/>
                      </a:lnTo>
                      <a:lnTo>
                        <a:pt x="3103" y="2369"/>
                      </a:lnTo>
                      <a:lnTo>
                        <a:pt x="3121" y="2358"/>
                      </a:lnTo>
                      <a:lnTo>
                        <a:pt x="3137" y="2342"/>
                      </a:lnTo>
                      <a:lnTo>
                        <a:pt x="3148" y="2322"/>
                      </a:lnTo>
                      <a:lnTo>
                        <a:pt x="3152" y="2299"/>
                      </a:lnTo>
                      <a:lnTo>
                        <a:pt x="3152" y="1939"/>
                      </a:lnTo>
                      <a:lnTo>
                        <a:pt x="3148" y="1917"/>
                      </a:lnTo>
                      <a:lnTo>
                        <a:pt x="3137" y="1897"/>
                      </a:lnTo>
                      <a:lnTo>
                        <a:pt x="3121" y="1881"/>
                      </a:lnTo>
                      <a:lnTo>
                        <a:pt x="3103" y="1871"/>
                      </a:lnTo>
                      <a:lnTo>
                        <a:pt x="3079" y="1867"/>
                      </a:lnTo>
                      <a:lnTo>
                        <a:pt x="2719" y="1867"/>
                      </a:lnTo>
                      <a:close/>
                      <a:moveTo>
                        <a:pt x="1985" y="1867"/>
                      </a:moveTo>
                      <a:lnTo>
                        <a:pt x="1963" y="1871"/>
                      </a:lnTo>
                      <a:lnTo>
                        <a:pt x="1943" y="1881"/>
                      </a:lnTo>
                      <a:lnTo>
                        <a:pt x="1927" y="1897"/>
                      </a:lnTo>
                      <a:lnTo>
                        <a:pt x="1917" y="1917"/>
                      </a:lnTo>
                      <a:lnTo>
                        <a:pt x="1913" y="1939"/>
                      </a:lnTo>
                      <a:lnTo>
                        <a:pt x="1913" y="2299"/>
                      </a:lnTo>
                      <a:lnTo>
                        <a:pt x="1917" y="2322"/>
                      </a:lnTo>
                      <a:lnTo>
                        <a:pt x="1927" y="2342"/>
                      </a:lnTo>
                      <a:lnTo>
                        <a:pt x="1943" y="2358"/>
                      </a:lnTo>
                      <a:lnTo>
                        <a:pt x="1963" y="2369"/>
                      </a:lnTo>
                      <a:lnTo>
                        <a:pt x="1985" y="2371"/>
                      </a:lnTo>
                      <a:lnTo>
                        <a:pt x="2345" y="2371"/>
                      </a:lnTo>
                      <a:lnTo>
                        <a:pt x="2369" y="2369"/>
                      </a:lnTo>
                      <a:lnTo>
                        <a:pt x="2388" y="2358"/>
                      </a:lnTo>
                      <a:lnTo>
                        <a:pt x="2404" y="2342"/>
                      </a:lnTo>
                      <a:lnTo>
                        <a:pt x="2415" y="2322"/>
                      </a:lnTo>
                      <a:lnTo>
                        <a:pt x="2419" y="2299"/>
                      </a:lnTo>
                      <a:lnTo>
                        <a:pt x="2419" y="1939"/>
                      </a:lnTo>
                      <a:lnTo>
                        <a:pt x="2415" y="1917"/>
                      </a:lnTo>
                      <a:lnTo>
                        <a:pt x="2404" y="1897"/>
                      </a:lnTo>
                      <a:lnTo>
                        <a:pt x="2388" y="1881"/>
                      </a:lnTo>
                      <a:lnTo>
                        <a:pt x="2369" y="1871"/>
                      </a:lnTo>
                      <a:lnTo>
                        <a:pt x="2345" y="1867"/>
                      </a:lnTo>
                      <a:lnTo>
                        <a:pt x="1985" y="1867"/>
                      </a:lnTo>
                      <a:close/>
                      <a:moveTo>
                        <a:pt x="2288" y="1168"/>
                      </a:moveTo>
                      <a:lnTo>
                        <a:pt x="2265" y="1172"/>
                      </a:lnTo>
                      <a:lnTo>
                        <a:pt x="2245" y="1181"/>
                      </a:lnTo>
                      <a:lnTo>
                        <a:pt x="2229" y="1197"/>
                      </a:lnTo>
                      <a:lnTo>
                        <a:pt x="2220" y="1217"/>
                      </a:lnTo>
                      <a:lnTo>
                        <a:pt x="2216" y="1240"/>
                      </a:lnTo>
                      <a:lnTo>
                        <a:pt x="2216" y="1504"/>
                      </a:lnTo>
                      <a:lnTo>
                        <a:pt x="2220" y="1526"/>
                      </a:lnTo>
                      <a:lnTo>
                        <a:pt x="2229" y="1546"/>
                      </a:lnTo>
                      <a:lnTo>
                        <a:pt x="2245" y="1561"/>
                      </a:lnTo>
                      <a:lnTo>
                        <a:pt x="2265" y="1571"/>
                      </a:lnTo>
                      <a:lnTo>
                        <a:pt x="2288" y="1575"/>
                      </a:lnTo>
                      <a:lnTo>
                        <a:pt x="3784" y="1575"/>
                      </a:lnTo>
                      <a:lnTo>
                        <a:pt x="3807" y="1571"/>
                      </a:lnTo>
                      <a:lnTo>
                        <a:pt x="3827" y="1561"/>
                      </a:lnTo>
                      <a:lnTo>
                        <a:pt x="3841" y="1546"/>
                      </a:lnTo>
                      <a:lnTo>
                        <a:pt x="3852" y="1526"/>
                      </a:lnTo>
                      <a:lnTo>
                        <a:pt x="3856" y="1504"/>
                      </a:lnTo>
                      <a:lnTo>
                        <a:pt x="3856" y="1240"/>
                      </a:lnTo>
                      <a:lnTo>
                        <a:pt x="3852" y="1217"/>
                      </a:lnTo>
                      <a:lnTo>
                        <a:pt x="3841" y="1197"/>
                      </a:lnTo>
                      <a:lnTo>
                        <a:pt x="3827" y="1181"/>
                      </a:lnTo>
                      <a:lnTo>
                        <a:pt x="3807" y="1172"/>
                      </a:lnTo>
                      <a:lnTo>
                        <a:pt x="3784" y="1168"/>
                      </a:lnTo>
                      <a:lnTo>
                        <a:pt x="2288" y="1168"/>
                      </a:lnTo>
                      <a:close/>
                      <a:moveTo>
                        <a:pt x="684" y="181"/>
                      </a:moveTo>
                      <a:lnTo>
                        <a:pt x="684" y="1547"/>
                      </a:lnTo>
                      <a:lnTo>
                        <a:pt x="684" y="1547"/>
                      </a:lnTo>
                      <a:lnTo>
                        <a:pt x="1723" y="1547"/>
                      </a:lnTo>
                      <a:lnTo>
                        <a:pt x="1723" y="181"/>
                      </a:lnTo>
                      <a:lnTo>
                        <a:pt x="684" y="181"/>
                      </a:lnTo>
                      <a:close/>
                      <a:moveTo>
                        <a:pt x="584" y="0"/>
                      </a:moveTo>
                      <a:lnTo>
                        <a:pt x="1824" y="0"/>
                      </a:lnTo>
                      <a:lnTo>
                        <a:pt x="1847" y="3"/>
                      </a:lnTo>
                      <a:lnTo>
                        <a:pt x="1867" y="13"/>
                      </a:lnTo>
                      <a:lnTo>
                        <a:pt x="1883" y="29"/>
                      </a:lnTo>
                      <a:lnTo>
                        <a:pt x="1892" y="49"/>
                      </a:lnTo>
                      <a:lnTo>
                        <a:pt x="1896" y="72"/>
                      </a:lnTo>
                      <a:lnTo>
                        <a:pt x="1896" y="802"/>
                      </a:lnTo>
                      <a:lnTo>
                        <a:pt x="4227" y="802"/>
                      </a:lnTo>
                      <a:lnTo>
                        <a:pt x="4249" y="806"/>
                      </a:lnTo>
                      <a:lnTo>
                        <a:pt x="4269" y="817"/>
                      </a:lnTo>
                      <a:lnTo>
                        <a:pt x="4285" y="833"/>
                      </a:lnTo>
                      <a:lnTo>
                        <a:pt x="4295" y="852"/>
                      </a:lnTo>
                      <a:lnTo>
                        <a:pt x="4299" y="876"/>
                      </a:lnTo>
                      <a:lnTo>
                        <a:pt x="4299" y="2170"/>
                      </a:lnTo>
                      <a:lnTo>
                        <a:pt x="4385" y="3248"/>
                      </a:lnTo>
                      <a:lnTo>
                        <a:pt x="4385" y="3252"/>
                      </a:lnTo>
                      <a:lnTo>
                        <a:pt x="4385" y="3255"/>
                      </a:lnTo>
                      <a:lnTo>
                        <a:pt x="4385" y="4033"/>
                      </a:lnTo>
                      <a:lnTo>
                        <a:pt x="4381" y="4056"/>
                      </a:lnTo>
                      <a:lnTo>
                        <a:pt x="4372" y="4076"/>
                      </a:lnTo>
                      <a:lnTo>
                        <a:pt x="4356" y="4092"/>
                      </a:lnTo>
                      <a:lnTo>
                        <a:pt x="4336" y="4101"/>
                      </a:lnTo>
                      <a:lnTo>
                        <a:pt x="4313" y="4105"/>
                      </a:lnTo>
                      <a:lnTo>
                        <a:pt x="72" y="4105"/>
                      </a:lnTo>
                      <a:lnTo>
                        <a:pt x="49" y="4101"/>
                      </a:lnTo>
                      <a:lnTo>
                        <a:pt x="29" y="4092"/>
                      </a:lnTo>
                      <a:lnTo>
                        <a:pt x="13" y="4076"/>
                      </a:lnTo>
                      <a:lnTo>
                        <a:pt x="4" y="4056"/>
                      </a:lnTo>
                      <a:lnTo>
                        <a:pt x="0" y="4033"/>
                      </a:lnTo>
                      <a:lnTo>
                        <a:pt x="0" y="3255"/>
                      </a:lnTo>
                      <a:lnTo>
                        <a:pt x="0" y="3252"/>
                      </a:lnTo>
                      <a:lnTo>
                        <a:pt x="0" y="3250"/>
                      </a:lnTo>
                      <a:lnTo>
                        <a:pt x="87" y="2149"/>
                      </a:lnTo>
                      <a:lnTo>
                        <a:pt x="87" y="876"/>
                      </a:lnTo>
                      <a:lnTo>
                        <a:pt x="91" y="852"/>
                      </a:lnTo>
                      <a:lnTo>
                        <a:pt x="100" y="833"/>
                      </a:lnTo>
                      <a:lnTo>
                        <a:pt x="116" y="817"/>
                      </a:lnTo>
                      <a:lnTo>
                        <a:pt x="136" y="806"/>
                      </a:lnTo>
                      <a:lnTo>
                        <a:pt x="159" y="802"/>
                      </a:lnTo>
                      <a:lnTo>
                        <a:pt x="511" y="802"/>
                      </a:lnTo>
                      <a:lnTo>
                        <a:pt x="511" y="72"/>
                      </a:lnTo>
                      <a:lnTo>
                        <a:pt x="515" y="49"/>
                      </a:lnTo>
                      <a:lnTo>
                        <a:pt x="525" y="29"/>
                      </a:lnTo>
                      <a:lnTo>
                        <a:pt x="541" y="13"/>
                      </a:lnTo>
                      <a:lnTo>
                        <a:pt x="560" y="3"/>
                      </a:lnTo>
                      <a:lnTo>
                        <a:pt x="584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lIns="91425" tIns="45700" rIns="91425" bIns="45700" anchor="t" anchorCtr="0">
                  <a:noAutofit/>
                </a:bodyPr>
                <a:lstStyle/>
                <a:p>
                  <a:endParaRPr sz="2400" kern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endParaRPr>
                </a:p>
              </p:txBody>
            </p:sp>
            <p:sp>
              <p:nvSpPr>
                <p:cNvPr id="93" name="Shape 250">
                  <a:extLst>
                    <a:ext uri="{FF2B5EF4-FFF2-40B4-BE49-F238E27FC236}">
                      <a16:creationId xmlns:a16="http://schemas.microsoft.com/office/drawing/2014/main" id="{15A23167-C0A6-44CE-B29E-E410D97E6B1D}"/>
                    </a:ext>
                  </a:extLst>
                </p:cNvPr>
                <p:cNvSpPr/>
                <p:nvPr/>
              </p:nvSpPr>
              <p:spPr>
                <a:xfrm>
                  <a:off x="1354137" y="2797175"/>
                  <a:ext cx="209550" cy="5715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27" h="144" extrusionOk="0">
                      <a:moveTo>
                        <a:pt x="72" y="0"/>
                      </a:moveTo>
                      <a:lnTo>
                        <a:pt x="455" y="0"/>
                      </a:lnTo>
                      <a:lnTo>
                        <a:pt x="477" y="2"/>
                      </a:lnTo>
                      <a:lnTo>
                        <a:pt x="497" y="13"/>
                      </a:lnTo>
                      <a:lnTo>
                        <a:pt x="512" y="29"/>
                      </a:lnTo>
                      <a:lnTo>
                        <a:pt x="523" y="49"/>
                      </a:lnTo>
                      <a:lnTo>
                        <a:pt x="527" y="72"/>
                      </a:lnTo>
                      <a:lnTo>
                        <a:pt x="523" y="94"/>
                      </a:lnTo>
                      <a:lnTo>
                        <a:pt x="512" y="114"/>
                      </a:lnTo>
                      <a:lnTo>
                        <a:pt x="497" y="129"/>
                      </a:lnTo>
                      <a:lnTo>
                        <a:pt x="477" y="140"/>
                      </a:lnTo>
                      <a:lnTo>
                        <a:pt x="455" y="144"/>
                      </a:lnTo>
                      <a:lnTo>
                        <a:pt x="72" y="144"/>
                      </a:lnTo>
                      <a:lnTo>
                        <a:pt x="49" y="140"/>
                      </a:lnTo>
                      <a:lnTo>
                        <a:pt x="29" y="129"/>
                      </a:lnTo>
                      <a:lnTo>
                        <a:pt x="13" y="114"/>
                      </a:lnTo>
                      <a:lnTo>
                        <a:pt x="4" y="94"/>
                      </a:lnTo>
                      <a:lnTo>
                        <a:pt x="0" y="72"/>
                      </a:lnTo>
                      <a:lnTo>
                        <a:pt x="4" y="49"/>
                      </a:lnTo>
                      <a:lnTo>
                        <a:pt x="13" y="29"/>
                      </a:lnTo>
                      <a:lnTo>
                        <a:pt x="29" y="13"/>
                      </a:lnTo>
                      <a:lnTo>
                        <a:pt x="49" y="2"/>
                      </a:lnTo>
                      <a:lnTo>
                        <a:pt x="7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lIns="91425" tIns="45700" rIns="91425" bIns="45700" anchor="t" anchorCtr="0">
                  <a:noAutofit/>
                </a:bodyPr>
                <a:lstStyle/>
                <a:p>
                  <a:endParaRPr sz="2400" kern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endParaRPr>
                </a:p>
              </p:txBody>
            </p:sp>
            <p:sp>
              <p:nvSpPr>
                <p:cNvPr id="94" name="Shape 251">
                  <a:extLst>
                    <a:ext uri="{FF2B5EF4-FFF2-40B4-BE49-F238E27FC236}">
                      <a16:creationId xmlns:a16="http://schemas.microsoft.com/office/drawing/2014/main" id="{DC9C403C-4A72-40DD-BD3E-370915E49509}"/>
                    </a:ext>
                  </a:extLst>
                </p:cNvPr>
                <p:cNvSpPr/>
                <p:nvPr/>
              </p:nvSpPr>
              <p:spPr>
                <a:xfrm>
                  <a:off x="1354137" y="2951163"/>
                  <a:ext cx="209550" cy="57150"/>
                </a:xfrm>
                <a:custGeom>
                  <a:avLst/>
                  <a:gdLst/>
                  <a:ahLst/>
                  <a:cxnLst/>
                  <a:rect l="0" t="0" r="0" b="0"/>
                  <a:pathLst>
                    <a:path w="527" h="144" extrusionOk="0">
                      <a:moveTo>
                        <a:pt x="72" y="0"/>
                      </a:moveTo>
                      <a:lnTo>
                        <a:pt x="455" y="0"/>
                      </a:lnTo>
                      <a:lnTo>
                        <a:pt x="477" y="3"/>
                      </a:lnTo>
                      <a:lnTo>
                        <a:pt x="497" y="13"/>
                      </a:lnTo>
                      <a:lnTo>
                        <a:pt x="512" y="29"/>
                      </a:lnTo>
                      <a:lnTo>
                        <a:pt x="523" y="49"/>
                      </a:lnTo>
                      <a:lnTo>
                        <a:pt x="527" y="72"/>
                      </a:lnTo>
                      <a:lnTo>
                        <a:pt x="523" y="95"/>
                      </a:lnTo>
                      <a:lnTo>
                        <a:pt x="512" y="115"/>
                      </a:lnTo>
                      <a:lnTo>
                        <a:pt x="497" y="129"/>
                      </a:lnTo>
                      <a:lnTo>
                        <a:pt x="477" y="140"/>
                      </a:lnTo>
                      <a:lnTo>
                        <a:pt x="455" y="144"/>
                      </a:lnTo>
                      <a:lnTo>
                        <a:pt x="72" y="144"/>
                      </a:lnTo>
                      <a:lnTo>
                        <a:pt x="49" y="140"/>
                      </a:lnTo>
                      <a:lnTo>
                        <a:pt x="29" y="129"/>
                      </a:lnTo>
                      <a:lnTo>
                        <a:pt x="13" y="115"/>
                      </a:lnTo>
                      <a:lnTo>
                        <a:pt x="4" y="95"/>
                      </a:lnTo>
                      <a:lnTo>
                        <a:pt x="0" y="72"/>
                      </a:lnTo>
                      <a:lnTo>
                        <a:pt x="4" y="49"/>
                      </a:lnTo>
                      <a:lnTo>
                        <a:pt x="13" y="29"/>
                      </a:lnTo>
                      <a:lnTo>
                        <a:pt x="29" y="13"/>
                      </a:lnTo>
                      <a:lnTo>
                        <a:pt x="49" y="3"/>
                      </a:lnTo>
                      <a:lnTo>
                        <a:pt x="72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lIns="91425" tIns="45700" rIns="91425" bIns="45700" anchor="t" anchorCtr="0">
                  <a:noAutofit/>
                </a:bodyPr>
                <a:lstStyle/>
                <a:p>
                  <a:endParaRPr sz="2400" kern="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  <a:rtl val="0"/>
                  </a:endParaRPr>
                </a:p>
              </p:txBody>
            </p:sp>
          </p:grp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8D6160D-C314-4D99-AFDE-0F8F14900AE7}"/>
                  </a:ext>
                </a:extLst>
              </p:cNvPr>
              <p:cNvSpPr txBox="1"/>
              <p:nvPr/>
            </p:nvSpPr>
            <p:spPr>
              <a:xfrm flipH="1">
                <a:off x="6535047" y="3310602"/>
                <a:ext cx="132503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Acquisition</a:t>
                </a:r>
              </a:p>
            </p:txBody>
          </p:sp>
          <p:sp>
            <p:nvSpPr>
              <p:cNvPr id="100" name="TextBox 99">
                <a:extLst>
                  <a:ext uri="{FF2B5EF4-FFF2-40B4-BE49-F238E27FC236}">
                    <a16:creationId xmlns:a16="http://schemas.microsoft.com/office/drawing/2014/main" id="{007E3F86-1EB4-4F4D-B050-627F3DE75979}"/>
                  </a:ext>
                </a:extLst>
              </p:cNvPr>
              <p:cNvSpPr txBox="1"/>
              <p:nvPr/>
            </p:nvSpPr>
            <p:spPr>
              <a:xfrm flipH="1">
                <a:off x="6464837" y="4940672"/>
                <a:ext cx="132503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200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Satisfaction</a:t>
                </a:r>
              </a:p>
              <a:p>
                <a:r>
                  <a:rPr lang="en-IN" sz="1200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&amp; Retention</a:t>
                </a:r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15BC240D-46AF-44DF-8D9A-1F4E25216328}"/>
                  </a:ext>
                </a:extLst>
              </p:cNvPr>
              <p:cNvSpPr txBox="1"/>
              <p:nvPr/>
            </p:nvSpPr>
            <p:spPr>
              <a:xfrm>
                <a:off x="6535748" y="572859"/>
                <a:ext cx="5321754" cy="353438"/>
              </a:xfrm>
              <a:prstGeom prst="roundRect">
                <a:avLst/>
              </a:prstGeom>
              <a:solidFill>
                <a:srgbClr val="4A0E64"/>
              </a:solidFill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b="1">
                    <a:solidFill>
                      <a:schemeClr val="bg1"/>
                    </a:solidFill>
                    <a:latin typeface="Georgia" panose="02040502050405020303" pitchFamily="18" charset="0"/>
                  </a:rPr>
                  <a:t>Campaign #rEVolution</a:t>
                </a:r>
              </a:p>
            </p:txBody>
          </p: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B6A1C99B-4D52-480E-BEDC-45D36E5C2B56}"/>
                  </a:ext>
                </a:extLst>
              </p:cNvPr>
              <p:cNvSpPr txBox="1"/>
              <p:nvPr/>
            </p:nvSpPr>
            <p:spPr>
              <a:xfrm>
                <a:off x="6484902" y="1239829"/>
                <a:ext cx="2669005" cy="1384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en-IN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  Online Marketing </a:t>
                </a:r>
              </a:p>
              <a:p>
                <a:endParaRPr lang="en-IN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Social Media Marketing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Television and Over The Top Ads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Blogs, E-Magazines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Webinars, Online Town Halls</a:t>
                </a:r>
                <a:endParaRPr lang="en-IN" sz="14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Graphic 10" descr="Online Network with solid fill">
                <a:extLst>
                  <a:ext uri="{FF2B5EF4-FFF2-40B4-BE49-F238E27FC236}">
                    <a16:creationId xmlns:a16="http://schemas.microsoft.com/office/drawing/2014/main" id="{F18361D8-FA14-42C2-B046-303C619E10D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6507369" y="1395407"/>
                <a:ext cx="396698" cy="396698"/>
              </a:xfrm>
              <a:prstGeom prst="rect">
                <a:avLst/>
              </a:prstGeom>
            </p:spPr>
          </p:pic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22AAE58A-2CFC-4474-83C0-AC7D0C96ED64}"/>
                  </a:ext>
                </a:extLst>
              </p:cNvPr>
              <p:cNvSpPr txBox="1"/>
              <p:nvPr/>
            </p:nvSpPr>
            <p:spPr>
              <a:xfrm>
                <a:off x="8998005" y="1225141"/>
                <a:ext cx="2859497" cy="13849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endParaRPr lang="en-IN" sz="12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en-IN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     Offline</a:t>
                </a:r>
              </a:p>
              <a:p>
                <a:endParaRPr lang="en-IN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Interactive displays</a:t>
                </a: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- malls, metro stations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EV Rallies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Billboards at strategic locations</a:t>
                </a:r>
              </a:p>
            </p:txBody>
          </p:sp>
          <p:pic>
            <p:nvPicPr>
              <p:cNvPr id="14" name="Graphic 13" descr="Marketing with solid fill">
                <a:extLst>
                  <a:ext uri="{FF2B5EF4-FFF2-40B4-BE49-F238E27FC236}">
                    <a16:creationId xmlns:a16="http://schemas.microsoft.com/office/drawing/2014/main" id="{09102B47-9EC0-4418-979C-A3DD680FE06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025537" y="1372900"/>
                <a:ext cx="392843" cy="392843"/>
              </a:xfrm>
              <a:prstGeom prst="rect">
                <a:avLst/>
              </a:prstGeom>
            </p:spPr>
          </p:pic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D2D7947D-26B1-479D-B82B-5DD4A5942F71}"/>
                  </a:ext>
                </a:extLst>
              </p:cNvPr>
              <p:cNvSpPr txBox="1"/>
              <p:nvPr/>
            </p:nvSpPr>
            <p:spPr>
              <a:xfrm>
                <a:off x="6432295" y="1001134"/>
                <a:ext cx="5301939" cy="323493"/>
              </a:xfrm>
              <a:prstGeom prst="roundRect">
                <a:avLst/>
              </a:prstGeom>
              <a:noFill/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300" b="1" u="sng" dirty="0">
                    <a:solidFill>
                      <a:srgbClr val="4A0073"/>
                    </a:solidFill>
                    <a:latin typeface="Georgia" panose="02040502050405020303" pitchFamily="18" charset="0"/>
                  </a:rPr>
                  <a:t> Did You Know? - </a:t>
                </a:r>
                <a:r>
                  <a:rPr lang="en-IN" sz="1300" b="1" u="sng" dirty="0">
                    <a:solidFill>
                      <a:srgbClr val="4A007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Spreading awareness on the benefits of EVs</a:t>
                </a:r>
              </a:p>
            </p:txBody>
          </p: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4E4CA735-BB12-4941-AAA6-0AD28EBDC014}"/>
                  </a:ext>
                </a:extLst>
              </p:cNvPr>
              <p:cNvSpPr txBox="1"/>
              <p:nvPr/>
            </p:nvSpPr>
            <p:spPr>
              <a:xfrm>
                <a:off x="6433605" y="2759873"/>
                <a:ext cx="5320444" cy="323493"/>
              </a:xfrm>
              <a:prstGeom prst="roundRect">
                <a:avLst/>
              </a:prstGeom>
              <a:noFill/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300" b="1" u="sng" dirty="0">
                    <a:solidFill>
                      <a:srgbClr val="4A0073"/>
                    </a:solidFill>
                    <a:latin typeface="Georgia" panose="02040502050405020303" pitchFamily="18" charset="0"/>
                  </a:rPr>
                  <a:t> Why ABC? - </a:t>
                </a:r>
                <a:r>
                  <a:rPr lang="en-IN" sz="1300" b="1" u="sng" dirty="0">
                    <a:solidFill>
                      <a:srgbClr val="4A007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Details on Product Specifications, Service &amp; USPs</a:t>
                </a:r>
              </a:p>
            </p:txBody>
          </p:sp>
          <p:sp>
            <p:nvSpPr>
              <p:cNvPr id="124" name="TextBox 123">
                <a:extLst>
                  <a:ext uri="{FF2B5EF4-FFF2-40B4-BE49-F238E27FC236}">
                    <a16:creationId xmlns:a16="http://schemas.microsoft.com/office/drawing/2014/main" id="{0D6F23D6-8A34-4F2A-8FAA-554FFA0A0EF1}"/>
                  </a:ext>
                </a:extLst>
              </p:cNvPr>
              <p:cNvSpPr txBox="1"/>
              <p:nvPr/>
            </p:nvSpPr>
            <p:spPr>
              <a:xfrm>
                <a:off x="6433605" y="4425169"/>
                <a:ext cx="5320444" cy="323493"/>
              </a:xfrm>
              <a:prstGeom prst="roundRect">
                <a:avLst/>
              </a:prstGeom>
              <a:noFill/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300" b="1" u="sng" dirty="0">
                    <a:solidFill>
                      <a:srgbClr val="4A0073"/>
                    </a:solidFill>
                    <a:latin typeface="Georgia" panose="02040502050405020303" pitchFamily="18" charset="0"/>
                  </a:rPr>
                  <a:t> Do it Now! –</a:t>
                </a:r>
                <a:r>
                  <a:rPr lang="en-IN" sz="1300" b="1" u="sng" dirty="0">
                    <a:solidFill>
                      <a:srgbClr val="4A007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Initiatives to covert Potential Buyers to Customers</a:t>
                </a:r>
              </a:p>
            </p:txBody>
          </p:sp>
          <p:sp>
            <p:nvSpPr>
              <p:cNvPr id="128" name="TextBox 127">
                <a:extLst>
                  <a:ext uri="{FF2B5EF4-FFF2-40B4-BE49-F238E27FC236}">
                    <a16:creationId xmlns:a16="http://schemas.microsoft.com/office/drawing/2014/main" id="{488B3F27-F5C8-4F92-BE52-6C93F0FFA749}"/>
                  </a:ext>
                </a:extLst>
              </p:cNvPr>
              <p:cNvSpPr txBox="1"/>
              <p:nvPr/>
            </p:nvSpPr>
            <p:spPr>
              <a:xfrm>
                <a:off x="6488776" y="3187313"/>
                <a:ext cx="2465872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Website and Application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Entering </a:t>
                </a:r>
                <a:r>
                  <a:rPr lang="en-IN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Gaming Arena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Customer Reviews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Influencer Marketing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Brand Recall</a:t>
                </a:r>
              </a:p>
              <a:p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  Sponsorships (Movies, Shows)</a:t>
                </a:r>
              </a:p>
            </p:txBody>
          </p:sp>
          <p:pic>
            <p:nvPicPr>
              <p:cNvPr id="47" name="Graphic 46" descr="Lightbulb with solid fill">
                <a:extLst>
                  <a:ext uri="{FF2B5EF4-FFF2-40B4-BE49-F238E27FC236}">
                    <a16:creationId xmlns:a16="http://schemas.microsoft.com/office/drawing/2014/main" id="{A787BC27-3D18-4645-A7AB-298699D34D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 cstate="print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p:blipFill>
            <p:spPr>
              <a:xfrm>
                <a:off x="9030468" y="3193276"/>
                <a:ext cx="353117" cy="353117"/>
              </a:xfrm>
              <a:prstGeom prst="rect">
                <a:avLst/>
              </a:prstGeom>
            </p:spPr>
          </p:pic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1A85218E-E839-47D1-A626-0BA0010B358E}"/>
                  </a:ext>
                </a:extLst>
              </p:cNvPr>
              <p:cNvSpPr txBox="1"/>
              <p:nvPr/>
            </p:nvSpPr>
            <p:spPr>
              <a:xfrm>
                <a:off x="6535047" y="4993481"/>
                <a:ext cx="3058607" cy="101566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Test Drive booking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Experience Centres </a:t>
                </a: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at Malls, Events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SMS and Email Marketing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Loyalty/Exchange Programs</a:t>
                </a:r>
              </a:p>
              <a:p>
                <a:pPr marL="171450" indent="-171450">
                  <a:buFont typeface="Arial" panose="020B0604020202020204" pitchFamily="34" charset="0"/>
                  <a:buChar char="•"/>
                </a:pPr>
                <a:r>
                  <a:rPr lang="en-IN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Availability (Dealers, Website, App)</a:t>
                </a:r>
              </a:p>
            </p:txBody>
          </p:sp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E52FE237-F625-40A3-B35C-0C817BA43754}"/>
                  </a:ext>
                </a:extLst>
              </p:cNvPr>
              <p:cNvSpPr txBox="1"/>
              <p:nvPr/>
            </p:nvSpPr>
            <p:spPr>
              <a:xfrm>
                <a:off x="9275154" y="3193276"/>
                <a:ext cx="64438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IN" sz="1200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Target </a:t>
                </a:r>
              </a:p>
            </p:txBody>
          </p:sp>
          <p:graphicFrame>
            <p:nvGraphicFramePr>
              <p:cNvPr id="136" name="Chart 135">
                <a:extLst>
                  <a:ext uri="{FF2B5EF4-FFF2-40B4-BE49-F238E27FC236}">
                    <a16:creationId xmlns:a16="http://schemas.microsoft.com/office/drawing/2014/main" id="{E321C8EC-7452-4904-BEE3-2B8326C305E8}"/>
                  </a:ext>
                </a:extLst>
              </p:cNvPr>
              <p:cNvGraphicFramePr>
                <a:graphicFrameLocks/>
              </p:cNvGraphicFramePr>
              <p:nvPr>
                <p:custDataLst>
                  <p:tags r:id="rId1"/>
                </p:custDataLst>
                <p:extLst>
                  <p:ext uri="{D42A27DB-BD31-4B8C-83A1-F6EECF244321}">
                    <p14:modId xmlns:p14="http://schemas.microsoft.com/office/powerpoint/2010/main" val="3476238792"/>
                  </p:ext>
                </p:extLst>
              </p:nvPr>
            </p:nvGraphicFramePr>
            <p:xfrm>
              <a:off x="9319863" y="4796934"/>
              <a:ext cx="2351713" cy="1437961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11"/>
              </a:graphicData>
            </a:graphic>
          </p:graphicFrame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2E5942B5-CF86-44AD-8A0B-804006DFA6EE}"/>
                  </a:ext>
                </a:extLst>
              </p:cNvPr>
              <p:cNvSpPr txBox="1"/>
              <p:nvPr/>
            </p:nvSpPr>
            <p:spPr>
              <a:xfrm>
                <a:off x="9549123" y="5873116"/>
                <a:ext cx="2122453" cy="5386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0">
                  <a:defRPr sz="1400" b="0" i="0" u="none" strike="noStrike" kern="1200" spc="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1100">
                    <a:latin typeface="Arial" panose="020B0604020202020204" pitchFamily="34" charset="0"/>
                    <a:cs typeface="Arial" panose="020B0604020202020204" pitchFamily="34" charset="0"/>
                  </a:rPr>
                  <a:t>People</a:t>
                </a:r>
                <a:r>
                  <a:rPr lang="en-IN" sz="1100" baseline="0">
                    <a:latin typeface="Arial" panose="020B0604020202020204" pitchFamily="34" charset="0"/>
                    <a:cs typeface="Arial" panose="020B0604020202020204" pitchFamily="34" charset="0"/>
                  </a:rPr>
                  <a:t> interested in buying a 2W EV by 2023</a:t>
                </a:r>
              </a:p>
              <a:p>
                <a:pPr algn="ctr" rtl="0">
                  <a:defRPr sz="1400" b="0" i="0" u="none" strike="noStrike" kern="1200" spc="0" baseline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700">
                    <a:latin typeface="Arial" panose="020B0604020202020204" pitchFamily="34" charset="0"/>
                    <a:cs typeface="Arial" panose="020B0604020202020204" pitchFamily="34" charset="0"/>
                  </a:rPr>
                  <a:t>Source – Primary Research</a:t>
                </a:r>
              </a:p>
            </p:txBody>
          </p:sp>
        </p:grpSp>
        <p:sp>
          <p:nvSpPr>
            <p:cNvPr id="116" name="TextBox 115">
              <a:extLst>
                <a:ext uri="{FF2B5EF4-FFF2-40B4-BE49-F238E27FC236}">
                  <a16:creationId xmlns:a16="http://schemas.microsoft.com/office/drawing/2014/main" id="{E326EF94-DFE8-4D3C-B252-31F9B5C152AD}"/>
                </a:ext>
              </a:extLst>
            </p:cNvPr>
            <p:cNvSpPr txBox="1"/>
            <p:nvPr/>
          </p:nvSpPr>
          <p:spPr>
            <a:xfrm>
              <a:off x="458120" y="575352"/>
              <a:ext cx="5396110" cy="338554"/>
            </a:xfrm>
            <a:prstGeom prst="roundRect">
              <a:avLst/>
            </a:prstGeom>
            <a:solidFill>
              <a:srgbClr val="4A0E64"/>
            </a:solidFill>
            <a:effectLst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400" b="1" dirty="0">
                  <a:solidFill>
                    <a:schemeClr val="bg1"/>
                  </a:solidFill>
                  <a:latin typeface="Georgia" panose="02040502050405020303" pitchFamily="18" charset="0"/>
                </a:rPr>
                <a:t>Distribution Model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FD024345-41A0-40C4-9824-336862895746}"/>
                </a:ext>
              </a:extLst>
            </p:cNvPr>
            <p:cNvSpPr/>
            <p:nvPr/>
          </p:nvSpPr>
          <p:spPr>
            <a:xfrm>
              <a:off x="227012" y="3629294"/>
              <a:ext cx="5761037" cy="2629318"/>
            </a:xfrm>
            <a:prstGeom prst="roundRect">
              <a:avLst>
                <a:gd name="adj" fmla="val 4368"/>
              </a:avLst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F9877AD-C696-4DC5-80F9-37E2F04D677A}"/>
                </a:ext>
              </a:extLst>
            </p:cNvPr>
            <p:cNvCxnSpPr/>
            <p:nvPr/>
          </p:nvCxnSpPr>
          <p:spPr>
            <a:xfrm>
              <a:off x="6299200" y="572859"/>
              <a:ext cx="0" cy="5829913"/>
            </a:xfrm>
            <a:prstGeom prst="line">
              <a:avLst/>
            </a:prstGeom>
            <a:ln w="9525" cap="flat" cmpd="sng" algn="ctr">
              <a:solidFill>
                <a:schemeClr val="dk1"/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735F1999-3CD6-46DA-ADAE-A197C9294B1A}"/>
                </a:ext>
              </a:extLst>
            </p:cNvPr>
            <p:cNvSpPr/>
            <p:nvPr/>
          </p:nvSpPr>
          <p:spPr>
            <a:xfrm>
              <a:off x="234937" y="3955053"/>
              <a:ext cx="5787971" cy="2219806"/>
            </a:xfrm>
            <a:prstGeom prst="rect">
              <a:avLst/>
            </a:prstGeom>
            <a:noFill/>
            <a:ln>
              <a:solidFill>
                <a:srgbClr val="4F007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C3D65BD2-DACA-4869-A4BE-FFC023C6421C}"/>
                </a:ext>
              </a:extLst>
            </p:cNvPr>
            <p:cNvGrpSpPr/>
            <p:nvPr/>
          </p:nvGrpSpPr>
          <p:grpSpPr>
            <a:xfrm>
              <a:off x="0" y="6478216"/>
              <a:ext cx="12073411" cy="316618"/>
              <a:chOff x="0" y="6478216"/>
              <a:chExt cx="12073411" cy="316618"/>
            </a:xfrm>
          </p:grpSpPr>
          <p:grpSp>
            <p:nvGrpSpPr>
              <p:cNvPr id="131" name="Group 130">
                <a:extLst>
                  <a:ext uri="{FF2B5EF4-FFF2-40B4-BE49-F238E27FC236}">
                    <a16:creationId xmlns:a16="http://schemas.microsoft.com/office/drawing/2014/main" id="{FDD7C882-7E2E-4DEE-9372-6D9A52E47DFA}"/>
                  </a:ext>
                </a:extLst>
              </p:cNvPr>
              <p:cNvGrpSpPr/>
              <p:nvPr/>
            </p:nvGrpSpPr>
            <p:grpSpPr>
              <a:xfrm>
                <a:off x="0" y="6478216"/>
                <a:ext cx="2624654" cy="316618"/>
                <a:chOff x="2949" y="0"/>
                <a:chExt cx="2624654" cy="316618"/>
              </a:xfrm>
              <a:solidFill>
                <a:srgbClr val="4F0077"/>
              </a:solidFill>
            </p:grpSpPr>
            <p:sp>
              <p:nvSpPr>
                <p:cNvPr id="149" name="Arrow: Chevron 148">
                  <a:extLst>
                    <a:ext uri="{FF2B5EF4-FFF2-40B4-BE49-F238E27FC236}">
                      <a16:creationId xmlns:a16="http://schemas.microsoft.com/office/drawing/2014/main" id="{4D3CF193-2EC8-4C29-91E8-E954DFF7FF7D}"/>
                    </a:ext>
                  </a:extLst>
                </p:cNvPr>
                <p:cNvSpPr/>
                <p:nvPr/>
              </p:nvSpPr>
              <p:spPr>
                <a:xfrm>
                  <a:off x="2949" y="0"/>
                  <a:ext cx="2624654" cy="316618"/>
                </a:xfrm>
                <a:prstGeom prst="chevron">
                  <a:avLst/>
                </a:prstGeom>
                <a:grpFill/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50" name="Arrow: Chevron 4">
                  <a:extLst>
                    <a:ext uri="{FF2B5EF4-FFF2-40B4-BE49-F238E27FC236}">
                      <a16:creationId xmlns:a16="http://schemas.microsoft.com/office/drawing/2014/main" id="{1905CDC8-90AC-47C2-83F0-E85032E81C37}"/>
                    </a:ext>
                  </a:extLst>
                </p:cNvPr>
                <p:cNvSpPr txBox="1"/>
                <p:nvPr/>
              </p:nvSpPr>
              <p:spPr>
                <a:xfrm>
                  <a:off x="161258" y="0"/>
                  <a:ext cx="2308036" cy="316618"/>
                </a:xfrm>
                <a:prstGeom prst="rect">
                  <a:avLst/>
                </a:prstGeom>
                <a:noFill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56007" tIns="18669" rIns="18669" bIns="18669" numCol="1" spcCol="1270" anchor="ctr" anchorCtr="0">
                  <a:noAutofit/>
                </a:bodyPr>
                <a:lstStyle/>
                <a:p>
                  <a:pPr marL="0" lvl="0" indent="0"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IN" sz="1400" b="1" kern="1200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Industry </a:t>
                  </a:r>
                  <a:r>
                    <a:rPr lang="en-IN" sz="14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&amp; Pain points</a:t>
                  </a:r>
                  <a:endParaRPr lang="en-IN" sz="1400" b="1" kern="1200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34" name="Arrow: Chevron 133">
                <a:extLst>
                  <a:ext uri="{FF2B5EF4-FFF2-40B4-BE49-F238E27FC236}">
                    <a16:creationId xmlns:a16="http://schemas.microsoft.com/office/drawing/2014/main" id="{6E0FD50C-C95A-45F9-B928-7BB787764D21}"/>
                  </a:ext>
                </a:extLst>
              </p:cNvPr>
              <p:cNvSpPr/>
              <p:nvPr/>
            </p:nvSpPr>
            <p:spPr>
              <a:xfrm>
                <a:off x="2362189" y="6478216"/>
                <a:ext cx="2624654" cy="316618"/>
              </a:xfrm>
              <a:prstGeom prst="chevron">
                <a:avLst/>
              </a:prstGeom>
              <a:solidFill>
                <a:srgbClr val="4A0073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400" b="1" dirty="0">
                    <a:latin typeface="Calibri" panose="020F0502020204030204" pitchFamily="34" charset="0"/>
                    <a:cs typeface="Calibri" panose="020F0502020204030204" pitchFamily="34" charset="0"/>
                  </a:rPr>
                  <a:t>Market Opportunity</a:t>
                </a:r>
                <a:endParaRPr lang="en-IN" sz="1400" b="1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3D1BA2C5-7AFC-4A90-BB61-DE051A50AB60}"/>
                  </a:ext>
                </a:extLst>
              </p:cNvPr>
              <p:cNvGrpSpPr/>
              <p:nvPr/>
            </p:nvGrpSpPr>
            <p:grpSpPr>
              <a:xfrm>
                <a:off x="4724378" y="6478216"/>
                <a:ext cx="2624654" cy="316618"/>
                <a:chOff x="4727327" y="0"/>
                <a:chExt cx="2624654" cy="316618"/>
              </a:xfrm>
            </p:grpSpPr>
            <p:sp>
              <p:nvSpPr>
                <p:cNvPr id="147" name="Arrow: Chevron 146">
                  <a:extLst>
                    <a:ext uri="{FF2B5EF4-FFF2-40B4-BE49-F238E27FC236}">
                      <a16:creationId xmlns:a16="http://schemas.microsoft.com/office/drawing/2014/main" id="{EDF8D751-133F-4DF5-9527-0327F4C0820C}"/>
                    </a:ext>
                  </a:extLst>
                </p:cNvPr>
                <p:cNvSpPr/>
                <p:nvPr/>
              </p:nvSpPr>
              <p:spPr>
                <a:xfrm>
                  <a:off x="4727327" y="0"/>
                  <a:ext cx="2624654" cy="316618"/>
                </a:xfrm>
                <a:prstGeom prst="chevron">
                  <a:avLst/>
                </a:prstGeom>
                <a:solidFill>
                  <a:srgbClr val="4F0077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48" name="Arrow: Chevron 8">
                  <a:extLst>
                    <a:ext uri="{FF2B5EF4-FFF2-40B4-BE49-F238E27FC236}">
                      <a16:creationId xmlns:a16="http://schemas.microsoft.com/office/drawing/2014/main" id="{F8097D40-7B03-478B-86C5-7943706AFCBF}"/>
                    </a:ext>
                  </a:extLst>
                </p:cNvPr>
                <p:cNvSpPr txBox="1"/>
                <p:nvPr/>
              </p:nvSpPr>
              <p:spPr>
                <a:xfrm>
                  <a:off x="4885636" y="0"/>
                  <a:ext cx="2308036" cy="316618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48006" tIns="16002" rIns="16002" bIns="16002" numCol="1" spcCol="1270" anchor="ctr" anchorCtr="0">
                  <a:noAutofit/>
                </a:bodyPr>
                <a:lstStyle/>
                <a:p>
                  <a:pPr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14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GTM Strategy</a:t>
                  </a:r>
                  <a:endParaRPr lang="en-IN" sz="1400" b="1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38" name="Group 137">
                <a:extLst>
                  <a:ext uri="{FF2B5EF4-FFF2-40B4-BE49-F238E27FC236}">
                    <a16:creationId xmlns:a16="http://schemas.microsoft.com/office/drawing/2014/main" id="{01A911DE-C7AB-41CA-B924-8121E4D204B1}"/>
                  </a:ext>
                </a:extLst>
              </p:cNvPr>
              <p:cNvGrpSpPr/>
              <p:nvPr/>
            </p:nvGrpSpPr>
            <p:grpSpPr>
              <a:xfrm>
                <a:off x="7086567" y="6478216"/>
                <a:ext cx="2624654" cy="316618"/>
                <a:chOff x="7089516" y="0"/>
                <a:chExt cx="2624654" cy="316618"/>
              </a:xfrm>
            </p:grpSpPr>
            <p:sp>
              <p:nvSpPr>
                <p:cNvPr id="145" name="Arrow: Chevron 144">
                  <a:extLst>
                    <a:ext uri="{FF2B5EF4-FFF2-40B4-BE49-F238E27FC236}">
                      <a16:creationId xmlns:a16="http://schemas.microsoft.com/office/drawing/2014/main" id="{34152728-3C52-4D18-B2AB-B70970F5E3E6}"/>
                    </a:ext>
                  </a:extLst>
                </p:cNvPr>
                <p:cNvSpPr/>
                <p:nvPr/>
              </p:nvSpPr>
              <p:spPr>
                <a:xfrm>
                  <a:off x="7089516" y="0"/>
                  <a:ext cx="2624654" cy="316618"/>
                </a:xfrm>
                <a:prstGeom prst="chevron">
                  <a:avLst/>
                </a:prstGeom>
                <a:solidFill>
                  <a:srgbClr val="923F5D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46" name="Arrow: Chevron 10">
                  <a:extLst>
                    <a:ext uri="{FF2B5EF4-FFF2-40B4-BE49-F238E27FC236}">
                      <a16:creationId xmlns:a16="http://schemas.microsoft.com/office/drawing/2014/main" id="{242348E5-A2D3-41EB-8420-63B8E1AEF333}"/>
                    </a:ext>
                  </a:extLst>
                </p:cNvPr>
                <p:cNvSpPr txBox="1"/>
                <p:nvPr/>
              </p:nvSpPr>
              <p:spPr>
                <a:xfrm>
                  <a:off x="7247825" y="0"/>
                  <a:ext cx="2308036" cy="316618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48006" tIns="16002" rIns="16002" bIns="16002" numCol="1" spcCol="1270" anchor="ctr" anchorCtr="0">
                  <a:noAutofit/>
                </a:bodyPr>
                <a:lstStyle/>
                <a:p>
                  <a:pPr marL="0" lvl="0" indent="0" algn="ctr" defTabSz="5334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4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Distribution &amp; Marketing</a:t>
                  </a:r>
                  <a:endParaRPr lang="en-IN" sz="1400" b="1" dirty="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B2255A57-9EC9-46D8-8F8D-9713B1644E77}"/>
                  </a:ext>
                </a:extLst>
              </p:cNvPr>
              <p:cNvGrpSpPr/>
              <p:nvPr/>
            </p:nvGrpSpPr>
            <p:grpSpPr>
              <a:xfrm>
                <a:off x="9448757" y="6478216"/>
                <a:ext cx="2624654" cy="316618"/>
                <a:chOff x="9451706" y="0"/>
                <a:chExt cx="2624654" cy="316618"/>
              </a:xfrm>
            </p:grpSpPr>
            <p:sp>
              <p:nvSpPr>
                <p:cNvPr id="141" name="Arrow: Chevron 140">
                  <a:extLst>
                    <a:ext uri="{FF2B5EF4-FFF2-40B4-BE49-F238E27FC236}">
                      <a16:creationId xmlns:a16="http://schemas.microsoft.com/office/drawing/2014/main" id="{4C0E2C54-2B27-4B0F-A7C8-87303407768B}"/>
                    </a:ext>
                  </a:extLst>
                </p:cNvPr>
                <p:cNvSpPr/>
                <p:nvPr/>
              </p:nvSpPr>
              <p:spPr>
                <a:xfrm>
                  <a:off x="9451706" y="0"/>
                  <a:ext cx="2624654" cy="316618"/>
                </a:xfrm>
                <a:prstGeom prst="chevron">
                  <a:avLst/>
                </a:prstGeom>
                <a:solidFill>
                  <a:srgbClr val="4F0077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43" name="Arrow: Chevron 12">
                  <a:extLst>
                    <a:ext uri="{FF2B5EF4-FFF2-40B4-BE49-F238E27FC236}">
                      <a16:creationId xmlns:a16="http://schemas.microsoft.com/office/drawing/2014/main" id="{0E34388E-F1D5-4EAE-A44E-D44F23893FB7}"/>
                    </a:ext>
                  </a:extLst>
                </p:cNvPr>
                <p:cNvSpPr txBox="1"/>
                <p:nvPr/>
              </p:nvSpPr>
              <p:spPr>
                <a:xfrm>
                  <a:off x="9610015" y="0"/>
                  <a:ext cx="2308036" cy="316618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48006" tIns="16002" rIns="16002" bIns="16002" numCol="1" spcCol="1270" anchor="ctr" anchorCtr="0">
                  <a:noAutofit/>
                </a:bodyPr>
                <a:lstStyle/>
                <a:p>
                  <a:pPr marL="0" lvl="0" indent="0" algn="ctr" defTabSz="5334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IN" sz="1400" b="1" dirty="0">
                      <a:latin typeface="Calibri" panose="020F0502020204030204" pitchFamily="34" charset="0"/>
                      <a:cs typeface="Calibri" panose="020F0502020204030204" pitchFamily="34" charset="0"/>
                    </a:rPr>
                    <a:t>Touchpoints &amp; KPIs</a:t>
                  </a:r>
                </a:p>
              </p:txBody>
            </p:sp>
          </p:grpSp>
        </p:grpSp>
        <p:pic>
          <p:nvPicPr>
            <p:cNvPr id="38" name="Picture 37" descr="Diagram&#10;&#10;Description automatically generated">
              <a:extLst>
                <a:ext uri="{FF2B5EF4-FFF2-40B4-BE49-F238E27FC236}">
                  <a16:creationId xmlns:a16="http://schemas.microsoft.com/office/drawing/2014/main" id="{5E22D3F1-471D-4FE7-BBF5-7A84267285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06983" y="920809"/>
              <a:ext cx="6078307" cy="28146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022847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F37E4367-4415-4BDF-B23D-B1722CB22968}"/>
              </a:ext>
            </a:extLst>
          </p:cNvPr>
          <p:cNvGrpSpPr/>
          <p:nvPr/>
        </p:nvGrpSpPr>
        <p:grpSpPr>
          <a:xfrm>
            <a:off x="0" y="41043"/>
            <a:ext cx="12192000" cy="6753791"/>
            <a:chOff x="0" y="41043"/>
            <a:chExt cx="12192000" cy="6753791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35D41D18-EAA0-42CB-80AD-60EA6E95ACAE}"/>
                </a:ext>
              </a:extLst>
            </p:cNvPr>
            <p:cNvSpPr/>
            <p:nvPr/>
          </p:nvSpPr>
          <p:spPr>
            <a:xfrm>
              <a:off x="149422" y="555083"/>
              <a:ext cx="7855104" cy="3888670"/>
            </a:xfrm>
            <a:prstGeom prst="rect">
              <a:avLst/>
            </a:prstGeom>
            <a:noFill/>
            <a:ln>
              <a:solidFill>
                <a:srgbClr val="4F0077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5FD44A-1E39-45E0-BE4D-EA38B9FCC14B}"/>
                </a:ext>
              </a:extLst>
            </p:cNvPr>
            <p:cNvSpPr txBox="1"/>
            <p:nvPr/>
          </p:nvSpPr>
          <p:spPr>
            <a:xfrm>
              <a:off x="462453" y="41043"/>
              <a:ext cx="100297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600" b="1" dirty="0">
                  <a:solidFill>
                    <a:srgbClr val="470D64"/>
                  </a:solidFill>
                  <a:latin typeface="Georgia" panose="02040502050405020303" pitchFamily="18" charset="0"/>
                </a:rPr>
                <a:t>Touchpoints during Customer journey and  KPIs to measure success </a:t>
              </a: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902DE7F-00C3-4D19-AFAB-B56C8C8EBC28}"/>
                </a:ext>
              </a:extLst>
            </p:cNvPr>
            <p:cNvCxnSpPr/>
            <p:nvPr/>
          </p:nvCxnSpPr>
          <p:spPr>
            <a:xfrm>
              <a:off x="0" y="401379"/>
              <a:ext cx="12192000" cy="0"/>
            </a:xfrm>
            <a:prstGeom prst="line">
              <a:avLst/>
            </a:prstGeom>
            <a:ln>
              <a:solidFill>
                <a:srgbClr val="470D6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31D23D0-D7A7-4C45-BE89-1A5958C95D54}"/>
                </a:ext>
              </a:extLst>
            </p:cNvPr>
            <p:cNvGrpSpPr/>
            <p:nvPr/>
          </p:nvGrpSpPr>
          <p:grpSpPr>
            <a:xfrm>
              <a:off x="183793" y="685412"/>
              <a:ext cx="7780782" cy="3564637"/>
              <a:chOff x="4410173" y="2987151"/>
              <a:chExt cx="7780782" cy="3564637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8933F35C-19CB-4457-8F8E-7C9B7D5530FB}"/>
                  </a:ext>
                </a:extLst>
              </p:cNvPr>
              <p:cNvGrpSpPr/>
              <p:nvPr/>
            </p:nvGrpSpPr>
            <p:grpSpPr>
              <a:xfrm>
                <a:off x="4410173" y="2987151"/>
                <a:ext cx="7780782" cy="3564637"/>
                <a:chOff x="1447922" y="1698170"/>
                <a:chExt cx="10211431" cy="4678194"/>
              </a:xfrm>
            </p:grpSpPr>
            <p:sp>
              <p:nvSpPr>
                <p:cNvPr id="7" name="Freeform: Shape 6">
                  <a:extLst>
                    <a:ext uri="{FF2B5EF4-FFF2-40B4-BE49-F238E27FC236}">
                      <a16:creationId xmlns:a16="http://schemas.microsoft.com/office/drawing/2014/main" id="{E2091B6D-DE25-4AA8-AD32-1E3AF5D5845E}"/>
                    </a:ext>
                  </a:extLst>
                </p:cNvPr>
                <p:cNvSpPr/>
                <p:nvPr/>
              </p:nvSpPr>
              <p:spPr>
                <a:xfrm>
                  <a:off x="1511833" y="1698170"/>
                  <a:ext cx="1928614" cy="1983180"/>
                </a:xfrm>
                <a:custGeom>
                  <a:avLst/>
                  <a:gdLst>
                    <a:gd name="connsiteX0" fmla="*/ 0 w 1928614"/>
                    <a:gd name="connsiteY0" fmla="*/ 0 h 1983180"/>
                    <a:gd name="connsiteX1" fmla="*/ 1928614 w 1928614"/>
                    <a:gd name="connsiteY1" fmla="*/ 246298 h 1983180"/>
                    <a:gd name="connsiteX2" fmla="*/ 1928614 w 1928614"/>
                    <a:gd name="connsiteY2" fmla="*/ 1736882 h 1983180"/>
                    <a:gd name="connsiteX3" fmla="*/ 0 w 1928614"/>
                    <a:gd name="connsiteY3" fmla="*/ 1983180 h 1983180"/>
                    <a:gd name="connsiteX4" fmla="*/ 0 w 1928614"/>
                    <a:gd name="connsiteY4" fmla="*/ 0 h 19831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28614" h="1983180">
                      <a:moveTo>
                        <a:pt x="0" y="0"/>
                      </a:moveTo>
                      <a:lnTo>
                        <a:pt x="1928614" y="246298"/>
                      </a:lnTo>
                      <a:lnTo>
                        <a:pt x="1928614" y="1736882"/>
                      </a:lnTo>
                      <a:lnTo>
                        <a:pt x="0" y="198318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42006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Freeform: Shape 7">
                  <a:extLst>
                    <a:ext uri="{FF2B5EF4-FFF2-40B4-BE49-F238E27FC236}">
                      <a16:creationId xmlns:a16="http://schemas.microsoft.com/office/drawing/2014/main" id="{D4237AC1-4B5C-47A8-A474-013622F13833}"/>
                    </a:ext>
                  </a:extLst>
                </p:cNvPr>
                <p:cNvSpPr/>
                <p:nvPr/>
              </p:nvSpPr>
              <p:spPr>
                <a:xfrm>
                  <a:off x="3437137" y="1945790"/>
                  <a:ext cx="1955681" cy="1487944"/>
                </a:xfrm>
                <a:custGeom>
                  <a:avLst/>
                  <a:gdLst>
                    <a:gd name="connsiteX0" fmla="*/ 0 w 1955681"/>
                    <a:gd name="connsiteY0" fmla="*/ 0 h 1487944"/>
                    <a:gd name="connsiteX1" fmla="*/ 1955681 w 1955681"/>
                    <a:gd name="connsiteY1" fmla="*/ 249754 h 1487944"/>
                    <a:gd name="connsiteX2" fmla="*/ 1955681 w 1955681"/>
                    <a:gd name="connsiteY2" fmla="*/ 1238190 h 1487944"/>
                    <a:gd name="connsiteX3" fmla="*/ 0 w 1955681"/>
                    <a:gd name="connsiteY3" fmla="*/ 1487944 h 1487944"/>
                    <a:gd name="connsiteX4" fmla="*/ 0 w 1955681"/>
                    <a:gd name="connsiteY4" fmla="*/ 0 h 148794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55681" h="1487944">
                      <a:moveTo>
                        <a:pt x="0" y="0"/>
                      </a:moveTo>
                      <a:lnTo>
                        <a:pt x="1955681" y="249754"/>
                      </a:lnTo>
                      <a:lnTo>
                        <a:pt x="1955681" y="1238190"/>
                      </a:lnTo>
                      <a:lnTo>
                        <a:pt x="0" y="1487944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50156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Freeform: Shape 8">
                  <a:extLst>
                    <a:ext uri="{FF2B5EF4-FFF2-40B4-BE49-F238E27FC236}">
                      <a16:creationId xmlns:a16="http://schemas.microsoft.com/office/drawing/2014/main" id="{F81EC6D8-E43E-4802-A723-7F0CDF4A066C}"/>
                    </a:ext>
                  </a:extLst>
                </p:cNvPr>
                <p:cNvSpPr/>
                <p:nvPr/>
              </p:nvSpPr>
              <p:spPr>
                <a:xfrm>
                  <a:off x="5391279" y="2196863"/>
                  <a:ext cx="1955680" cy="985796"/>
                </a:xfrm>
                <a:custGeom>
                  <a:avLst/>
                  <a:gdLst>
                    <a:gd name="connsiteX0" fmla="*/ 0 w 1955680"/>
                    <a:gd name="connsiteY0" fmla="*/ 0 h 985796"/>
                    <a:gd name="connsiteX1" fmla="*/ 1955680 w 1955680"/>
                    <a:gd name="connsiteY1" fmla="*/ 249754 h 985796"/>
                    <a:gd name="connsiteX2" fmla="*/ 1955680 w 1955680"/>
                    <a:gd name="connsiteY2" fmla="*/ 736042 h 985796"/>
                    <a:gd name="connsiteX3" fmla="*/ 0 w 1955680"/>
                    <a:gd name="connsiteY3" fmla="*/ 985796 h 985796"/>
                    <a:gd name="connsiteX4" fmla="*/ 0 w 1955680"/>
                    <a:gd name="connsiteY4" fmla="*/ 0 h 985796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1955680" h="985796">
                      <a:moveTo>
                        <a:pt x="0" y="0"/>
                      </a:moveTo>
                      <a:lnTo>
                        <a:pt x="1955680" y="249754"/>
                      </a:lnTo>
                      <a:lnTo>
                        <a:pt x="1955680" y="736042"/>
                      </a:lnTo>
                      <a:lnTo>
                        <a:pt x="0" y="985796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67246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Freeform: Shape 9">
                  <a:extLst>
                    <a:ext uri="{FF2B5EF4-FFF2-40B4-BE49-F238E27FC236}">
                      <a16:creationId xmlns:a16="http://schemas.microsoft.com/office/drawing/2014/main" id="{C27FB1E6-E8C6-43BC-AE8E-FAC200C87ADE}"/>
                    </a:ext>
                  </a:extLst>
                </p:cNvPr>
                <p:cNvSpPr/>
                <p:nvPr/>
              </p:nvSpPr>
              <p:spPr>
                <a:xfrm>
                  <a:off x="7345421" y="2447938"/>
                  <a:ext cx="1893580" cy="483647"/>
                </a:xfrm>
                <a:custGeom>
                  <a:avLst/>
                  <a:gdLst>
                    <a:gd name="connsiteX0" fmla="*/ 0 w 1893580"/>
                    <a:gd name="connsiteY0" fmla="*/ 0 h 483647"/>
                    <a:gd name="connsiteX1" fmla="*/ 1893580 w 1893580"/>
                    <a:gd name="connsiteY1" fmla="*/ 241823 h 483647"/>
                    <a:gd name="connsiteX2" fmla="*/ 0 w 1893580"/>
                    <a:gd name="connsiteY2" fmla="*/ 483647 h 483647"/>
                    <a:gd name="connsiteX3" fmla="*/ 0 w 1893580"/>
                    <a:gd name="connsiteY3" fmla="*/ 0 h 48364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1893580" h="483647">
                      <a:moveTo>
                        <a:pt x="0" y="0"/>
                      </a:moveTo>
                      <a:lnTo>
                        <a:pt x="1893580" y="241823"/>
                      </a:lnTo>
                      <a:lnTo>
                        <a:pt x="0" y="48364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792F5F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Isosceles Triangle 10">
                  <a:extLst>
                    <a:ext uri="{FF2B5EF4-FFF2-40B4-BE49-F238E27FC236}">
                      <a16:creationId xmlns:a16="http://schemas.microsoft.com/office/drawing/2014/main" id="{98DE4A91-8A54-46C9-907E-4255709D9AB2}"/>
                    </a:ext>
                  </a:extLst>
                </p:cNvPr>
                <p:cNvSpPr/>
                <p:nvPr/>
              </p:nvSpPr>
              <p:spPr>
                <a:xfrm rot="16200000">
                  <a:off x="9820684" y="1753313"/>
                  <a:ext cx="1160851" cy="1872897"/>
                </a:xfrm>
                <a:prstGeom prst="triangle">
                  <a:avLst/>
                </a:prstGeom>
                <a:solidFill>
                  <a:srgbClr val="752A62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5EB1BAD5-180F-4910-9760-B3337E3F7B47}"/>
                    </a:ext>
                  </a:extLst>
                </p:cNvPr>
                <p:cNvSpPr/>
                <p:nvPr/>
              </p:nvSpPr>
              <p:spPr>
                <a:xfrm>
                  <a:off x="11046720" y="2360004"/>
                  <a:ext cx="581675" cy="581675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3" name="Straight Connector 12">
                  <a:extLst>
                    <a:ext uri="{FF2B5EF4-FFF2-40B4-BE49-F238E27FC236}">
                      <a16:creationId xmlns:a16="http://schemas.microsoft.com/office/drawing/2014/main" id="{7A0AAFA0-8BDE-435F-93A7-42513EC941C4}"/>
                    </a:ext>
                  </a:extLst>
                </p:cNvPr>
                <p:cNvCxnSpPr/>
                <p:nvPr/>
              </p:nvCxnSpPr>
              <p:spPr>
                <a:xfrm>
                  <a:off x="3435599" y="3429000"/>
                  <a:ext cx="0" cy="2674917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" name="Straight Connector 14">
                  <a:extLst>
                    <a:ext uri="{FF2B5EF4-FFF2-40B4-BE49-F238E27FC236}">
                      <a16:creationId xmlns:a16="http://schemas.microsoft.com/office/drawing/2014/main" id="{5A8A9F56-04A3-495D-9CF0-4A5513DDA5E3}"/>
                    </a:ext>
                  </a:extLst>
                </p:cNvPr>
                <p:cNvCxnSpPr/>
                <p:nvPr/>
              </p:nvCxnSpPr>
              <p:spPr>
                <a:xfrm>
                  <a:off x="5420199" y="3429000"/>
                  <a:ext cx="0" cy="2674917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" name="Straight Connector 15">
                  <a:extLst>
                    <a:ext uri="{FF2B5EF4-FFF2-40B4-BE49-F238E27FC236}">
                      <a16:creationId xmlns:a16="http://schemas.microsoft.com/office/drawing/2014/main" id="{1857B47F-F554-478C-AB67-91AD707105CD}"/>
                    </a:ext>
                  </a:extLst>
                </p:cNvPr>
                <p:cNvCxnSpPr/>
                <p:nvPr/>
              </p:nvCxnSpPr>
              <p:spPr>
                <a:xfrm>
                  <a:off x="7386098" y="3429000"/>
                  <a:ext cx="0" cy="2674917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Straight Connector 16">
                  <a:extLst>
                    <a:ext uri="{FF2B5EF4-FFF2-40B4-BE49-F238E27FC236}">
                      <a16:creationId xmlns:a16="http://schemas.microsoft.com/office/drawing/2014/main" id="{2795D813-5E0A-4751-B4A9-5B98C25DBEA1}"/>
                    </a:ext>
                  </a:extLst>
                </p:cNvPr>
                <p:cNvCxnSpPr/>
                <p:nvPr/>
              </p:nvCxnSpPr>
              <p:spPr>
                <a:xfrm>
                  <a:off x="9348600" y="3429000"/>
                  <a:ext cx="0" cy="2674917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E09939BD-C71F-4C10-ACDE-0C60567B9055}"/>
                    </a:ext>
                  </a:extLst>
                </p:cNvPr>
                <p:cNvGrpSpPr/>
                <p:nvPr/>
              </p:nvGrpSpPr>
              <p:grpSpPr>
                <a:xfrm>
                  <a:off x="1447922" y="3828388"/>
                  <a:ext cx="1946274" cy="1845670"/>
                  <a:chOff x="1447922" y="3828388"/>
                  <a:chExt cx="1946274" cy="1845670"/>
                </a:xfrm>
              </p:grpSpPr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0A1CB30E-839B-4D2D-B84D-C91B20087663}"/>
                      </a:ext>
                    </a:extLst>
                  </p:cNvPr>
                  <p:cNvSpPr txBox="1"/>
                  <p:nvPr/>
                </p:nvSpPr>
                <p:spPr>
                  <a:xfrm>
                    <a:off x="1447922" y="3828388"/>
                    <a:ext cx="1882238" cy="48470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lvl="0" algn="r"/>
                    <a:r>
                      <a:rPr lang="en-US" sz="1200" b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Consider, Explore, Compare, Research</a:t>
                    </a:r>
                  </a:p>
                </p:txBody>
              </p:sp>
              <p:sp>
                <p:nvSpPr>
                  <p:cNvPr id="56" name="TextBox 55">
                    <a:extLst>
                      <a:ext uri="{FF2B5EF4-FFF2-40B4-BE49-F238E27FC236}">
                        <a16:creationId xmlns:a16="http://schemas.microsoft.com/office/drawing/2014/main" id="{4C40D923-06E1-4900-8B53-FD9130EFA1DA}"/>
                      </a:ext>
                    </a:extLst>
                  </p:cNvPr>
                  <p:cNvSpPr txBox="1"/>
                  <p:nvPr/>
                </p:nvSpPr>
                <p:spPr>
                  <a:xfrm>
                    <a:off x="1554825" y="4563270"/>
                    <a:ext cx="1839371" cy="11107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171450" lvl="0" indent="-171450">
                      <a:buFont typeface="Arial" panose="020B0604020202020204" pitchFamily="34" charset="0"/>
                      <a:buChar char="•"/>
                    </a:pPr>
                    <a:r>
                      <a:rPr lang="en-US" sz="11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Introduction to product through ads &amp; social media</a:t>
                    </a:r>
                  </a:p>
                  <a:p>
                    <a:pPr marL="171450" lvl="0" indent="-171450">
                      <a:buFont typeface="Arial" panose="020B0604020202020204" pitchFamily="34" charset="0"/>
                      <a:buChar char="•"/>
                    </a:pPr>
                    <a:r>
                      <a:rPr lang="en-US" sz="11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Referrals</a:t>
                    </a:r>
                  </a:p>
                  <a:p>
                    <a:pPr marL="171450" lvl="0" indent="-171450">
                      <a:buFont typeface="Arial" panose="020B0604020202020204" pitchFamily="34" charset="0"/>
                      <a:buChar char="•"/>
                    </a:pPr>
                    <a:r>
                      <a:rPr lang="en-US" sz="11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SEO</a:t>
                    </a:r>
                    <a:endParaRPr lang="en-US" sz="1400">
                      <a:latin typeface="Georgia Pro Light" panose="02040302050405020303" pitchFamily="18" charset="0"/>
                    </a:endParaRPr>
                  </a:p>
                </p:txBody>
              </p:sp>
            </p:grpSp>
            <p:cxnSp>
              <p:nvCxnSpPr>
                <p:cNvPr id="23" name="Straight Connector 22">
                  <a:extLst>
                    <a:ext uri="{FF2B5EF4-FFF2-40B4-BE49-F238E27FC236}">
                      <a16:creationId xmlns:a16="http://schemas.microsoft.com/office/drawing/2014/main" id="{9575F4F7-EE7D-4EE8-8E38-A25D9F6FE3F8}"/>
                    </a:ext>
                  </a:extLst>
                </p:cNvPr>
                <p:cNvCxnSpPr/>
                <p:nvPr/>
              </p:nvCxnSpPr>
              <p:spPr>
                <a:xfrm>
                  <a:off x="11316527" y="3429000"/>
                  <a:ext cx="0" cy="2674917"/>
                </a:xfrm>
                <a:prstGeom prst="line">
                  <a:avLst/>
                </a:prstGeom>
                <a:ln>
                  <a:solidFill>
                    <a:schemeClr val="bg1">
                      <a:lumMod val="8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4" name="Group 23">
                  <a:extLst>
                    <a:ext uri="{FF2B5EF4-FFF2-40B4-BE49-F238E27FC236}">
                      <a16:creationId xmlns:a16="http://schemas.microsoft.com/office/drawing/2014/main" id="{C006D21D-1D76-43E3-8CCC-C9BB41DDCE58}"/>
                    </a:ext>
                  </a:extLst>
                </p:cNvPr>
                <p:cNvGrpSpPr/>
                <p:nvPr/>
              </p:nvGrpSpPr>
              <p:grpSpPr>
                <a:xfrm>
                  <a:off x="3484950" y="3720074"/>
                  <a:ext cx="2001539" cy="1943964"/>
                  <a:chOff x="3596185" y="3720074"/>
                  <a:chExt cx="2001539" cy="1943964"/>
                </a:xfrm>
              </p:grpSpPr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1190A310-B581-44ED-817A-039020DD3CF9}"/>
                      </a:ext>
                    </a:extLst>
                  </p:cNvPr>
                  <p:cNvSpPr txBox="1"/>
                  <p:nvPr/>
                </p:nvSpPr>
                <p:spPr>
                  <a:xfrm>
                    <a:off x="3621586" y="3720074"/>
                    <a:ext cx="1835096" cy="72706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lvl="0" algn="ctr"/>
                    <a:r>
                      <a: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Visits website/app for Specification and features</a:t>
                    </a:r>
                  </a:p>
                </p:txBody>
              </p:sp>
              <p:sp>
                <p:nvSpPr>
                  <p:cNvPr id="52" name="TextBox 51">
                    <a:extLst>
                      <a:ext uri="{FF2B5EF4-FFF2-40B4-BE49-F238E27FC236}">
                        <a16:creationId xmlns:a16="http://schemas.microsoft.com/office/drawing/2014/main" id="{D31B5FA4-9DEC-478F-A159-6A2619D1C2DC}"/>
                      </a:ext>
                    </a:extLst>
                  </p:cNvPr>
                  <p:cNvSpPr txBox="1"/>
                  <p:nvPr/>
                </p:nvSpPr>
                <p:spPr>
                  <a:xfrm>
                    <a:off x="3596185" y="4553250"/>
                    <a:ext cx="2001539" cy="1110788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171450" lvl="0" indent="-171450">
                      <a:buFont typeface="Arial" panose="020B0604020202020204" pitchFamily="34" charset="0"/>
                      <a:buChar char="•"/>
                    </a:pPr>
                    <a:r>
                      <a:rPr lang="en-US" sz="11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Website UX/UI</a:t>
                    </a:r>
                  </a:p>
                  <a:p>
                    <a:pPr marL="171450" lvl="0" indent="-171450">
                      <a:buFont typeface="Arial" panose="020B0604020202020204" pitchFamily="34" charset="0"/>
                      <a:buChar char="•"/>
                    </a:pPr>
                    <a:r>
                      <a:rPr lang="en-US" sz="11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Blogs, Social media posts, online reviews</a:t>
                    </a:r>
                  </a:p>
                  <a:p>
                    <a:pPr marL="171450" lvl="0" indent="-171450">
                      <a:buFont typeface="Arial" panose="020B0604020202020204" pitchFamily="34" charset="0"/>
                      <a:buChar char="•"/>
                    </a:pPr>
                    <a:r>
                      <a:rPr lang="en-US" sz="11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Easy access to information</a:t>
                    </a:r>
                  </a:p>
                </p:txBody>
              </p:sp>
            </p:grpSp>
            <p:grpSp>
              <p:nvGrpSpPr>
                <p:cNvPr id="25" name="Group 24">
                  <a:extLst>
                    <a:ext uri="{FF2B5EF4-FFF2-40B4-BE49-F238E27FC236}">
                      <a16:creationId xmlns:a16="http://schemas.microsoft.com/office/drawing/2014/main" id="{448B0964-388D-43A8-B4F5-55FCD93FD257}"/>
                    </a:ext>
                  </a:extLst>
                </p:cNvPr>
                <p:cNvGrpSpPr/>
                <p:nvPr/>
              </p:nvGrpSpPr>
              <p:grpSpPr>
                <a:xfrm>
                  <a:off x="5504257" y="3726707"/>
                  <a:ext cx="1884928" cy="1958920"/>
                  <a:chOff x="5398224" y="3726707"/>
                  <a:chExt cx="1884928" cy="1958920"/>
                </a:xfrm>
              </p:grpSpPr>
              <p:sp>
                <p:nvSpPr>
                  <p:cNvPr id="48" name="TextBox 47">
                    <a:extLst>
                      <a:ext uri="{FF2B5EF4-FFF2-40B4-BE49-F238E27FC236}">
                        <a16:creationId xmlns:a16="http://schemas.microsoft.com/office/drawing/2014/main" id="{98B7AABA-EF32-48E9-A1EB-105278F0E542}"/>
                      </a:ext>
                    </a:extLst>
                  </p:cNvPr>
                  <p:cNvSpPr txBox="1"/>
                  <p:nvPr/>
                </p:nvSpPr>
                <p:spPr>
                  <a:xfrm>
                    <a:off x="5398224" y="3726707"/>
                    <a:ext cx="1810758" cy="72706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lvl="0" algn="ctr"/>
                    <a:r>
                      <a:rPr lang="en-US" sz="1200" b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Booking, Payment, Delivery Information</a:t>
                    </a:r>
                  </a:p>
                </p:txBody>
              </p:sp>
              <p:sp>
                <p:nvSpPr>
                  <p:cNvPr id="49" name="TextBox 48">
                    <a:extLst>
                      <a:ext uri="{FF2B5EF4-FFF2-40B4-BE49-F238E27FC236}">
                        <a16:creationId xmlns:a16="http://schemas.microsoft.com/office/drawing/2014/main" id="{A8D75829-7241-4563-878D-F6273A510DC4}"/>
                      </a:ext>
                    </a:extLst>
                  </p:cNvPr>
                  <p:cNvSpPr txBox="1"/>
                  <p:nvPr/>
                </p:nvSpPr>
                <p:spPr>
                  <a:xfrm>
                    <a:off x="5421859" y="4574838"/>
                    <a:ext cx="1861293" cy="1110789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US" sz="11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Easy booking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US" sz="11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Billing Action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US" sz="11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Great service support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US" sz="11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Responsive actions</a:t>
                    </a:r>
                  </a:p>
                </p:txBody>
              </p:sp>
            </p:grp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7CC06D23-30BE-4AC0-962C-EC20E0038BD6}"/>
                    </a:ext>
                  </a:extLst>
                </p:cNvPr>
                <p:cNvGrpSpPr/>
                <p:nvPr/>
              </p:nvGrpSpPr>
              <p:grpSpPr>
                <a:xfrm>
                  <a:off x="7430588" y="3732753"/>
                  <a:ext cx="2003755" cy="2186816"/>
                  <a:chOff x="7435791" y="3732753"/>
                  <a:chExt cx="2003755" cy="2186816"/>
                </a:xfrm>
              </p:grpSpPr>
              <p:sp>
                <p:nvSpPr>
                  <p:cNvPr id="45" name="TextBox 44">
                    <a:extLst>
                      <a:ext uri="{FF2B5EF4-FFF2-40B4-BE49-F238E27FC236}">
                        <a16:creationId xmlns:a16="http://schemas.microsoft.com/office/drawing/2014/main" id="{A0643CA2-E6B1-494B-A7FC-F4982D158CC4}"/>
                      </a:ext>
                    </a:extLst>
                  </p:cNvPr>
                  <p:cNvSpPr txBox="1"/>
                  <p:nvPr/>
                </p:nvSpPr>
                <p:spPr>
                  <a:xfrm>
                    <a:off x="7483807" y="3732753"/>
                    <a:ext cx="1869996" cy="72706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algn="ctr"/>
                    <a:r>
                      <a:rPr lang="en-US" sz="1200" b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Product Delivery, RC Documentation, Support</a:t>
                    </a:r>
                  </a:p>
                </p:txBody>
              </p:sp>
              <p:sp>
                <p:nvSpPr>
                  <p:cNvPr id="46" name="TextBox 45">
                    <a:extLst>
                      <a:ext uri="{FF2B5EF4-FFF2-40B4-BE49-F238E27FC236}">
                        <a16:creationId xmlns:a16="http://schemas.microsoft.com/office/drawing/2014/main" id="{3FD9DC78-B7AA-45E7-BD93-FB0E71A15D54}"/>
                      </a:ext>
                    </a:extLst>
                  </p:cNvPr>
                  <p:cNvSpPr txBox="1"/>
                  <p:nvPr/>
                </p:nvSpPr>
                <p:spPr>
                  <a:xfrm>
                    <a:off x="7435791" y="4586623"/>
                    <a:ext cx="2003755" cy="1332946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171450" lvl="0" indent="-171450">
                      <a:buFont typeface="Arial" panose="020B0604020202020204" pitchFamily="34" charset="0"/>
                      <a:buChar char="•"/>
                    </a:pPr>
                    <a:r>
                      <a:rPr lang="en-US" sz="11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Confirmation of vehicle status</a:t>
                    </a:r>
                  </a:p>
                  <a:p>
                    <a:pPr marL="171450" lvl="0" indent="-171450">
                      <a:buFont typeface="Arial" panose="020B0604020202020204" pitchFamily="34" charset="0"/>
                      <a:buChar char="•"/>
                    </a:pPr>
                    <a:r>
                      <a:rPr lang="en-US" sz="11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Thankyou messages</a:t>
                    </a:r>
                  </a:p>
                  <a:p>
                    <a:pPr marL="171450" lvl="0" indent="-171450">
                      <a:buFont typeface="Arial" panose="020B0604020202020204" pitchFamily="34" charset="0"/>
                      <a:buChar char="•"/>
                    </a:pPr>
                    <a:r>
                      <a:rPr lang="en-US" sz="11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Notification of important dates</a:t>
                    </a:r>
                  </a:p>
                  <a:p>
                    <a:pPr marL="171450" lvl="0" indent="-171450">
                      <a:buFont typeface="Arial" panose="020B0604020202020204" pitchFamily="34" charset="0"/>
                      <a:buChar char="•"/>
                    </a:pPr>
                    <a:r>
                      <a:rPr lang="en-US" sz="11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Helpline</a:t>
                    </a:r>
                  </a:p>
                </p:txBody>
              </p:sp>
            </p:grp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0484A410-5D8B-441A-B42F-D4C9A1938974}"/>
                    </a:ext>
                  </a:extLst>
                </p:cNvPr>
                <p:cNvGrpSpPr/>
                <p:nvPr/>
              </p:nvGrpSpPr>
              <p:grpSpPr>
                <a:xfrm>
                  <a:off x="9179960" y="3737005"/>
                  <a:ext cx="2316043" cy="2639359"/>
                  <a:chOff x="9179960" y="3737005"/>
                  <a:chExt cx="2316043" cy="2639359"/>
                </a:xfrm>
              </p:grpSpPr>
              <p:sp>
                <p:nvSpPr>
                  <p:cNvPr id="42" name="TextBox 41">
                    <a:extLst>
                      <a:ext uri="{FF2B5EF4-FFF2-40B4-BE49-F238E27FC236}">
                        <a16:creationId xmlns:a16="http://schemas.microsoft.com/office/drawing/2014/main" id="{0F67306D-E8AB-40A0-B686-BAA685DFD927}"/>
                      </a:ext>
                    </a:extLst>
                  </p:cNvPr>
                  <p:cNvSpPr txBox="1"/>
                  <p:nvPr/>
                </p:nvSpPr>
                <p:spPr>
                  <a:xfrm>
                    <a:off x="9179960" y="3737005"/>
                    <a:ext cx="2316043" cy="727062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lvl="0" algn="ctr"/>
                    <a:r>
                      <a:rPr lang="en-US" sz="1200" b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Maintenance, </a:t>
                    </a:r>
                  </a:p>
                  <a:p>
                    <a:pPr lvl="0" algn="ctr"/>
                    <a:r>
                      <a:rPr lang="en-US" sz="1200" b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Notification, </a:t>
                    </a:r>
                  </a:p>
                  <a:p>
                    <a:pPr lvl="0" algn="ctr"/>
                    <a:r>
                      <a:rPr lang="en-US" sz="1200" b="1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Feedback</a:t>
                    </a:r>
                    <a:endParaRPr lang="en-US" sz="1600" b="1">
                      <a:latin typeface="Georgia Pro Light" panose="02040302050405020303" pitchFamily="18" charset="0"/>
                    </a:endParaRPr>
                  </a:p>
                </p:txBody>
              </p:sp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7E6D734F-8067-4A32-8494-2B2CBB2522A8}"/>
                      </a:ext>
                    </a:extLst>
                  </p:cNvPr>
                  <p:cNvSpPr txBox="1"/>
                  <p:nvPr/>
                </p:nvSpPr>
                <p:spPr>
                  <a:xfrm>
                    <a:off x="9481502" y="4599103"/>
                    <a:ext cx="1922185" cy="1777261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>
                    <a:spAutoFit/>
                  </a:bodyPr>
                  <a:lstStyle/>
                  <a:p>
                    <a:pPr marL="171450" lvl="0" indent="-171450">
                      <a:buFont typeface="Arial" panose="020B0604020202020204" pitchFamily="34" charset="0"/>
                      <a:buChar char="•"/>
                    </a:pPr>
                    <a:r>
                      <a:rPr lang="en-US" sz="11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Vehicle status</a:t>
                    </a:r>
                  </a:p>
                  <a:p>
                    <a:pPr marL="171450" lvl="0" indent="-171450">
                      <a:buFont typeface="Arial" panose="020B0604020202020204" pitchFamily="34" charset="0"/>
                      <a:buChar char="•"/>
                    </a:pPr>
                    <a:r>
                      <a:rPr lang="en-US" sz="11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Smart Security Information about vehicle usage</a:t>
                    </a:r>
                  </a:p>
                  <a:p>
                    <a:pPr marL="171450" lvl="0" indent="-171450">
                      <a:buFont typeface="Arial" panose="020B0604020202020204" pitchFamily="34" charset="0"/>
                      <a:buChar char="•"/>
                    </a:pPr>
                    <a:r>
                      <a:rPr lang="en-US" sz="11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Feedback Surveys</a:t>
                    </a:r>
                  </a:p>
                  <a:p>
                    <a:pPr marL="171450" lvl="0" indent="-171450">
                      <a:buFont typeface="Arial" panose="020B0604020202020204" pitchFamily="34" charset="0"/>
                      <a:buChar char="•"/>
                    </a:pPr>
                    <a:r>
                      <a:rPr lang="en-US" sz="11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Community Groups</a:t>
                    </a:r>
                  </a:p>
                  <a:p>
                    <a:pPr marL="171450" indent="-171450">
                      <a:buFont typeface="Arial" panose="020B0604020202020204" pitchFamily="34" charset="0"/>
                      <a:buChar char="•"/>
                    </a:pPr>
                    <a:r>
                      <a:rPr lang="en-US" sz="110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Loyalty Points</a:t>
                    </a:r>
                  </a:p>
                  <a:p>
                    <a:pPr marL="171450" lvl="0" indent="-171450">
                      <a:buFont typeface="Arial" panose="020B0604020202020204" pitchFamily="34" charset="0"/>
                      <a:buChar char="•"/>
                    </a:pPr>
                    <a:endParaRPr lang="en-US" sz="110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3E6BF59F-01EA-4EAF-A086-45BE7C87CB1B}"/>
                    </a:ext>
                  </a:extLst>
                </p:cNvPr>
                <p:cNvSpPr/>
                <p:nvPr/>
              </p:nvSpPr>
              <p:spPr>
                <a:xfrm>
                  <a:off x="8962437" y="2351098"/>
                  <a:ext cx="677326" cy="677326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Oval 28">
                  <a:extLst>
                    <a:ext uri="{FF2B5EF4-FFF2-40B4-BE49-F238E27FC236}">
                      <a16:creationId xmlns:a16="http://schemas.microsoft.com/office/drawing/2014/main" id="{7A9649DC-0B7A-40FB-A1B1-A704A3F3E9F5}"/>
                    </a:ext>
                  </a:extLst>
                </p:cNvPr>
                <p:cNvSpPr/>
                <p:nvPr/>
              </p:nvSpPr>
              <p:spPr>
                <a:xfrm>
                  <a:off x="3101827" y="2351098"/>
                  <a:ext cx="677326" cy="677326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Oval 29">
                  <a:extLst>
                    <a:ext uri="{FF2B5EF4-FFF2-40B4-BE49-F238E27FC236}">
                      <a16:creationId xmlns:a16="http://schemas.microsoft.com/office/drawing/2014/main" id="{C6CAF611-036A-4C2C-A121-2C5C18E02DC2}"/>
                    </a:ext>
                  </a:extLst>
                </p:cNvPr>
                <p:cNvSpPr/>
                <p:nvPr/>
              </p:nvSpPr>
              <p:spPr>
                <a:xfrm>
                  <a:off x="5051136" y="2351098"/>
                  <a:ext cx="677326" cy="677326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1" name="Oval 30">
                  <a:extLst>
                    <a:ext uri="{FF2B5EF4-FFF2-40B4-BE49-F238E27FC236}">
                      <a16:creationId xmlns:a16="http://schemas.microsoft.com/office/drawing/2014/main" id="{53FDBEB1-9679-4D2F-A36F-A16422700424}"/>
                    </a:ext>
                  </a:extLst>
                </p:cNvPr>
                <p:cNvSpPr/>
                <p:nvPr/>
              </p:nvSpPr>
              <p:spPr>
                <a:xfrm>
                  <a:off x="7018282" y="2372398"/>
                  <a:ext cx="677326" cy="677326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pic>
              <p:nvPicPr>
                <p:cNvPr id="32" name="Picture 2" descr="Search Icon - Free Download, PNG and Vector">
                  <a:extLst>
                    <a:ext uri="{FF2B5EF4-FFF2-40B4-BE49-F238E27FC236}">
                      <a16:creationId xmlns:a16="http://schemas.microsoft.com/office/drawing/2014/main" id="{DDBDF8E0-3C8E-4AFB-B525-7DDCD99C3F5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 cstate="print">
                  <a:duotone>
                    <a:prstClr val="black"/>
                    <a:srgbClr val="4A0E64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4">
                          <a14:imgEffect>
                            <a14:brightnessContrast bright="20000" contrast="-2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140322" y="2392584"/>
                  <a:ext cx="516515" cy="51651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F7F43F67-C0D3-4CED-994C-922AB7E150FD}"/>
                    </a:ext>
                  </a:extLst>
                </p:cNvPr>
                <p:cNvSpPr txBox="1"/>
                <p:nvPr/>
              </p:nvSpPr>
              <p:spPr>
                <a:xfrm>
                  <a:off x="1546317" y="2515822"/>
                  <a:ext cx="1678616" cy="44431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lvl="0" algn="ctr"/>
                  <a:r>
                    <a:rPr lang="en-US" sz="1100" b="1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eorgia" panose="02040502050405020303" pitchFamily="18" charset="0"/>
                    </a:rPr>
                    <a:t>Research &amp; </a:t>
                  </a:r>
                </a:p>
                <a:p>
                  <a:pPr lvl="0" algn="ctr"/>
                  <a:r>
                    <a:rPr lang="en-US" sz="1100" b="1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eorgia" panose="02040502050405020303" pitchFamily="18" charset="0"/>
                    </a:rPr>
                    <a:t>Planning</a:t>
                  </a: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E8C057B8-2C8A-4522-8C04-587899557B90}"/>
                    </a:ext>
                  </a:extLst>
                </p:cNvPr>
                <p:cNvSpPr txBox="1"/>
                <p:nvPr/>
              </p:nvSpPr>
              <p:spPr>
                <a:xfrm>
                  <a:off x="3582971" y="2599983"/>
                  <a:ext cx="1678616" cy="22215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lvl="0" algn="ctr"/>
                  <a:r>
                    <a:rPr lang="en-US" sz="1100" b="1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eorgia" panose="02040502050405020303" pitchFamily="18" charset="0"/>
                    </a:rPr>
                    <a:t>Pre-buying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18FACB1-2644-4FF9-AF14-6A197F130DE2}"/>
                    </a:ext>
                  </a:extLst>
                </p:cNvPr>
                <p:cNvSpPr txBox="1"/>
                <p:nvPr/>
              </p:nvSpPr>
              <p:spPr>
                <a:xfrm>
                  <a:off x="5529811" y="2570164"/>
                  <a:ext cx="1678616" cy="22215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lvl="0" algn="ctr"/>
                  <a:r>
                    <a:rPr lang="en-US" sz="1100" b="1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eorgia" panose="02040502050405020303" pitchFamily="18" charset="0"/>
                    </a:rPr>
                    <a:t>Booking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BB5EEC3A-B964-41B6-B3F7-0F2E42FCA4F9}"/>
                    </a:ext>
                  </a:extLst>
                </p:cNvPr>
                <p:cNvSpPr txBox="1"/>
                <p:nvPr/>
              </p:nvSpPr>
              <p:spPr>
                <a:xfrm>
                  <a:off x="7386098" y="2570164"/>
                  <a:ext cx="1678616" cy="22215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lvl="0" algn="ctr"/>
                  <a:r>
                    <a:rPr lang="en-US" sz="1100" b="1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eorgia" panose="02040502050405020303" pitchFamily="18" charset="0"/>
                    </a:rPr>
                    <a:t>Handover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293F5AC1-9A31-4F30-9ED8-F8A8580A7775}"/>
                    </a:ext>
                  </a:extLst>
                </p:cNvPr>
                <p:cNvSpPr txBox="1"/>
                <p:nvPr/>
              </p:nvSpPr>
              <p:spPr>
                <a:xfrm>
                  <a:off x="9820524" y="2478327"/>
                  <a:ext cx="1678616" cy="444315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lvl="0" algn="ctr"/>
                  <a:r>
                    <a:rPr lang="en-US" sz="1100" b="1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eorgia" panose="02040502050405020303" pitchFamily="18" charset="0"/>
                    </a:rPr>
                    <a:t>Steady </a:t>
                  </a:r>
                </a:p>
                <a:p>
                  <a:pPr lvl="0" algn="ctr"/>
                  <a:r>
                    <a:rPr lang="en-US" sz="1100" b="1">
                      <a:solidFill>
                        <a:schemeClr val="bg1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Georgia" panose="02040502050405020303" pitchFamily="18" charset="0"/>
                    </a:rPr>
                    <a:t>State</a:t>
                  </a:r>
                </a:p>
              </p:txBody>
            </p:sp>
            <p:pic>
              <p:nvPicPr>
                <p:cNvPr id="38" name="Picture 4" descr="Awareness Icons - Download Free Vector Icons | Noun Project">
                  <a:extLst>
                    <a:ext uri="{FF2B5EF4-FFF2-40B4-BE49-F238E27FC236}">
                      <a16:creationId xmlns:a16="http://schemas.microsoft.com/office/drawing/2014/main" id="{C4CDF16A-7EC6-4101-B526-434F5C29C91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 cstate="print">
                  <a:duotone>
                    <a:prstClr val="black"/>
                    <a:srgbClr val="42006E">
                      <a:tint val="45000"/>
                      <a:satMod val="400000"/>
                    </a:srgb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6">
                          <a14:imgEffect>
                            <a14:brightnessContrast bright="20000"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159483" y="2400365"/>
                  <a:ext cx="552232" cy="55223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39" name="Picture 8" descr="Car Coins Icon | Line Iconset | IconsMind">
                  <a:extLst>
                    <a:ext uri="{FF2B5EF4-FFF2-40B4-BE49-F238E27FC236}">
                      <a16:creationId xmlns:a16="http://schemas.microsoft.com/office/drawing/2014/main" id="{5C84E742-3BE6-47FE-9A63-B4157AA3BFF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7" cstate="print">
                  <a:extLst>
                    <a:ext uri="{BEBA8EAE-BF5A-486C-A8C5-ECC9F3942E4B}">
                      <a14:imgProps xmlns:a14="http://schemas.microsoft.com/office/drawing/2010/main">
                        <a14:imgLayer r:embed="rId8">
                          <a14:imgEffect>
                            <a14:brightnessContrast bright="20000"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9022928" y="2459923"/>
                  <a:ext cx="459675" cy="45967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40" name="Picture 12" descr="Heart Outline Purple PNG Transparent Background, Free Download #44632 -  FreeIconsPNG">
                  <a:extLst>
                    <a:ext uri="{FF2B5EF4-FFF2-40B4-BE49-F238E27FC236}">
                      <a16:creationId xmlns:a16="http://schemas.microsoft.com/office/drawing/2014/main" id="{C12A0480-37A0-4AD1-90CD-61DA5347DC51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9" cstate="print">
                  <a:duotone>
                    <a:prstClr val="black"/>
                    <a:schemeClr val="tx2">
                      <a:tint val="45000"/>
                      <a:satMod val="400000"/>
                    </a:schemeClr>
                  </a:duotone>
                  <a:extLst>
                    <a:ext uri="{BEBA8EAE-BF5A-486C-A8C5-ECC9F3942E4B}">
                      <a14:imgProps xmlns:a14="http://schemas.microsoft.com/office/drawing/2010/main">
                        <a14:imgLayer r:embed="rId10">
                          <a14:imgEffect>
                            <a14:brightnessContrast bright="40000" contrast="-4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1013021" y="2341925"/>
                  <a:ext cx="646332" cy="646331"/>
                </a:xfrm>
                <a:prstGeom prst="rect">
                  <a:avLst/>
                </a:prstGeom>
                <a:noFill/>
              </p:spPr>
            </p:pic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4F994920-5499-4EB9-8E21-171D9F586619}"/>
                    </a:ext>
                  </a:extLst>
                </p:cNvPr>
                <p:cNvSpPr/>
                <p:nvPr/>
              </p:nvSpPr>
              <p:spPr>
                <a:xfrm>
                  <a:off x="7017597" y="2370100"/>
                  <a:ext cx="677326" cy="677326"/>
                </a:xfrm>
                <a:prstGeom prst="ellipse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58" name="Picture 20" descr="Mobile Research Svg Png Icon Free Download (#544679) - OnlineWebFonts.COM">
                <a:extLst>
                  <a:ext uri="{FF2B5EF4-FFF2-40B4-BE49-F238E27FC236}">
                    <a16:creationId xmlns:a16="http://schemas.microsoft.com/office/drawing/2014/main" id="{8A10315B-8FB8-454A-B9F7-61B08C2F79C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rightnessContrast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91501" y="3591952"/>
                <a:ext cx="291447" cy="2926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6" name="Picture 20" descr="Mobile Research Svg Png Icon Free Download (#544679) - OnlineWebFonts.COM">
                <a:extLst>
                  <a:ext uri="{FF2B5EF4-FFF2-40B4-BE49-F238E27FC236}">
                    <a16:creationId xmlns:a16="http://schemas.microsoft.com/office/drawing/2014/main" id="{403ECDA8-614D-4008-AB66-6AF2DD8A26B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1" cstate="print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rightnessContrast contrast="-40000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790979" y="3590201"/>
                <a:ext cx="291447" cy="2926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89" name="Picture 2" descr="Accenture | Let there be change">
              <a:extLst>
                <a:ext uri="{FF2B5EF4-FFF2-40B4-BE49-F238E27FC236}">
                  <a16:creationId xmlns:a16="http://schemas.microsoft.com/office/drawing/2014/main" id="{F7A90AEA-70F2-4392-AADF-1DE4E2632DF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422" y="50969"/>
              <a:ext cx="313031" cy="320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E943DE6-0C00-46E5-B7DC-3800D1620DA0}"/>
                </a:ext>
              </a:extLst>
            </p:cNvPr>
            <p:cNvGrpSpPr/>
            <p:nvPr/>
          </p:nvGrpSpPr>
          <p:grpSpPr>
            <a:xfrm>
              <a:off x="8260505" y="542858"/>
              <a:ext cx="3747701" cy="5610274"/>
              <a:chOff x="8221343" y="1184027"/>
              <a:chExt cx="3747701" cy="5610274"/>
            </a:xfrm>
          </p:grpSpPr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0989E94F-4108-4E42-A9B6-B7FE408E00E8}"/>
                  </a:ext>
                </a:extLst>
              </p:cNvPr>
              <p:cNvSpPr txBox="1"/>
              <p:nvPr/>
            </p:nvSpPr>
            <p:spPr>
              <a:xfrm rot="16200000">
                <a:off x="5597104" y="3829542"/>
                <a:ext cx="5588998" cy="340519"/>
              </a:xfrm>
              <a:prstGeom prst="roundRect">
                <a:avLst/>
              </a:prstGeom>
              <a:solidFill>
                <a:srgbClr val="4A0073"/>
              </a:solidFill>
              <a:effectLst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400" b="1" dirty="0">
                    <a:solidFill>
                      <a:schemeClr val="bg1"/>
                    </a:solidFill>
                    <a:latin typeface="Georgia" panose="02040502050405020303" pitchFamily="18" charset="0"/>
                  </a:rPr>
                  <a:t>Measure of Success (KPIs)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C280458B-3177-4C7E-A51E-FFEDC6F0377B}"/>
                  </a:ext>
                </a:extLst>
              </p:cNvPr>
              <p:cNvSpPr txBox="1"/>
              <p:nvPr/>
            </p:nvSpPr>
            <p:spPr>
              <a:xfrm>
                <a:off x="8730998" y="1210394"/>
                <a:ext cx="2574000" cy="1054953"/>
              </a:xfrm>
              <a:prstGeom prst="roundRect">
                <a:avLst>
                  <a:gd name="adj" fmla="val 6621"/>
                </a:avLst>
              </a:prstGeom>
              <a:noFill/>
              <a:ln>
                <a:solidFill>
                  <a:srgbClr val="470D64"/>
                </a:solidFill>
              </a:ln>
              <a:effectLst>
                <a:innerShdw blurRad="63500" dist="50800">
                  <a:prstClr val="black">
                    <a:alpha val="50000"/>
                  </a:prstClr>
                </a:innerShd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b="1">
                    <a:solidFill>
                      <a:srgbClr val="4A007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Operational</a:t>
                </a:r>
              </a:p>
              <a:p>
                <a:pPr algn="ctr"/>
                <a:endParaRPr lang="en-IN" sz="1200">
                  <a:solidFill>
                    <a:srgbClr val="4A0073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200">
                    <a:latin typeface="Arial" panose="020B0604020202020204" pitchFamily="34" charset="0"/>
                    <a:cs typeface="Arial" panose="020B0604020202020204" pitchFamily="34" charset="0"/>
                  </a:rPr>
                  <a:t>Complaint TAT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200">
                    <a:latin typeface="Arial" panose="020B0604020202020204" pitchFamily="34" charset="0"/>
                    <a:cs typeface="Arial" panose="020B0604020202020204" pitchFamily="34" charset="0"/>
                  </a:rPr>
                  <a:t>Charging Stations Density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200">
                    <a:latin typeface="Arial" panose="020B0604020202020204" pitchFamily="34" charset="0"/>
                    <a:cs typeface="Arial" panose="020B0604020202020204" pitchFamily="34" charset="0"/>
                  </a:rPr>
                  <a:t>Service Centre Density</a:t>
                </a:r>
                <a:endParaRPr lang="en-IN" sz="14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D482EBE6-39FB-48DD-AEA1-27BDC0C1EB89}"/>
                  </a:ext>
                </a:extLst>
              </p:cNvPr>
              <p:cNvSpPr txBox="1"/>
              <p:nvPr/>
            </p:nvSpPr>
            <p:spPr>
              <a:xfrm>
                <a:off x="8737483" y="4863785"/>
                <a:ext cx="2556000" cy="1839158"/>
              </a:xfrm>
              <a:prstGeom prst="roundRect">
                <a:avLst>
                  <a:gd name="adj" fmla="val 8524"/>
                </a:avLst>
              </a:prstGeom>
              <a:noFill/>
              <a:ln>
                <a:solidFill>
                  <a:srgbClr val="470D64"/>
                </a:solidFill>
              </a:ln>
              <a:effectLst>
                <a:innerShdw blurRad="63500" dist="50800">
                  <a:prstClr val="black">
                    <a:alpha val="50000"/>
                  </a:prstClr>
                </a:innerShd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b="1">
                    <a:solidFill>
                      <a:srgbClr val="4A007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Outcome</a:t>
                </a:r>
              </a:p>
              <a:p>
                <a:pPr algn="ctr"/>
                <a:endParaRPr lang="en-IN" sz="1200" b="1">
                  <a:solidFill>
                    <a:srgbClr val="4A0073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200">
                    <a:latin typeface="Arial" panose="020B0604020202020204" pitchFamily="34" charset="0"/>
                    <a:cs typeface="Arial" panose="020B0604020202020204" pitchFamily="34" charset="0"/>
                  </a:rPr>
                  <a:t>Volumes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200">
                    <a:latin typeface="Arial" panose="020B0604020202020204" pitchFamily="34" charset="0"/>
                    <a:cs typeface="Arial" panose="020B0604020202020204" pitchFamily="34" charset="0"/>
                  </a:rPr>
                  <a:t>Dispatch to Market Share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200" err="1">
                    <a:latin typeface="Arial" panose="020B0604020202020204" pitchFamily="34" charset="0"/>
                    <a:cs typeface="Arial" panose="020B0604020202020204" pitchFamily="34" charset="0"/>
                  </a:rPr>
                  <a:t>Vahan</a:t>
                </a:r>
                <a:r>
                  <a:rPr lang="en-IN" sz="1200">
                    <a:latin typeface="Arial" panose="020B0604020202020204" pitchFamily="34" charset="0"/>
                    <a:cs typeface="Arial" panose="020B0604020202020204" pitchFamily="34" charset="0"/>
                  </a:rPr>
                  <a:t> Market Share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200">
                    <a:latin typeface="Arial" panose="020B0604020202020204" pitchFamily="34" charset="0"/>
                    <a:cs typeface="Arial" panose="020B0604020202020204" pitchFamily="34" charset="0"/>
                  </a:rPr>
                  <a:t>Vehicles sold per density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200">
                    <a:latin typeface="Arial" panose="020B0604020202020204" pitchFamily="34" charset="0"/>
                    <a:cs typeface="Arial" panose="020B0604020202020204" pitchFamily="34" charset="0"/>
                  </a:rPr>
                  <a:t>Number of Unique Users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200">
                    <a:latin typeface="Arial" panose="020B0604020202020204" pitchFamily="34" charset="0"/>
                    <a:cs typeface="Arial" panose="020B0604020202020204" pitchFamily="34" charset="0"/>
                  </a:rPr>
                  <a:t>Store Footfall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200">
                    <a:latin typeface="Arial" panose="020B0604020202020204" pitchFamily="34" charset="0"/>
                    <a:cs typeface="Arial" panose="020B0604020202020204" pitchFamily="34" charset="0"/>
                  </a:rPr>
                  <a:t>Accessories sold/vehicle</a:t>
                </a:r>
              </a:p>
            </p:txBody>
          </p:sp>
          <p:sp>
            <p:nvSpPr>
              <p:cNvPr id="108" name="TextBox 107">
                <a:extLst>
                  <a:ext uri="{FF2B5EF4-FFF2-40B4-BE49-F238E27FC236}">
                    <a16:creationId xmlns:a16="http://schemas.microsoft.com/office/drawing/2014/main" id="{D27152DE-182D-4EA8-B967-F27004303F12}"/>
                  </a:ext>
                </a:extLst>
              </p:cNvPr>
              <p:cNvSpPr txBox="1"/>
              <p:nvPr/>
            </p:nvSpPr>
            <p:spPr>
              <a:xfrm>
                <a:off x="8740644" y="2628467"/>
                <a:ext cx="2568749" cy="1822192"/>
              </a:xfrm>
              <a:prstGeom prst="roundRect">
                <a:avLst>
                  <a:gd name="adj" fmla="val 7943"/>
                </a:avLst>
              </a:prstGeom>
              <a:noFill/>
              <a:ln>
                <a:solidFill>
                  <a:srgbClr val="470D64"/>
                </a:solidFill>
              </a:ln>
              <a:effectLst>
                <a:innerShdw blurRad="63500" dist="50800">
                  <a:prstClr val="black">
                    <a:alpha val="50000"/>
                  </a:prstClr>
                </a:innerShdw>
              </a:effectLst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 b="1">
                    <a:solidFill>
                      <a:srgbClr val="4A0073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Satisfaction &amp; Engagement</a:t>
                </a:r>
              </a:p>
              <a:p>
                <a:pPr algn="ctr"/>
                <a:endParaRPr lang="en-IN" sz="1200" b="1">
                  <a:solidFill>
                    <a:srgbClr val="4A0073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200">
                    <a:latin typeface="Arial" panose="020B0604020202020204" pitchFamily="34" charset="0"/>
                    <a:cs typeface="Arial" panose="020B0604020202020204" pitchFamily="34" charset="0"/>
                  </a:rPr>
                  <a:t>Customer Reviews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200">
                    <a:latin typeface="Arial" panose="020B0604020202020204" pitchFamily="34" charset="0"/>
                    <a:cs typeface="Arial" panose="020B0604020202020204" pitchFamily="34" charset="0"/>
                  </a:rPr>
                  <a:t>Net Promoter Score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200">
                    <a:latin typeface="Arial" panose="020B0604020202020204" pitchFamily="34" charset="0"/>
                    <a:cs typeface="Arial" panose="020B0604020202020204" pitchFamily="34" charset="0"/>
                  </a:rPr>
                  <a:t>Happiness Score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200">
                    <a:latin typeface="Arial" panose="020B0604020202020204" pitchFamily="34" charset="0"/>
                    <a:cs typeface="Arial" panose="020B0604020202020204" pitchFamily="34" charset="0"/>
                  </a:rPr>
                  <a:t>App downloads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200">
                    <a:latin typeface="Arial" panose="020B0604020202020204" pitchFamily="34" charset="0"/>
                    <a:cs typeface="Arial" panose="020B0604020202020204" pitchFamily="34" charset="0"/>
                  </a:rPr>
                  <a:t>Clickthrough Rate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200">
                    <a:latin typeface="Arial" panose="020B0604020202020204" pitchFamily="34" charset="0"/>
                    <a:cs typeface="Arial" panose="020B0604020202020204" pitchFamily="34" charset="0"/>
                  </a:rPr>
                  <a:t>Bounce Rate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IN" sz="1200">
                    <a:latin typeface="Arial" panose="020B0604020202020204" pitchFamily="34" charset="0"/>
                    <a:cs typeface="Arial" panose="020B0604020202020204" pitchFamily="34" charset="0"/>
                  </a:rPr>
                  <a:t>Number of Complaints</a:t>
                </a:r>
              </a:p>
            </p:txBody>
          </p:sp>
          <p:sp>
            <p:nvSpPr>
              <p:cNvPr id="104" name="Arrow: Right 103">
                <a:extLst>
                  <a:ext uri="{FF2B5EF4-FFF2-40B4-BE49-F238E27FC236}">
                    <a16:creationId xmlns:a16="http://schemas.microsoft.com/office/drawing/2014/main" id="{E4DC7D6C-0B09-4312-A964-524E8845D54D}"/>
                  </a:ext>
                </a:extLst>
              </p:cNvPr>
              <p:cNvSpPr/>
              <p:nvPr/>
            </p:nvSpPr>
            <p:spPr>
              <a:xfrm rot="5400000">
                <a:off x="8888048" y="3692030"/>
                <a:ext cx="5589000" cy="572993"/>
              </a:xfrm>
              <a:prstGeom prst="rightArrow">
                <a:avLst/>
              </a:prstGeom>
              <a:solidFill>
                <a:srgbClr val="4A0073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>
                    <a:solidFill>
                      <a:schemeClr val="bg1"/>
                    </a:solidFill>
                    <a:latin typeface="Georgia" panose="02040502050405020303" pitchFamily="18" charset="0"/>
                  </a:rPr>
                  <a:t>Decreasing order of priority</a:t>
                </a:r>
                <a:endParaRPr lang="en-IN" sz="1400" b="1">
                  <a:solidFill>
                    <a:schemeClr val="bg1"/>
                  </a:solidFill>
                  <a:latin typeface="Georgia" panose="02040502050405020303" pitchFamily="18" charset="0"/>
                </a:endParaRPr>
              </a:p>
            </p:txBody>
          </p:sp>
        </p:grp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15ABB801-166E-411D-852B-62A7A8021329}"/>
                </a:ext>
              </a:extLst>
            </p:cNvPr>
            <p:cNvSpPr txBox="1"/>
            <p:nvPr/>
          </p:nvSpPr>
          <p:spPr>
            <a:xfrm>
              <a:off x="149422" y="4076864"/>
              <a:ext cx="4222044" cy="289441"/>
            </a:xfrm>
            <a:prstGeom prst="roundRect">
              <a:avLst/>
            </a:prstGeom>
            <a:noFill/>
            <a:ln>
              <a:noFill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1100" b="1">
                  <a:solidFill>
                    <a:schemeClr val="bg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Diagram: Digital touchpoints to engage potential customers</a:t>
              </a:r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5EAD65E1-7868-4327-86E3-03C2542EDA75}"/>
                </a:ext>
              </a:extLst>
            </p:cNvPr>
            <p:cNvGrpSpPr/>
            <p:nvPr/>
          </p:nvGrpSpPr>
          <p:grpSpPr>
            <a:xfrm>
              <a:off x="0" y="6478216"/>
              <a:ext cx="12073411" cy="316618"/>
              <a:chOff x="0" y="6478216"/>
              <a:chExt cx="12073411" cy="316618"/>
            </a:xfrm>
          </p:grpSpPr>
          <p:grpSp>
            <p:nvGrpSpPr>
              <p:cNvPr id="101" name="Group 100">
                <a:extLst>
                  <a:ext uri="{FF2B5EF4-FFF2-40B4-BE49-F238E27FC236}">
                    <a16:creationId xmlns:a16="http://schemas.microsoft.com/office/drawing/2014/main" id="{DE7EE23C-ADAD-42AC-9C0C-3A42253D0C51}"/>
                  </a:ext>
                </a:extLst>
              </p:cNvPr>
              <p:cNvGrpSpPr/>
              <p:nvPr/>
            </p:nvGrpSpPr>
            <p:grpSpPr>
              <a:xfrm>
                <a:off x="0" y="6478216"/>
                <a:ext cx="2624654" cy="316618"/>
                <a:chOff x="2949" y="0"/>
                <a:chExt cx="2624654" cy="316618"/>
              </a:xfrm>
              <a:solidFill>
                <a:srgbClr val="4F0077"/>
              </a:solidFill>
            </p:grpSpPr>
            <p:sp>
              <p:nvSpPr>
                <p:cNvPr id="128" name="Arrow: Chevron 127">
                  <a:extLst>
                    <a:ext uri="{FF2B5EF4-FFF2-40B4-BE49-F238E27FC236}">
                      <a16:creationId xmlns:a16="http://schemas.microsoft.com/office/drawing/2014/main" id="{822D14BC-F2B9-4A5C-9A97-347D7C1E75C1}"/>
                    </a:ext>
                  </a:extLst>
                </p:cNvPr>
                <p:cNvSpPr/>
                <p:nvPr/>
              </p:nvSpPr>
              <p:spPr>
                <a:xfrm>
                  <a:off x="2949" y="0"/>
                  <a:ext cx="2624654" cy="316618"/>
                </a:xfrm>
                <a:prstGeom prst="chevron">
                  <a:avLst/>
                </a:prstGeom>
                <a:grpFill/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29" name="Arrow: Chevron 4">
                  <a:extLst>
                    <a:ext uri="{FF2B5EF4-FFF2-40B4-BE49-F238E27FC236}">
                      <a16:creationId xmlns:a16="http://schemas.microsoft.com/office/drawing/2014/main" id="{79F9772F-7C7A-4F43-B66B-DD8E5D4442F3}"/>
                    </a:ext>
                  </a:extLst>
                </p:cNvPr>
                <p:cNvSpPr txBox="1"/>
                <p:nvPr/>
              </p:nvSpPr>
              <p:spPr>
                <a:xfrm>
                  <a:off x="161258" y="0"/>
                  <a:ext cx="2308036" cy="316618"/>
                </a:xfrm>
                <a:prstGeom prst="rect">
                  <a:avLst/>
                </a:prstGeom>
                <a:noFill/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56007" tIns="18669" rIns="18669" bIns="18669" numCol="1" spcCol="1270" anchor="ctr" anchorCtr="0">
                  <a:noAutofit/>
                </a:bodyPr>
                <a:lstStyle/>
                <a:p>
                  <a:pPr marL="0" lvl="0" indent="0"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IN" sz="1400" b="1" kern="1200">
                      <a:latin typeface="Calibri" panose="020F0502020204030204" pitchFamily="34" charset="0"/>
                      <a:cs typeface="Calibri" panose="020F0502020204030204" pitchFamily="34" charset="0"/>
                    </a:rPr>
                    <a:t>Industry </a:t>
                  </a:r>
                  <a:r>
                    <a:rPr lang="en-IN" sz="1400" b="1">
                      <a:latin typeface="Calibri" panose="020F0502020204030204" pitchFamily="34" charset="0"/>
                      <a:cs typeface="Calibri" panose="020F0502020204030204" pitchFamily="34" charset="0"/>
                    </a:rPr>
                    <a:t>&amp; Pain points</a:t>
                  </a:r>
                  <a:endParaRPr lang="en-IN" sz="1400" b="1" kern="1200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sp>
            <p:nvSpPr>
              <p:cNvPr id="106" name="Arrow: Chevron 105">
                <a:extLst>
                  <a:ext uri="{FF2B5EF4-FFF2-40B4-BE49-F238E27FC236}">
                    <a16:creationId xmlns:a16="http://schemas.microsoft.com/office/drawing/2014/main" id="{CCDBA961-9CA8-4ACD-81F7-972693FEC6A6}"/>
                  </a:ext>
                </a:extLst>
              </p:cNvPr>
              <p:cNvSpPr/>
              <p:nvPr/>
            </p:nvSpPr>
            <p:spPr>
              <a:xfrm>
                <a:off x="2362189" y="6478216"/>
                <a:ext cx="2624654" cy="316618"/>
              </a:xfrm>
              <a:prstGeom prst="chevron">
                <a:avLst/>
              </a:prstGeom>
              <a:solidFill>
                <a:srgbClr val="4A0073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pPr algn="ctr" defTabSz="6223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1400" b="1">
                    <a:latin typeface="Calibri" panose="020F0502020204030204" pitchFamily="34" charset="0"/>
                    <a:cs typeface="Calibri" panose="020F0502020204030204" pitchFamily="34" charset="0"/>
                  </a:rPr>
                  <a:t>Market Opportunity</a:t>
                </a:r>
                <a:endParaRPr lang="en-IN" sz="1400" b="1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6A983D91-DDCE-48DE-A21C-5AD79E074CB2}"/>
                  </a:ext>
                </a:extLst>
              </p:cNvPr>
              <p:cNvGrpSpPr/>
              <p:nvPr/>
            </p:nvGrpSpPr>
            <p:grpSpPr>
              <a:xfrm>
                <a:off x="4724378" y="6478216"/>
                <a:ext cx="2624654" cy="316618"/>
                <a:chOff x="4727327" y="0"/>
                <a:chExt cx="2624654" cy="316618"/>
              </a:xfrm>
            </p:grpSpPr>
            <p:sp>
              <p:nvSpPr>
                <p:cNvPr id="126" name="Arrow: Chevron 125">
                  <a:extLst>
                    <a:ext uri="{FF2B5EF4-FFF2-40B4-BE49-F238E27FC236}">
                      <a16:creationId xmlns:a16="http://schemas.microsoft.com/office/drawing/2014/main" id="{502DA202-975B-4C58-8008-AD6883DD1CE4}"/>
                    </a:ext>
                  </a:extLst>
                </p:cNvPr>
                <p:cNvSpPr/>
                <p:nvPr/>
              </p:nvSpPr>
              <p:spPr>
                <a:xfrm>
                  <a:off x="4727327" y="0"/>
                  <a:ext cx="2624654" cy="316618"/>
                </a:xfrm>
                <a:prstGeom prst="chevron">
                  <a:avLst/>
                </a:prstGeom>
                <a:solidFill>
                  <a:srgbClr val="4F0077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27" name="Arrow: Chevron 8">
                  <a:extLst>
                    <a:ext uri="{FF2B5EF4-FFF2-40B4-BE49-F238E27FC236}">
                      <a16:creationId xmlns:a16="http://schemas.microsoft.com/office/drawing/2014/main" id="{7E65CF0E-643B-4D45-8646-BFF50E8856AB}"/>
                    </a:ext>
                  </a:extLst>
                </p:cNvPr>
                <p:cNvSpPr txBox="1"/>
                <p:nvPr/>
              </p:nvSpPr>
              <p:spPr>
                <a:xfrm>
                  <a:off x="4885636" y="0"/>
                  <a:ext cx="2308036" cy="316618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48006" tIns="16002" rIns="16002" bIns="16002" numCol="1" spcCol="1270" anchor="ctr" anchorCtr="0">
                  <a:noAutofit/>
                </a:bodyPr>
                <a:lstStyle/>
                <a:p>
                  <a:pPr algn="ctr" defTabSz="6223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</a:pPr>
                  <a:r>
                    <a:rPr lang="en-US" sz="1400" b="1">
                      <a:latin typeface="Calibri" panose="020F0502020204030204" pitchFamily="34" charset="0"/>
                      <a:cs typeface="Calibri" panose="020F0502020204030204" pitchFamily="34" charset="0"/>
                    </a:rPr>
                    <a:t>GTM Strategy</a:t>
                  </a:r>
                  <a:endParaRPr lang="en-IN" sz="1400" b="1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F7D1AE8E-A606-47E7-852D-478CA2DD55B5}"/>
                  </a:ext>
                </a:extLst>
              </p:cNvPr>
              <p:cNvGrpSpPr/>
              <p:nvPr/>
            </p:nvGrpSpPr>
            <p:grpSpPr>
              <a:xfrm>
                <a:off x="7086567" y="6478216"/>
                <a:ext cx="2624654" cy="316618"/>
                <a:chOff x="7089516" y="0"/>
                <a:chExt cx="2624654" cy="316618"/>
              </a:xfrm>
            </p:grpSpPr>
            <p:sp>
              <p:nvSpPr>
                <p:cNvPr id="124" name="Arrow: Chevron 123">
                  <a:extLst>
                    <a:ext uri="{FF2B5EF4-FFF2-40B4-BE49-F238E27FC236}">
                      <a16:creationId xmlns:a16="http://schemas.microsoft.com/office/drawing/2014/main" id="{6932C9B3-850F-48F4-9F2F-4C8EA11BC900}"/>
                    </a:ext>
                  </a:extLst>
                </p:cNvPr>
                <p:cNvSpPr/>
                <p:nvPr/>
              </p:nvSpPr>
              <p:spPr>
                <a:xfrm>
                  <a:off x="7089516" y="0"/>
                  <a:ext cx="2624654" cy="316618"/>
                </a:xfrm>
                <a:prstGeom prst="chevron">
                  <a:avLst/>
                </a:prstGeom>
                <a:solidFill>
                  <a:srgbClr val="4F0077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25" name="Arrow: Chevron 10">
                  <a:extLst>
                    <a:ext uri="{FF2B5EF4-FFF2-40B4-BE49-F238E27FC236}">
                      <a16:creationId xmlns:a16="http://schemas.microsoft.com/office/drawing/2014/main" id="{80D83843-36C0-4740-B571-724AAB832F44}"/>
                    </a:ext>
                  </a:extLst>
                </p:cNvPr>
                <p:cNvSpPr txBox="1"/>
                <p:nvPr/>
              </p:nvSpPr>
              <p:spPr>
                <a:xfrm>
                  <a:off x="7247825" y="0"/>
                  <a:ext cx="2308036" cy="316618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48006" tIns="16002" rIns="16002" bIns="16002" numCol="1" spcCol="1270" anchor="ctr" anchorCtr="0">
                  <a:noAutofit/>
                </a:bodyPr>
                <a:lstStyle/>
                <a:p>
                  <a:pPr marL="0" lvl="0" indent="0" algn="ctr" defTabSz="5334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US" sz="1400" b="1">
                      <a:latin typeface="Calibri" panose="020F0502020204030204" pitchFamily="34" charset="0"/>
                      <a:cs typeface="Calibri" panose="020F0502020204030204" pitchFamily="34" charset="0"/>
                    </a:rPr>
                    <a:t>Distribution &amp; Marketing</a:t>
                  </a:r>
                  <a:endParaRPr lang="en-IN" sz="1400" b="1">
                    <a:latin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p:grpSp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EF57F318-CBC1-4CC7-BFDC-C1402A6C529C}"/>
                  </a:ext>
                </a:extLst>
              </p:cNvPr>
              <p:cNvGrpSpPr/>
              <p:nvPr/>
            </p:nvGrpSpPr>
            <p:grpSpPr>
              <a:xfrm>
                <a:off x="9448757" y="6478216"/>
                <a:ext cx="2624654" cy="316618"/>
                <a:chOff x="9451706" y="0"/>
                <a:chExt cx="2624654" cy="316618"/>
              </a:xfrm>
            </p:grpSpPr>
            <p:sp>
              <p:nvSpPr>
                <p:cNvPr id="111" name="Arrow: Chevron 110">
                  <a:extLst>
                    <a:ext uri="{FF2B5EF4-FFF2-40B4-BE49-F238E27FC236}">
                      <a16:creationId xmlns:a16="http://schemas.microsoft.com/office/drawing/2014/main" id="{69C00962-4E6E-4BDE-85C3-2A8673173A6C}"/>
                    </a:ext>
                  </a:extLst>
                </p:cNvPr>
                <p:cNvSpPr/>
                <p:nvPr/>
              </p:nvSpPr>
              <p:spPr>
                <a:xfrm>
                  <a:off x="9451706" y="0"/>
                  <a:ext cx="2624654" cy="316618"/>
                </a:xfrm>
                <a:prstGeom prst="chevron">
                  <a:avLst/>
                </a:prstGeom>
                <a:solidFill>
                  <a:srgbClr val="923F5D"/>
                </a:solidFill>
              </p:spPr>
              <p:style>
                <a:lnRef idx="2">
                  <a:schemeClr val="lt1">
                    <a:hueOff val="0"/>
                    <a:satOff val="0"/>
                    <a:lumOff val="0"/>
                    <a:alphaOff val="0"/>
                  </a:schemeClr>
                </a:lnRef>
                <a:fillRef idx="1">
                  <a:scrgbClr r="0" g="0" b="0"/>
                </a:fillRef>
                <a:effectRef idx="0">
                  <a:schemeClr val="accent1">
                    <a:hueOff val="0"/>
                    <a:satOff val="0"/>
                    <a:lumOff val="0"/>
                    <a:alphaOff val="0"/>
                  </a:schemeClr>
                </a:effectRef>
                <a:fontRef idx="minor">
                  <a:schemeClr val="lt1"/>
                </a:fontRef>
              </p:style>
            </p:sp>
            <p:sp>
              <p:nvSpPr>
                <p:cNvPr id="113" name="Arrow: Chevron 12">
                  <a:extLst>
                    <a:ext uri="{FF2B5EF4-FFF2-40B4-BE49-F238E27FC236}">
                      <a16:creationId xmlns:a16="http://schemas.microsoft.com/office/drawing/2014/main" id="{3AD3F12C-375B-476A-B6A8-F0947A85C6AA}"/>
                    </a:ext>
                  </a:extLst>
                </p:cNvPr>
                <p:cNvSpPr txBox="1"/>
                <p:nvPr/>
              </p:nvSpPr>
              <p:spPr>
                <a:xfrm>
                  <a:off x="9610015" y="0"/>
                  <a:ext cx="2308036" cy="316618"/>
                </a:xfrm>
                <a:prstGeom prst="rect">
                  <a:avLst/>
                </a:prstGeom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spcFirstLastPara="0" vert="horz" wrap="square" lIns="48006" tIns="16002" rIns="16002" bIns="16002" numCol="1" spcCol="1270" anchor="ctr" anchorCtr="0">
                  <a:noAutofit/>
                </a:bodyPr>
                <a:lstStyle/>
                <a:p>
                  <a:pPr marL="0" lvl="0" indent="0" algn="ctr" defTabSz="533400">
                    <a:lnSpc>
                      <a:spcPct val="90000"/>
                    </a:lnSpc>
                    <a:spcBef>
                      <a:spcPct val="0"/>
                    </a:spcBef>
                    <a:spcAft>
                      <a:spcPct val="35000"/>
                    </a:spcAft>
                    <a:buNone/>
                  </a:pPr>
                  <a:r>
                    <a:rPr lang="en-IN" sz="1400" b="1">
                      <a:latin typeface="Calibri" panose="020F0502020204030204" pitchFamily="34" charset="0"/>
                      <a:cs typeface="Calibri" panose="020F0502020204030204" pitchFamily="34" charset="0"/>
                    </a:rPr>
                    <a:t>Touchpoints &amp; KPIs</a:t>
                  </a:r>
                </a:p>
              </p:txBody>
            </p:sp>
          </p:grpSp>
        </p:grp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377AA458-1FD2-4108-9168-F663DB08E694}"/>
                </a:ext>
              </a:extLst>
            </p:cNvPr>
            <p:cNvGrpSpPr/>
            <p:nvPr/>
          </p:nvGrpSpPr>
          <p:grpSpPr>
            <a:xfrm>
              <a:off x="254866" y="4572072"/>
              <a:ext cx="7749660" cy="1730845"/>
              <a:chOff x="249572" y="635671"/>
              <a:chExt cx="7749660" cy="1730845"/>
            </a:xfrm>
          </p:grpSpPr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8B1E9CF4-1012-4876-8057-419A4E4D27EB}"/>
                  </a:ext>
                </a:extLst>
              </p:cNvPr>
              <p:cNvSpPr txBox="1"/>
              <p:nvPr/>
            </p:nvSpPr>
            <p:spPr>
              <a:xfrm>
                <a:off x="2074303" y="1774522"/>
                <a:ext cx="1929677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>
                    <a:latin typeface="Arial" panose="020B0604020202020204" pitchFamily="34" charset="0"/>
                    <a:cs typeface="Arial" panose="020B0604020202020204" pitchFamily="34" charset="0"/>
                  </a:rPr>
                  <a:t>Segmented Positioning of ICE and EV Products</a:t>
                </a:r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45FC1BB0-4CC1-48DC-9D9A-D0A51E5545C9}"/>
                  </a:ext>
                </a:extLst>
              </p:cNvPr>
              <p:cNvSpPr txBox="1"/>
              <p:nvPr/>
            </p:nvSpPr>
            <p:spPr>
              <a:xfrm>
                <a:off x="252359" y="1651427"/>
                <a:ext cx="1776809" cy="715089"/>
              </a:xfrm>
              <a:prstGeom prst="roundRect">
                <a:avLst/>
              </a:prstGeom>
              <a:solidFill>
                <a:srgbClr val="4A0E64"/>
              </a:solidFill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IN" sz="1200" b="1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Minimize Cannibalization by EV Entry</a:t>
                </a:r>
              </a:p>
            </p:txBody>
          </p:sp>
          <p:sp>
            <p:nvSpPr>
              <p:cNvPr id="119" name="TextBox 118">
                <a:extLst>
                  <a:ext uri="{FF2B5EF4-FFF2-40B4-BE49-F238E27FC236}">
                    <a16:creationId xmlns:a16="http://schemas.microsoft.com/office/drawing/2014/main" id="{D8941DF1-290A-44FB-A26B-0F26C4572C0B}"/>
                  </a:ext>
                </a:extLst>
              </p:cNvPr>
              <p:cNvSpPr txBox="1"/>
              <p:nvPr/>
            </p:nvSpPr>
            <p:spPr>
              <a:xfrm>
                <a:off x="6101813" y="1685493"/>
                <a:ext cx="1819572" cy="646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>
                    <a:latin typeface="Arial" panose="020B0604020202020204" pitchFamily="34" charset="0"/>
                    <a:cs typeface="Arial" panose="020B0604020202020204" pitchFamily="34" charset="0"/>
                  </a:rPr>
                  <a:t>Focus on Customer Value and Market Expansion</a:t>
                </a:r>
              </a:p>
            </p:txBody>
          </p:sp>
          <p:sp>
            <p:nvSpPr>
              <p:cNvPr id="121" name="TextBox 120">
                <a:extLst>
                  <a:ext uri="{FF2B5EF4-FFF2-40B4-BE49-F238E27FC236}">
                    <a16:creationId xmlns:a16="http://schemas.microsoft.com/office/drawing/2014/main" id="{302C450B-2A09-401A-B495-DFF9DC1FC20C}"/>
                  </a:ext>
                </a:extLst>
              </p:cNvPr>
              <p:cNvSpPr txBox="1"/>
              <p:nvPr/>
            </p:nvSpPr>
            <p:spPr>
              <a:xfrm>
                <a:off x="2087421" y="676673"/>
                <a:ext cx="1934164" cy="646331"/>
              </a:xfrm>
              <a:prstGeom prst="rect">
                <a:avLst/>
              </a:prstGeom>
              <a:noFill/>
              <a:ln>
                <a:solidFill>
                  <a:srgbClr val="4A0073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>
                    <a:latin typeface="Arial" panose="020B0604020202020204" pitchFamily="34" charset="0"/>
                    <a:cs typeface="Arial" panose="020B0604020202020204" pitchFamily="34" charset="0"/>
                  </a:rPr>
                  <a:t>Enter Overseas EV Market leveraging pre-build network</a:t>
                </a: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0A6D388-5462-4F1A-B094-8C7A78A94374}"/>
                  </a:ext>
                </a:extLst>
              </p:cNvPr>
              <p:cNvSpPr txBox="1"/>
              <p:nvPr/>
            </p:nvSpPr>
            <p:spPr>
              <a:xfrm>
                <a:off x="4125980" y="1685492"/>
                <a:ext cx="1780764" cy="6463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N" sz="1200">
                    <a:latin typeface="Arial" panose="020B0604020202020204" pitchFamily="34" charset="0"/>
                    <a:cs typeface="Arial" panose="020B0604020202020204" pitchFamily="34" charset="0"/>
                  </a:rPr>
                  <a:t>Gradual Scale-Up and convert 100% products into EV by 2030</a:t>
                </a:r>
              </a:p>
            </p:txBody>
          </p: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B33B7507-472C-4778-8A09-202871F67635}"/>
                  </a:ext>
                </a:extLst>
              </p:cNvPr>
              <p:cNvGrpSpPr/>
              <p:nvPr/>
            </p:nvGrpSpPr>
            <p:grpSpPr>
              <a:xfrm>
                <a:off x="4070063" y="682654"/>
                <a:ext cx="1934164" cy="828775"/>
                <a:chOff x="4070063" y="682654"/>
                <a:chExt cx="1934164" cy="828775"/>
              </a:xfrm>
            </p:grpSpPr>
            <p:sp>
              <p:nvSpPr>
                <p:cNvPr id="2" name="Rectangle 1">
                  <a:extLst>
                    <a:ext uri="{FF2B5EF4-FFF2-40B4-BE49-F238E27FC236}">
                      <a16:creationId xmlns:a16="http://schemas.microsoft.com/office/drawing/2014/main" id="{09F67543-B029-407F-8B5A-A1BA92CF3CEB}"/>
                    </a:ext>
                  </a:extLst>
                </p:cNvPr>
                <p:cNvSpPr/>
                <p:nvPr/>
              </p:nvSpPr>
              <p:spPr>
                <a:xfrm>
                  <a:off x="4070063" y="682654"/>
                  <a:ext cx="1934164" cy="64633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AE1B56BA-A756-49C5-A1E6-261802C7E964}"/>
                    </a:ext>
                  </a:extLst>
                </p:cNvPr>
                <p:cNvSpPr txBox="1"/>
                <p:nvPr/>
              </p:nvSpPr>
              <p:spPr>
                <a:xfrm>
                  <a:off x="4084743" y="772765"/>
                  <a:ext cx="1863238" cy="73866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IN" sz="1200">
                      <a:latin typeface="Arial" panose="020B0604020202020204" pitchFamily="34" charset="0"/>
                      <a:cs typeface="Arial" panose="020B0604020202020204" pitchFamily="34" charset="0"/>
                    </a:rPr>
                    <a:t>Strengthen Forward and Backward Linkages</a:t>
                  </a:r>
                </a:p>
                <a:p>
                  <a:pPr algn="ctr"/>
                  <a:endParaRPr lang="en-IN" sz="180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88" name="Rectangle 87">
                <a:extLst>
                  <a:ext uri="{FF2B5EF4-FFF2-40B4-BE49-F238E27FC236}">
                    <a16:creationId xmlns:a16="http://schemas.microsoft.com/office/drawing/2014/main" id="{3887FD67-B6D1-42A9-919C-1202837B7105}"/>
                  </a:ext>
                </a:extLst>
              </p:cNvPr>
              <p:cNvSpPr/>
              <p:nvPr/>
            </p:nvSpPr>
            <p:spPr>
              <a:xfrm>
                <a:off x="6052705" y="684407"/>
                <a:ext cx="1934164" cy="64633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359D98A3-71B6-401A-937A-CBB395235B69}"/>
                  </a:ext>
                </a:extLst>
              </p:cNvPr>
              <p:cNvSpPr txBox="1"/>
              <p:nvPr/>
            </p:nvSpPr>
            <p:spPr>
              <a:xfrm>
                <a:off x="6078412" y="701698"/>
                <a:ext cx="1863238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IN" sz="1200">
                    <a:latin typeface="Arial" panose="020B0604020202020204" pitchFamily="34" charset="0"/>
                    <a:cs typeface="Arial" panose="020B0604020202020204" pitchFamily="34" charset="0"/>
                  </a:rPr>
                  <a:t>Diversify Product Portfolio to cater different demographics</a:t>
                </a:r>
              </a:p>
              <a:p>
                <a:pPr algn="ctr"/>
                <a:endParaRPr lang="en-IN" sz="180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A5F5C9BD-98AA-4D6D-BDE1-DDCE0D88259E}"/>
                  </a:ext>
                </a:extLst>
              </p:cNvPr>
              <p:cNvSpPr/>
              <p:nvPr/>
            </p:nvSpPr>
            <p:spPr>
              <a:xfrm>
                <a:off x="2087421" y="1694361"/>
                <a:ext cx="1934164" cy="64633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68AC24C5-0208-4467-AE00-296E6EA40952}"/>
                  </a:ext>
                </a:extLst>
              </p:cNvPr>
              <p:cNvSpPr/>
              <p:nvPr/>
            </p:nvSpPr>
            <p:spPr>
              <a:xfrm>
                <a:off x="6065068" y="1685493"/>
                <a:ext cx="1934164" cy="64633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E184A476-FEA2-4FD2-BD7C-3FF95BAE0369}"/>
                  </a:ext>
                </a:extLst>
              </p:cNvPr>
              <p:cNvSpPr/>
              <p:nvPr/>
            </p:nvSpPr>
            <p:spPr>
              <a:xfrm>
                <a:off x="4080094" y="1695932"/>
                <a:ext cx="1934164" cy="64633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79F062F8-B362-4D0C-BF0F-BD3FB29799EE}"/>
                  </a:ext>
                </a:extLst>
              </p:cNvPr>
              <p:cNvSpPr txBox="1"/>
              <p:nvPr/>
            </p:nvSpPr>
            <p:spPr>
              <a:xfrm>
                <a:off x="249572" y="635671"/>
                <a:ext cx="1776809" cy="715089"/>
              </a:xfrm>
              <a:prstGeom prst="roundRect">
                <a:avLst/>
              </a:prstGeom>
              <a:solidFill>
                <a:srgbClr val="4A0E64"/>
              </a:solidFill>
              <a:effectLst/>
            </p:spPr>
            <p:txBody>
              <a:bodyPr wrap="square" rtlCol="0" anchor="ctr">
                <a:spAutoFit/>
              </a:bodyPr>
              <a:lstStyle/>
              <a:p>
                <a:pPr algn="ctr"/>
                <a:r>
                  <a:rPr lang="en-IN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Maximize Incremental</a:t>
                </a:r>
              </a:p>
              <a:p>
                <a:pPr algn="ctr"/>
                <a:r>
                  <a:rPr lang="en-IN" sz="1200" b="1" dirty="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Volumes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1961680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61C4138-25A8-405D-8D80-0EEA33E53A6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8077200" y="6488113"/>
            <a:ext cx="4114800" cy="198437"/>
          </a:xfrm>
        </p:spPr>
        <p:txBody>
          <a:bodyPr/>
          <a:lstStyle/>
          <a:p>
            <a:pPr algn="r" defTabSz="228600">
              <a:spcAft>
                <a:spcPts val="1200"/>
              </a:spcAft>
              <a:defRPr/>
            </a:pPr>
            <a:r>
              <a:rPr lang="en-GB" dirty="0"/>
              <a:t>Copyright © 2021 Accenture.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97535222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POWER_POINT_EXCEL_LINK_TAG_NAME" val="{&quot;Id&quot;:&quot;4D9BF856-75CB-4562-86A8-CF6D1B49C683&quot;,&quot;SourceFullName&quot;:&quot;C:\\Users\\PRITI BHOLE\\Downloads\\Understanding consumer perception towards electric 2-wheeler vehicles in India(1-341).xlsx&quot;,&quot;LastUpdate&quot;:&quot;2021-08-25 1:46 AM&quot;,&quot;UpdatedBy&quot;:&quot;PRITI BHOLE&quot;,&quot;IsLinked&quot;:false,&quot;IsBrokenLink&quot;:false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OWER_USER_POWER_POINT_EXCEL_LINK_TAG_NAME" val="{&quot;Id&quot;:&quot;D300DC7D-E1B5-44C4-9A91-D6FA488EF660&quot;,&quot;SourceFullName&quot;:&quot;C:\\Users\\PRITI BHOLE\\Downloads\\Understanding consumer perception towards electric 2-wheeler vehicles in India(1-341).xlsx&quot;,&quot;LastUpdate&quot;:&quot;2021-08-25 7:00 PM&quot;,&quot;UpdatedBy&quot;:&quot;PRITI BHOLE&quot;,&quot;IsLinked&quot;:false,&quot;IsBrokenLink&quot;:false}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1202</Words>
  <Application>Microsoft Office PowerPoint</Application>
  <PresentationFormat>Widescreen</PresentationFormat>
  <Paragraphs>309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Calibri Light</vt:lpstr>
      <vt:lpstr>Georgia</vt:lpstr>
      <vt:lpstr>Georgia Pro Light</vt:lpstr>
      <vt:lpstr>Graphik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Ajinkya</dc:creator>
  <cp:lastModifiedBy>Priti Bhole</cp:lastModifiedBy>
  <cp:revision>3</cp:revision>
  <dcterms:created xsi:type="dcterms:W3CDTF">2021-08-22T08:08:39Z</dcterms:created>
  <dcterms:modified xsi:type="dcterms:W3CDTF">2025-05-04T19:37:28Z</dcterms:modified>
</cp:coreProperties>
</file>