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76" r:id="rId4"/>
    <p:sldId id="258" r:id="rId5"/>
    <p:sldId id="260" r:id="rId6"/>
    <p:sldId id="259" r:id="rId7"/>
    <p:sldId id="262" r:id="rId8"/>
    <p:sldId id="261" r:id="rId9"/>
    <p:sldId id="266" r:id="rId10"/>
    <p:sldId id="267" r:id="rId11"/>
    <p:sldId id="263" r:id="rId12"/>
    <p:sldId id="268" r:id="rId13"/>
    <p:sldId id="269" r:id="rId14"/>
    <p:sldId id="270" r:id="rId15"/>
    <p:sldId id="264" r:id="rId16"/>
    <p:sldId id="272" r:id="rId17"/>
    <p:sldId id="273" r:id="rId18"/>
    <p:sldId id="271" r:id="rId19"/>
    <p:sldId id="265"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ra prasad" userId="0a902c44138833d1" providerId="LiveId" clId="{469AA078-3049-4549-8371-BDC530C36859}"/>
    <pc:docChg chg="addSld modSld sldOrd">
      <pc:chgData name="vara prasad" userId="0a902c44138833d1" providerId="LiveId" clId="{469AA078-3049-4549-8371-BDC530C36859}" dt="2026-02-20T12:32:31.333" v="12"/>
      <pc:docMkLst>
        <pc:docMk/>
      </pc:docMkLst>
      <pc:sldChg chg="modSp mod">
        <pc:chgData name="vara prasad" userId="0a902c44138833d1" providerId="LiveId" clId="{469AA078-3049-4549-8371-BDC530C36859}" dt="2026-02-20T12:32:18.211" v="8" actId="20577"/>
        <pc:sldMkLst>
          <pc:docMk/>
          <pc:sldMk cId="527067680" sldId="256"/>
        </pc:sldMkLst>
        <pc:spChg chg="mod">
          <ac:chgData name="vara prasad" userId="0a902c44138833d1" providerId="LiveId" clId="{469AA078-3049-4549-8371-BDC530C36859}" dt="2026-02-20T12:32:18.211" v="8" actId="20577"/>
          <ac:spMkLst>
            <pc:docMk/>
            <pc:sldMk cId="527067680" sldId="256"/>
            <ac:spMk id="3" creationId="{C8615381-06E2-7518-3F74-C623F786DFC5}"/>
          </ac:spMkLst>
        </pc:spChg>
      </pc:sldChg>
      <pc:sldChg chg="ord">
        <pc:chgData name="vara prasad" userId="0a902c44138833d1" providerId="LiveId" clId="{469AA078-3049-4549-8371-BDC530C36859}" dt="2026-02-20T12:32:31.333" v="12"/>
        <pc:sldMkLst>
          <pc:docMk/>
          <pc:sldMk cId="2383010631" sldId="257"/>
        </pc:sldMkLst>
      </pc:sldChg>
      <pc:sldChg chg="new ord">
        <pc:chgData name="vara prasad" userId="0a902c44138833d1" providerId="LiveId" clId="{469AA078-3049-4549-8371-BDC530C36859}" dt="2026-02-20T12:32:25.363" v="10"/>
        <pc:sldMkLst>
          <pc:docMk/>
          <pc:sldMk cId="1339883894" sldId="27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D4ED-C0C6-FA17-C988-D997A633C8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0A838DC-3DEC-648F-8CE1-82A23C8291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6A68518-A958-1197-1A3B-3679880E7B1D}"/>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5" name="Footer Placeholder 4">
            <a:extLst>
              <a:ext uri="{FF2B5EF4-FFF2-40B4-BE49-F238E27FC236}">
                <a16:creationId xmlns:a16="http://schemas.microsoft.com/office/drawing/2014/main" id="{186855AC-CFCF-880B-71B8-00417DD98BB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394F5-F4EF-C39A-558B-364800856BB6}"/>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221554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92CBF-EA73-30EB-71B5-0E130AB0D3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CB4D5D-B096-7CF0-2923-3D73D6B989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16885-ACFD-9E36-9C5E-74908B7DCBB9}"/>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5" name="Footer Placeholder 4">
            <a:extLst>
              <a:ext uri="{FF2B5EF4-FFF2-40B4-BE49-F238E27FC236}">
                <a16:creationId xmlns:a16="http://schemas.microsoft.com/office/drawing/2014/main" id="{B69D7BF5-4898-66E0-9B30-A0D0B1369C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3A0DEC-06B5-1659-96BC-23FF4990C658}"/>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2696328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856CE-BD6F-EE91-78E8-01B2DED6AE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B569798-C973-F395-6F65-A19B9C6CF4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359AE1-996E-858C-C86D-7BCCEB109690}"/>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5" name="Footer Placeholder 4">
            <a:extLst>
              <a:ext uri="{FF2B5EF4-FFF2-40B4-BE49-F238E27FC236}">
                <a16:creationId xmlns:a16="http://schemas.microsoft.com/office/drawing/2014/main" id="{B530F978-EE2F-D07B-3AEB-F4FFC4548A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82C76F-FDF9-86AE-E671-D941E7CECA07}"/>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2399806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664B-4211-3CB4-0FA3-DB202BD1E2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881F4C-8707-2D64-8146-FBFF4324D7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4BBD1A-C62C-E79B-5C83-CFB2B86F6D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6A75C67-CFC1-A30A-49CF-3D7BAB1D66B6}"/>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6" name="Footer Placeholder 5">
            <a:extLst>
              <a:ext uri="{FF2B5EF4-FFF2-40B4-BE49-F238E27FC236}">
                <a16:creationId xmlns:a16="http://schemas.microsoft.com/office/drawing/2014/main" id="{9DB85CB2-4AF4-4E3F-246D-46910ED04E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79D293B-7963-E287-49EF-7C26EC4CB9F8}"/>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3865162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3A220-B048-9177-B51F-93595F2470D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D38AA7-C610-ADA7-DB9D-373376921E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FD2289-D13A-1DF5-DE7C-1DCEB42CA5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AD43CFC-E0AB-5C97-9C34-D630A78ECB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943F52-20C0-F482-6509-1D99E5FE5B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320DED-DB8D-BFD9-6DA1-4279346F39C8}"/>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8" name="Footer Placeholder 7">
            <a:extLst>
              <a:ext uri="{FF2B5EF4-FFF2-40B4-BE49-F238E27FC236}">
                <a16:creationId xmlns:a16="http://schemas.microsoft.com/office/drawing/2014/main" id="{92738484-6A7E-34FE-439E-D17C3C61EAD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0BBE8A-2445-1F2B-4EC1-9AB1AC0A39B0}"/>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3605927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8147D-FFDF-EC23-80CC-9E3413719F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3BBAED-4CDE-92B5-9290-7AA1437C5572}"/>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4" name="Footer Placeholder 3">
            <a:extLst>
              <a:ext uri="{FF2B5EF4-FFF2-40B4-BE49-F238E27FC236}">
                <a16:creationId xmlns:a16="http://schemas.microsoft.com/office/drawing/2014/main" id="{F82A61EA-4488-71CF-1F68-782DB7B2C0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FF5AEC-5AAB-424A-C6F2-840306C99946}"/>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945439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10920E-6DFB-CB4B-E421-3E3CB694EF60}"/>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3" name="Footer Placeholder 2">
            <a:extLst>
              <a:ext uri="{FF2B5EF4-FFF2-40B4-BE49-F238E27FC236}">
                <a16:creationId xmlns:a16="http://schemas.microsoft.com/office/drawing/2014/main" id="{DBFC2612-9B60-ACF4-4D8B-1114CD08DE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15D371-4396-DE03-E517-965C07DBBDDC}"/>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230195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40305-7365-4C5A-F3B5-9C8D7679DA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AD2F122-1BBF-C265-AF02-2B4DF1FDC4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12E993-6149-F01F-42BE-935A0E0548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1633D5-6C50-83A7-BC18-63D0EBD6D771}"/>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6" name="Footer Placeholder 5">
            <a:extLst>
              <a:ext uri="{FF2B5EF4-FFF2-40B4-BE49-F238E27FC236}">
                <a16:creationId xmlns:a16="http://schemas.microsoft.com/office/drawing/2014/main" id="{6E8B815A-03AC-0486-C765-398816EDB4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46CB8F1-9423-14D1-1B3A-C0310D6F096F}"/>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4099566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E7C65-C47F-3B00-3126-91C5B978D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7B344D4-338D-5A69-E734-26840C843A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47833B6-C5E3-2370-DC81-32CEF4819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29DCDC-6DDE-0223-5A48-CF763631DD8C}"/>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6" name="Footer Placeholder 5">
            <a:extLst>
              <a:ext uri="{FF2B5EF4-FFF2-40B4-BE49-F238E27FC236}">
                <a16:creationId xmlns:a16="http://schemas.microsoft.com/office/drawing/2014/main" id="{170FB46F-2C02-4262-317A-396B28979B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A20250-167A-928A-C87B-ED40004A9F4F}"/>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1593631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76D7-A4C4-F407-90DA-9322B7FAA6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6A2199-8B5A-A786-EBD6-7251C74C66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DC4FED-5A17-0FD7-1E96-137E7122796F}"/>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5" name="Footer Placeholder 4">
            <a:extLst>
              <a:ext uri="{FF2B5EF4-FFF2-40B4-BE49-F238E27FC236}">
                <a16:creationId xmlns:a16="http://schemas.microsoft.com/office/drawing/2014/main" id="{C735DD85-746C-E706-31DA-A0CAB14C06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1F1433-F38D-3923-F1EF-77075BAE6F61}"/>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2928531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401BF5-CCEB-376D-C360-0802C472ED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2B62D7-1DA5-E218-E075-6BAF70860C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CA998C-F5C8-4BF1-9503-BD2D5F2FAB5C}"/>
              </a:ext>
            </a:extLst>
          </p:cNvPr>
          <p:cNvSpPr>
            <a:spLocks noGrp="1"/>
          </p:cNvSpPr>
          <p:nvPr>
            <p:ph type="dt" sz="half" idx="10"/>
          </p:nvPr>
        </p:nvSpPr>
        <p:spPr/>
        <p:txBody>
          <a:bodyPr/>
          <a:lstStyle/>
          <a:p>
            <a:fld id="{635F9FAD-BAC1-4ACF-8566-401028E6CAF9}" type="datetimeFigureOut">
              <a:rPr lang="en-IN" smtClean="0"/>
              <a:t>20-02-2026</a:t>
            </a:fld>
            <a:endParaRPr lang="en-IN"/>
          </a:p>
        </p:txBody>
      </p:sp>
      <p:sp>
        <p:nvSpPr>
          <p:cNvPr id="5" name="Footer Placeholder 4">
            <a:extLst>
              <a:ext uri="{FF2B5EF4-FFF2-40B4-BE49-F238E27FC236}">
                <a16:creationId xmlns:a16="http://schemas.microsoft.com/office/drawing/2014/main" id="{88A7C82C-787F-CA01-332D-BA1C6B1C9C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934BB6-EF9C-36A2-CF28-E6E5A2BF64A6}"/>
              </a:ext>
            </a:extLst>
          </p:cNvPr>
          <p:cNvSpPr>
            <a:spLocks noGrp="1"/>
          </p:cNvSpPr>
          <p:nvPr>
            <p:ph type="sldNum" sz="quarter" idx="12"/>
          </p:nvPr>
        </p:nvSpPr>
        <p:spPr/>
        <p:txBody>
          <a:bodyPr/>
          <a:lstStyle/>
          <a:p>
            <a:fld id="{E90E9F49-15EF-44FA-9535-F70215565D24}" type="slidenum">
              <a:rPr lang="en-IN" smtClean="0"/>
              <a:t>‹#›</a:t>
            </a:fld>
            <a:endParaRPr lang="en-IN"/>
          </a:p>
        </p:txBody>
      </p:sp>
    </p:spTree>
    <p:extLst>
      <p:ext uri="{BB962C8B-B14F-4D97-AF65-F5344CB8AC3E}">
        <p14:creationId xmlns:p14="http://schemas.microsoft.com/office/powerpoint/2010/main" val="866482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B88FCF-1E9B-6020-0FA1-812400E070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C88A0D-7E3D-485B-7B14-34AB7DDF28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175B1C-7756-AD97-A68F-4F438D2FB2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5F9FAD-BAC1-4ACF-8566-401028E6CAF9}" type="datetimeFigureOut">
              <a:rPr lang="en-IN" smtClean="0"/>
              <a:t>20-02-2026</a:t>
            </a:fld>
            <a:endParaRPr lang="en-IN"/>
          </a:p>
        </p:txBody>
      </p:sp>
      <p:sp>
        <p:nvSpPr>
          <p:cNvPr id="5" name="Footer Placeholder 4">
            <a:extLst>
              <a:ext uri="{FF2B5EF4-FFF2-40B4-BE49-F238E27FC236}">
                <a16:creationId xmlns:a16="http://schemas.microsoft.com/office/drawing/2014/main" id="{C9FCBAF5-D496-0D8B-456D-5A6857BB8B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BEADA5-202F-3C5F-5F3C-CB10B9F587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0E9F49-15EF-44FA-9535-F70215565D24}" type="slidenum">
              <a:rPr lang="en-IN" smtClean="0"/>
              <a:t>‹#›</a:t>
            </a:fld>
            <a:endParaRPr lang="en-IN"/>
          </a:p>
        </p:txBody>
      </p:sp>
    </p:spTree>
    <p:extLst>
      <p:ext uri="{BB962C8B-B14F-4D97-AF65-F5344CB8AC3E}">
        <p14:creationId xmlns:p14="http://schemas.microsoft.com/office/powerpoint/2010/main" val="335523983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E1A31-1AA4-1C00-5542-645417B40F9B}"/>
              </a:ext>
            </a:extLst>
          </p:cNvPr>
          <p:cNvSpPr>
            <a:spLocks noGrp="1"/>
          </p:cNvSpPr>
          <p:nvPr>
            <p:ph type="ctrTitle"/>
          </p:nvPr>
        </p:nvSpPr>
        <p:spPr/>
        <p:txBody>
          <a:bodyPr>
            <a:normAutofit/>
          </a:bodyPr>
          <a:lstStyle/>
          <a:p>
            <a:r>
              <a:rPr lang="en-IN" b="1" dirty="0">
                <a:latin typeface="Algerian" panose="04020705040A02060702" pitchFamily="82" charset="0"/>
              </a:rPr>
              <a:t>Directions</a:t>
            </a:r>
          </a:p>
        </p:txBody>
      </p:sp>
      <p:sp>
        <p:nvSpPr>
          <p:cNvPr id="3" name="Subtitle 2">
            <a:extLst>
              <a:ext uri="{FF2B5EF4-FFF2-40B4-BE49-F238E27FC236}">
                <a16:creationId xmlns:a16="http://schemas.microsoft.com/office/drawing/2014/main" id="{C8615381-06E2-7518-3F74-C623F786DFC5}"/>
              </a:ext>
            </a:extLst>
          </p:cNvPr>
          <p:cNvSpPr>
            <a:spLocks noGrp="1"/>
          </p:cNvSpPr>
          <p:nvPr>
            <p:ph type="subTitle" idx="1"/>
          </p:nvPr>
        </p:nvSpPr>
        <p:spPr/>
        <p:txBody>
          <a:bodyPr/>
          <a:lstStyle/>
          <a:p>
            <a:r>
              <a:rPr lang="en-IN" dirty="0">
                <a:latin typeface="Algerian" panose="04020705040A02060702" pitchFamily="82" charset="0"/>
              </a:rPr>
              <a:t>N-s-e-w</a:t>
            </a:r>
          </a:p>
        </p:txBody>
      </p:sp>
    </p:spTree>
    <p:extLst>
      <p:ext uri="{BB962C8B-B14F-4D97-AF65-F5344CB8AC3E}">
        <p14:creationId xmlns:p14="http://schemas.microsoft.com/office/powerpoint/2010/main" val="52706768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Vastu Directions,Importance of ...">
            <a:extLst>
              <a:ext uri="{FF2B5EF4-FFF2-40B4-BE49-F238E27FC236}">
                <a16:creationId xmlns:a16="http://schemas.microsoft.com/office/drawing/2014/main" id="{05AAD83D-CD3D-EFBD-DD50-BF16B13DA7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9862" y="1211094"/>
            <a:ext cx="4812276" cy="3901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0106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9883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E3540-3ABF-EF80-66CC-F7F86528B3F5}"/>
              </a:ext>
            </a:extLst>
          </p:cNvPr>
          <p:cNvSpPr>
            <a:spLocks noGrp="1"/>
          </p:cNvSpPr>
          <p:nvPr>
            <p:ph type="title"/>
          </p:nvPr>
        </p:nvSpPr>
        <p:spPr/>
        <p:txBody>
          <a:bodyPr>
            <a:normAutofit/>
          </a:bodyPr>
          <a:lstStyle/>
          <a:p>
            <a:pPr algn="ctr"/>
            <a:r>
              <a:rPr lang="en-IN" sz="4000" dirty="0">
                <a:latin typeface="Algerian" panose="04020705040A02060702" pitchFamily="82" charset="0"/>
              </a:rPr>
              <a:t>Demonstration of Left turn and right turn</a:t>
            </a:r>
          </a:p>
        </p:txBody>
      </p:sp>
      <p:sp>
        <p:nvSpPr>
          <p:cNvPr id="6" name="Content Placeholder 5">
            <a:extLst>
              <a:ext uri="{FF2B5EF4-FFF2-40B4-BE49-F238E27FC236}">
                <a16:creationId xmlns:a16="http://schemas.microsoft.com/office/drawing/2014/main" id="{51C8C1EC-1426-D675-9586-4E4ED6063195}"/>
              </a:ext>
            </a:extLst>
          </p:cNvPr>
          <p:cNvSpPr>
            <a:spLocks noGrp="1"/>
          </p:cNvSpPr>
          <p:nvPr>
            <p:ph idx="1"/>
          </p:nvPr>
        </p:nvSpPr>
        <p:spPr/>
        <p:txBody>
          <a:bodyPr>
            <a:normAutofit/>
          </a:bodyPr>
          <a:lstStyle/>
          <a:p>
            <a:r>
              <a:rPr lang="en-IN" sz="2400" dirty="0">
                <a:latin typeface="Algerian" panose="04020705040A02060702" pitchFamily="82" charset="0"/>
              </a:rPr>
              <a:t>Facing North                                                      Facing South  </a:t>
            </a:r>
          </a:p>
          <a:p>
            <a:endParaRPr lang="en-IN" sz="2400" dirty="0">
              <a:latin typeface="Algerian" panose="04020705040A02060702" pitchFamily="82" charset="0"/>
            </a:endParaRPr>
          </a:p>
          <a:p>
            <a:pPr marL="0" indent="0">
              <a:buNone/>
            </a:pPr>
            <a:endParaRPr lang="en-IN" sz="2400" dirty="0">
              <a:latin typeface="Algerian" panose="04020705040A02060702" pitchFamily="82" charset="0"/>
            </a:endParaRPr>
          </a:p>
        </p:txBody>
      </p:sp>
      <p:sp>
        <p:nvSpPr>
          <p:cNvPr id="8" name="Arrow: Up 7">
            <a:extLst>
              <a:ext uri="{FF2B5EF4-FFF2-40B4-BE49-F238E27FC236}">
                <a16:creationId xmlns:a16="http://schemas.microsoft.com/office/drawing/2014/main" id="{6EF6DDF4-1C02-8469-3536-362A7B6C2BDC}"/>
              </a:ext>
            </a:extLst>
          </p:cNvPr>
          <p:cNvSpPr/>
          <p:nvPr/>
        </p:nvSpPr>
        <p:spPr>
          <a:xfrm>
            <a:off x="1695299" y="2393424"/>
            <a:ext cx="747251" cy="125607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058" name="Picture 10" descr="Right and Left Display Poster (teacher ...">
            <a:extLst>
              <a:ext uri="{FF2B5EF4-FFF2-40B4-BE49-F238E27FC236}">
                <a16:creationId xmlns:a16="http://schemas.microsoft.com/office/drawing/2014/main" id="{447EE8A8-06A0-DE7D-AA41-0ECAE9572C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83" y="4217296"/>
            <a:ext cx="3028950" cy="1514475"/>
          </a:xfrm>
          <a:prstGeom prst="rect">
            <a:avLst/>
          </a:prstGeom>
          <a:noFill/>
          <a:extLst>
            <a:ext uri="{909E8E84-426E-40DD-AFC4-6F175D3DCCD1}">
              <a14:hiddenFill xmlns:a14="http://schemas.microsoft.com/office/drawing/2010/main">
                <a:solidFill>
                  <a:srgbClr val="FFFFFF"/>
                </a:solidFill>
              </a14:hiddenFill>
            </a:ext>
          </a:extLst>
        </p:spPr>
      </p:pic>
      <p:sp>
        <p:nvSpPr>
          <p:cNvPr id="9" name="Arrow: Down 8">
            <a:extLst>
              <a:ext uri="{FF2B5EF4-FFF2-40B4-BE49-F238E27FC236}">
                <a16:creationId xmlns:a16="http://schemas.microsoft.com/office/drawing/2014/main" id="{7C4CC851-006A-B4D7-F13F-B56FFC41F4DC}"/>
              </a:ext>
            </a:extLst>
          </p:cNvPr>
          <p:cNvSpPr/>
          <p:nvPr/>
        </p:nvSpPr>
        <p:spPr>
          <a:xfrm>
            <a:off x="7891619" y="2393425"/>
            <a:ext cx="747251" cy="125607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 name="Picture 10" descr="Right and Left Display Poster (teacher ...">
            <a:extLst>
              <a:ext uri="{FF2B5EF4-FFF2-40B4-BE49-F238E27FC236}">
                <a16:creationId xmlns:a16="http://schemas.microsoft.com/office/drawing/2014/main" id="{2919614D-566B-0650-5B8F-52F9D9336D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a:off x="6927443" y="4217295"/>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08993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267A6-B9EA-91E5-8A2C-9389A96D1966}"/>
              </a:ext>
            </a:extLst>
          </p:cNvPr>
          <p:cNvSpPr>
            <a:spLocks noGrp="1"/>
          </p:cNvSpPr>
          <p:nvPr>
            <p:ph type="title"/>
          </p:nvPr>
        </p:nvSpPr>
        <p:spPr/>
        <p:txBody>
          <a:bodyPr>
            <a:normAutofit/>
          </a:bodyPr>
          <a:lstStyle/>
          <a:p>
            <a:pPr algn="ctr"/>
            <a:r>
              <a:rPr lang="en-IN" sz="4000" dirty="0">
                <a:latin typeface="Algerian" panose="04020705040A02060702" pitchFamily="82" charset="0"/>
              </a:rPr>
              <a:t>Demonstration of Left turn and right turn</a:t>
            </a:r>
          </a:p>
        </p:txBody>
      </p:sp>
      <p:sp>
        <p:nvSpPr>
          <p:cNvPr id="3" name="Content Placeholder 2">
            <a:extLst>
              <a:ext uri="{FF2B5EF4-FFF2-40B4-BE49-F238E27FC236}">
                <a16:creationId xmlns:a16="http://schemas.microsoft.com/office/drawing/2014/main" id="{1ACE553A-AA43-197D-EB13-8334C79DBA20}"/>
              </a:ext>
            </a:extLst>
          </p:cNvPr>
          <p:cNvSpPr>
            <a:spLocks noGrp="1"/>
          </p:cNvSpPr>
          <p:nvPr>
            <p:ph idx="1"/>
          </p:nvPr>
        </p:nvSpPr>
        <p:spPr/>
        <p:txBody>
          <a:bodyPr>
            <a:normAutofit/>
          </a:bodyPr>
          <a:lstStyle/>
          <a:p>
            <a:r>
              <a:rPr lang="en-IN" sz="2400" dirty="0">
                <a:latin typeface="Algerian" panose="04020705040A02060702" pitchFamily="82" charset="0"/>
              </a:rPr>
              <a:t>Facing East                                                         Facing West</a:t>
            </a:r>
          </a:p>
        </p:txBody>
      </p:sp>
      <p:sp>
        <p:nvSpPr>
          <p:cNvPr id="4" name="Arrow: Right 3">
            <a:extLst>
              <a:ext uri="{FF2B5EF4-FFF2-40B4-BE49-F238E27FC236}">
                <a16:creationId xmlns:a16="http://schemas.microsoft.com/office/drawing/2014/main" id="{075FB538-5732-B7AA-6413-B60ABBB90CEE}"/>
              </a:ext>
            </a:extLst>
          </p:cNvPr>
          <p:cNvSpPr/>
          <p:nvPr/>
        </p:nvSpPr>
        <p:spPr>
          <a:xfrm>
            <a:off x="1182016" y="2680979"/>
            <a:ext cx="2133600" cy="9340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Left 4">
            <a:extLst>
              <a:ext uri="{FF2B5EF4-FFF2-40B4-BE49-F238E27FC236}">
                <a16:creationId xmlns:a16="http://schemas.microsoft.com/office/drawing/2014/main" id="{EF9857A2-2EC3-D233-CDD5-27E78C21BCF2}"/>
              </a:ext>
            </a:extLst>
          </p:cNvPr>
          <p:cNvSpPr/>
          <p:nvPr/>
        </p:nvSpPr>
        <p:spPr>
          <a:xfrm>
            <a:off x="7403691" y="2750622"/>
            <a:ext cx="2133600" cy="93406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10" descr="Right and Left Display Poster (teacher ...">
            <a:extLst>
              <a:ext uri="{FF2B5EF4-FFF2-40B4-BE49-F238E27FC236}">
                <a16:creationId xmlns:a16="http://schemas.microsoft.com/office/drawing/2014/main" id="{7D3D3B7B-F569-4B34-30BA-355A25209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734341" y="4555510"/>
            <a:ext cx="3028950" cy="15144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0" descr="Right and Left Display Poster (teacher ...">
            <a:extLst>
              <a:ext uri="{FF2B5EF4-FFF2-40B4-BE49-F238E27FC236}">
                <a16:creationId xmlns:a16="http://schemas.microsoft.com/office/drawing/2014/main" id="{1576072E-6C6B-BFCC-C29D-3EF3EBF6D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6956016" y="4555509"/>
            <a:ext cx="3028950" cy="1514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2898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0D02-0708-BC4A-AE23-7964D638AEC4}"/>
              </a:ext>
            </a:extLst>
          </p:cNvPr>
          <p:cNvSpPr>
            <a:spLocks noGrp="1"/>
          </p:cNvSpPr>
          <p:nvPr>
            <p:ph type="title"/>
          </p:nvPr>
        </p:nvSpPr>
        <p:spPr/>
        <p:txBody>
          <a:bodyPr>
            <a:normAutofit/>
          </a:bodyPr>
          <a:lstStyle/>
          <a:p>
            <a:pPr algn="ctr"/>
            <a:r>
              <a:rPr lang="en-IN" sz="4000" dirty="0">
                <a:latin typeface="Algerian" panose="04020705040A02060702" pitchFamily="82" charset="0"/>
              </a:rPr>
              <a:t>Sunset and Sunrise</a:t>
            </a:r>
          </a:p>
        </p:txBody>
      </p:sp>
      <p:pic>
        <p:nvPicPr>
          <p:cNvPr id="4" name="Picture 6" descr="In today's flat scheme, it is very difficult to find a Vastu compliant  house. Is it okay to have a North-East facing house and a Southwest bedroom  sufficient to buy the flat? -">
            <a:extLst>
              <a:ext uri="{FF2B5EF4-FFF2-40B4-BE49-F238E27FC236}">
                <a16:creationId xmlns:a16="http://schemas.microsoft.com/office/drawing/2014/main" id="{E9B79934-9F4B-14F0-9E36-1F0992969D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5077" y="2052637"/>
            <a:ext cx="5303848" cy="275272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Direction Sense – Mathelogical">
            <a:extLst>
              <a:ext uri="{FF2B5EF4-FFF2-40B4-BE49-F238E27FC236}">
                <a16:creationId xmlns:a16="http://schemas.microsoft.com/office/drawing/2014/main" id="{7FCA9398-399D-74F8-1785-8961EE81BE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123" y="1988726"/>
            <a:ext cx="4876800" cy="2880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708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4E94C-E0D1-CD40-FB66-4E4B3FA7FDF2}"/>
              </a:ext>
            </a:extLst>
          </p:cNvPr>
          <p:cNvSpPr>
            <a:spLocks noGrp="1"/>
          </p:cNvSpPr>
          <p:nvPr>
            <p:ph type="title"/>
          </p:nvPr>
        </p:nvSpPr>
        <p:spPr/>
        <p:txBody>
          <a:bodyPr>
            <a:normAutofit/>
          </a:bodyPr>
          <a:lstStyle/>
          <a:p>
            <a:pPr algn="ctr"/>
            <a:r>
              <a:rPr lang="en-IN" sz="4000" dirty="0">
                <a:latin typeface="Algerian" panose="04020705040A02060702" pitchFamily="82" charset="0"/>
              </a:rPr>
              <a:t>Clock Based</a:t>
            </a:r>
          </a:p>
        </p:txBody>
      </p:sp>
      <p:pic>
        <p:nvPicPr>
          <p:cNvPr id="4098" name="Picture 2" descr="Direction Sense Reasoning Type 2 - Verbal Reasoning - Shortcut Tricks">
            <a:extLst>
              <a:ext uri="{FF2B5EF4-FFF2-40B4-BE49-F238E27FC236}">
                <a16:creationId xmlns:a16="http://schemas.microsoft.com/office/drawing/2014/main" id="{73899FA9-43D8-AA05-58CF-BEF37C67B2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97161" y="2074146"/>
            <a:ext cx="5997678" cy="3593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44490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1ED3-6BA7-9076-DA2D-7483CDD0B791}"/>
              </a:ext>
            </a:extLst>
          </p:cNvPr>
          <p:cNvSpPr>
            <a:spLocks noGrp="1"/>
          </p:cNvSpPr>
          <p:nvPr>
            <p:ph type="title"/>
          </p:nvPr>
        </p:nvSpPr>
        <p:spPr/>
        <p:txBody>
          <a:bodyPr>
            <a:normAutofit/>
          </a:bodyPr>
          <a:lstStyle/>
          <a:p>
            <a:r>
              <a:rPr lang="en-IN" sz="4000" dirty="0">
                <a:latin typeface="Algerian" panose="04020705040A02060702" pitchFamily="82" charset="0"/>
              </a:rPr>
              <a:t>Model 1:</a:t>
            </a:r>
          </a:p>
        </p:txBody>
      </p:sp>
      <p:sp>
        <p:nvSpPr>
          <p:cNvPr id="3" name="Content Placeholder 2">
            <a:extLst>
              <a:ext uri="{FF2B5EF4-FFF2-40B4-BE49-F238E27FC236}">
                <a16:creationId xmlns:a16="http://schemas.microsoft.com/office/drawing/2014/main" id="{9BB96562-CFF0-1061-8FEE-B6FE3839D7B4}"/>
              </a:ext>
            </a:extLst>
          </p:cNvPr>
          <p:cNvSpPr>
            <a:spLocks noGrp="1"/>
          </p:cNvSpPr>
          <p:nvPr>
            <p:ph idx="1"/>
          </p:nvPr>
        </p:nvSpPr>
        <p:spPr>
          <a:xfrm>
            <a:off x="612058" y="1589651"/>
            <a:ext cx="10515600" cy="4351338"/>
          </a:xfrm>
        </p:spPr>
        <p:txBody>
          <a:bodyPr>
            <a:normAutofit/>
          </a:bodyPr>
          <a:lstStyle/>
          <a:p>
            <a:pPr marL="514350" indent="-514350">
              <a:buAutoNum type="arabicParenR"/>
            </a:pPr>
            <a:r>
              <a:rPr lang="en-US" sz="2400" b="1" i="0" dirty="0">
                <a:effectLst/>
              </a:rPr>
              <a:t>A man walks 5 km toward south and then turns to the right. After walking 3 km he turns to the left and walks 5 km. Now in which direction is he from the starting place?</a:t>
            </a:r>
            <a:endParaRPr lang="en-IN" sz="2400" b="1" i="0" dirty="0">
              <a:effectLst/>
            </a:endParaRPr>
          </a:p>
        </p:txBody>
      </p:sp>
    </p:spTree>
    <p:extLst>
      <p:ext uri="{BB962C8B-B14F-4D97-AF65-F5344CB8AC3E}">
        <p14:creationId xmlns:p14="http://schemas.microsoft.com/office/powerpoint/2010/main" val="28140619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33D242-2D02-A98A-A67E-FD8FE607A3DD}"/>
              </a:ext>
            </a:extLst>
          </p:cNvPr>
          <p:cNvSpPr txBox="1"/>
          <p:nvPr/>
        </p:nvSpPr>
        <p:spPr>
          <a:xfrm>
            <a:off x="462116" y="619432"/>
            <a:ext cx="11264310" cy="1569660"/>
          </a:xfrm>
          <a:prstGeom prst="rect">
            <a:avLst/>
          </a:prstGeom>
          <a:noFill/>
        </p:spPr>
        <p:txBody>
          <a:bodyPr wrap="square" rtlCol="0">
            <a:spAutoFit/>
          </a:bodyPr>
          <a:lstStyle/>
          <a:p>
            <a:r>
              <a:rPr lang="en-US" sz="2400" b="1" i="0" dirty="0">
                <a:effectLst/>
              </a:rPr>
              <a:t>2. </a:t>
            </a:r>
            <a:r>
              <a:rPr lang="en-US" sz="2400" b="1" i="0" dirty="0" err="1">
                <a:effectLst/>
              </a:rPr>
              <a:t>Rasik</a:t>
            </a:r>
            <a:r>
              <a:rPr lang="en-US" sz="2400" b="1" i="0" dirty="0">
                <a:effectLst/>
              </a:rPr>
              <a:t> walked 20 m towards north. Then he turned right and walks 30 m. Then he turns right and walks 35 m. Then he turns left and walks 15 m. Finally he turns left and walks 15 m. In which direction and how many </a:t>
            </a:r>
            <a:r>
              <a:rPr lang="en-US" sz="2400" b="1" i="0" dirty="0" err="1">
                <a:effectLst/>
              </a:rPr>
              <a:t>metres</a:t>
            </a:r>
            <a:r>
              <a:rPr lang="en-US" sz="2400" b="1" i="0" dirty="0">
                <a:effectLst/>
              </a:rPr>
              <a:t> is he from the starting position?</a:t>
            </a:r>
            <a:endParaRPr lang="en-IN" sz="2400" b="1" dirty="0"/>
          </a:p>
          <a:p>
            <a:endParaRPr lang="en-IN" sz="2400" b="1" dirty="0"/>
          </a:p>
        </p:txBody>
      </p:sp>
    </p:spTree>
    <p:extLst>
      <p:ext uri="{BB962C8B-B14F-4D97-AF65-F5344CB8AC3E}">
        <p14:creationId xmlns:p14="http://schemas.microsoft.com/office/powerpoint/2010/main" val="3179669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1830C4-464C-D138-CB68-6AE6562DEEE2}"/>
              </a:ext>
            </a:extLst>
          </p:cNvPr>
          <p:cNvSpPr txBox="1"/>
          <p:nvPr/>
        </p:nvSpPr>
        <p:spPr>
          <a:xfrm>
            <a:off x="442452" y="471948"/>
            <a:ext cx="11193539" cy="1569660"/>
          </a:xfrm>
          <a:prstGeom prst="rect">
            <a:avLst/>
          </a:prstGeom>
          <a:noFill/>
        </p:spPr>
        <p:txBody>
          <a:bodyPr wrap="square" rtlCol="0">
            <a:spAutoFit/>
          </a:bodyPr>
          <a:lstStyle/>
          <a:p>
            <a:r>
              <a:rPr lang="en-US" sz="2400" b="1" i="0" dirty="0">
                <a:effectLst/>
              </a:rPr>
              <a:t>3. A boy rode his bicycle Northward, then turned left and rode 1 km and again turned left and rode 2 km. He found himself 1 km west of his starting point. How far did he ride northward initially?</a:t>
            </a:r>
            <a:endParaRPr lang="en-IN" sz="2400" b="1" dirty="0"/>
          </a:p>
          <a:p>
            <a:endParaRPr lang="en-IN" sz="2400" b="1" dirty="0"/>
          </a:p>
        </p:txBody>
      </p:sp>
    </p:spTree>
    <p:extLst>
      <p:ext uri="{BB962C8B-B14F-4D97-AF65-F5344CB8AC3E}">
        <p14:creationId xmlns:p14="http://schemas.microsoft.com/office/powerpoint/2010/main" val="2059973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F51D9-35F5-6EA9-CB65-762263BFDEE5}"/>
              </a:ext>
            </a:extLst>
          </p:cNvPr>
          <p:cNvSpPr>
            <a:spLocks noGrp="1"/>
          </p:cNvSpPr>
          <p:nvPr>
            <p:ph type="title"/>
          </p:nvPr>
        </p:nvSpPr>
        <p:spPr/>
        <p:txBody>
          <a:bodyPr>
            <a:normAutofit/>
          </a:bodyPr>
          <a:lstStyle/>
          <a:p>
            <a:r>
              <a:rPr lang="en-IN" sz="4000" dirty="0">
                <a:latin typeface="Algerian" panose="04020705040A02060702" pitchFamily="82" charset="0"/>
              </a:rPr>
              <a:t>Model 2:</a:t>
            </a:r>
          </a:p>
        </p:txBody>
      </p:sp>
      <p:sp>
        <p:nvSpPr>
          <p:cNvPr id="3" name="Content Placeholder 2">
            <a:extLst>
              <a:ext uri="{FF2B5EF4-FFF2-40B4-BE49-F238E27FC236}">
                <a16:creationId xmlns:a16="http://schemas.microsoft.com/office/drawing/2014/main" id="{B409853D-8C02-4A44-D0C1-5363C20C66EE}"/>
              </a:ext>
            </a:extLst>
          </p:cNvPr>
          <p:cNvSpPr>
            <a:spLocks noGrp="1"/>
          </p:cNvSpPr>
          <p:nvPr>
            <p:ph idx="1"/>
          </p:nvPr>
        </p:nvSpPr>
        <p:spPr>
          <a:xfrm>
            <a:off x="572729" y="1520825"/>
            <a:ext cx="10515600" cy="4351338"/>
          </a:xfrm>
        </p:spPr>
        <p:txBody>
          <a:bodyPr>
            <a:noAutofit/>
          </a:bodyPr>
          <a:lstStyle/>
          <a:p>
            <a:pPr marL="514350" indent="-514350">
              <a:buAutoNum type="arabicParenR"/>
            </a:pPr>
            <a:r>
              <a:rPr lang="en-US" sz="2400" b="1" i="0" dirty="0">
                <a:effectLst/>
              </a:rPr>
              <a:t>If South-East becomes North, North-East becomes West and so on. What will West become?</a:t>
            </a:r>
            <a:endParaRPr lang="en-IN" sz="2400" b="1" i="0" dirty="0">
              <a:effectLst/>
            </a:endParaRPr>
          </a:p>
          <a:p>
            <a:pPr marL="0" indent="0">
              <a:buNone/>
            </a:pPr>
            <a:endParaRPr lang="en-US" sz="2400" b="1" i="0" dirty="0">
              <a:effectLst/>
            </a:endParaRPr>
          </a:p>
        </p:txBody>
      </p:sp>
    </p:spTree>
    <p:extLst>
      <p:ext uri="{BB962C8B-B14F-4D97-AF65-F5344CB8AC3E}">
        <p14:creationId xmlns:p14="http://schemas.microsoft.com/office/powerpoint/2010/main" val="6458464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A061D-0067-171D-CDA5-FD53B0889A87}"/>
              </a:ext>
            </a:extLst>
          </p:cNvPr>
          <p:cNvSpPr txBox="1"/>
          <p:nvPr/>
        </p:nvSpPr>
        <p:spPr>
          <a:xfrm>
            <a:off x="570270" y="521110"/>
            <a:ext cx="10107561" cy="1200329"/>
          </a:xfrm>
          <a:prstGeom prst="rect">
            <a:avLst/>
          </a:prstGeom>
          <a:noFill/>
        </p:spPr>
        <p:txBody>
          <a:bodyPr wrap="square" rtlCol="0">
            <a:spAutoFit/>
          </a:bodyPr>
          <a:lstStyle/>
          <a:p>
            <a:r>
              <a:rPr lang="en-US" sz="2400" b="1" i="0" dirty="0">
                <a:effectLst/>
              </a:rPr>
              <a:t>2. Y is in the East of X which is in the North of Z. If P is in the South of Z, then in which direction of Y, is P?</a:t>
            </a:r>
          </a:p>
          <a:p>
            <a:endParaRPr lang="en-IN" sz="2400" b="1" dirty="0"/>
          </a:p>
        </p:txBody>
      </p:sp>
    </p:spTree>
    <p:extLst>
      <p:ext uri="{BB962C8B-B14F-4D97-AF65-F5344CB8AC3E}">
        <p14:creationId xmlns:p14="http://schemas.microsoft.com/office/powerpoint/2010/main" val="676189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3440C0-9FE7-F1EB-DB34-B078195C1E60}"/>
              </a:ext>
            </a:extLst>
          </p:cNvPr>
          <p:cNvSpPr txBox="1"/>
          <p:nvPr/>
        </p:nvSpPr>
        <p:spPr>
          <a:xfrm>
            <a:off x="275303" y="334297"/>
            <a:ext cx="10795820" cy="1200329"/>
          </a:xfrm>
          <a:prstGeom prst="rect">
            <a:avLst/>
          </a:prstGeom>
          <a:noFill/>
        </p:spPr>
        <p:txBody>
          <a:bodyPr wrap="square" rtlCol="0">
            <a:spAutoFit/>
          </a:bodyPr>
          <a:lstStyle/>
          <a:p>
            <a:r>
              <a:rPr lang="en-US" sz="2400" b="1" i="0" dirty="0">
                <a:effectLst/>
              </a:rPr>
              <a:t>3. K is 40 m South-West of L. If M is 40 m South-East of L, then M is in which direction of K?</a:t>
            </a:r>
          </a:p>
          <a:p>
            <a:endParaRPr lang="en-IN" sz="2400" b="1" dirty="0"/>
          </a:p>
        </p:txBody>
      </p:sp>
    </p:spTree>
    <p:extLst>
      <p:ext uri="{BB962C8B-B14F-4D97-AF65-F5344CB8AC3E}">
        <p14:creationId xmlns:p14="http://schemas.microsoft.com/office/powerpoint/2010/main" val="2273382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3D7CEA-931F-9CD4-1792-C51025CD525C}"/>
              </a:ext>
            </a:extLst>
          </p:cNvPr>
          <p:cNvSpPr txBox="1"/>
          <p:nvPr/>
        </p:nvSpPr>
        <p:spPr>
          <a:xfrm>
            <a:off x="462116" y="629265"/>
            <a:ext cx="10972800" cy="1569660"/>
          </a:xfrm>
          <a:prstGeom prst="rect">
            <a:avLst/>
          </a:prstGeom>
          <a:noFill/>
        </p:spPr>
        <p:txBody>
          <a:bodyPr wrap="square" rtlCol="0">
            <a:spAutoFit/>
          </a:bodyPr>
          <a:lstStyle/>
          <a:p>
            <a:r>
              <a:rPr lang="en-US" sz="2400" b="1" i="0" dirty="0">
                <a:effectLst/>
              </a:rPr>
              <a:t>4. Some boys are sitting in three rows all facing North such that A is in the middle row. P is just to the right of A but in the same row. Q is just behind of P while R is in the North of A. In which direction of R is Q?</a:t>
            </a:r>
          </a:p>
          <a:p>
            <a:endParaRPr lang="en-IN" sz="2400" b="1" dirty="0"/>
          </a:p>
        </p:txBody>
      </p:sp>
    </p:spTree>
    <p:extLst>
      <p:ext uri="{BB962C8B-B14F-4D97-AF65-F5344CB8AC3E}">
        <p14:creationId xmlns:p14="http://schemas.microsoft.com/office/powerpoint/2010/main" val="1625687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EE0B-BAE2-0AFA-3EA4-01CF6926CE1F}"/>
              </a:ext>
            </a:extLst>
          </p:cNvPr>
          <p:cNvSpPr>
            <a:spLocks noGrp="1"/>
          </p:cNvSpPr>
          <p:nvPr>
            <p:ph type="title"/>
          </p:nvPr>
        </p:nvSpPr>
        <p:spPr/>
        <p:txBody>
          <a:bodyPr>
            <a:normAutofit/>
          </a:bodyPr>
          <a:lstStyle/>
          <a:p>
            <a:r>
              <a:rPr lang="en-IN" sz="4000" dirty="0">
                <a:latin typeface="Algerian" panose="04020705040A02060702" pitchFamily="82" charset="0"/>
              </a:rPr>
              <a:t>Model 3:</a:t>
            </a:r>
          </a:p>
        </p:txBody>
      </p:sp>
      <p:sp>
        <p:nvSpPr>
          <p:cNvPr id="3" name="Content Placeholder 2">
            <a:extLst>
              <a:ext uri="{FF2B5EF4-FFF2-40B4-BE49-F238E27FC236}">
                <a16:creationId xmlns:a16="http://schemas.microsoft.com/office/drawing/2014/main" id="{916DD425-A8C1-39F1-B237-0F47BA29A804}"/>
              </a:ext>
            </a:extLst>
          </p:cNvPr>
          <p:cNvSpPr>
            <a:spLocks noGrp="1"/>
          </p:cNvSpPr>
          <p:nvPr>
            <p:ph idx="1"/>
          </p:nvPr>
        </p:nvSpPr>
        <p:spPr>
          <a:xfrm>
            <a:off x="838200" y="1425677"/>
            <a:ext cx="10515600" cy="4751286"/>
          </a:xfrm>
        </p:spPr>
        <p:txBody>
          <a:bodyPr>
            <a:noAutofit/>
          </a:bodyPr>
          <a:lstStyle/>
          <a:p>
            <a:pPr marL="514350" indent="-514350">
              <a:buAutoNum type="arabicParenR"/>
            </a:pPr>
            <a:r>
              <a:rPr lang="en-US" sz="2400" b="1" i="0" dirty="0">
                <a:effectLst/>
              </a:rPr>
              <a:t>One morning Udai and Vishal were talking to each other face to face at a crossing. If Vishal's shadow was exactly to the left of Udai, which direction was Udai facing?</a:t>
            </a:r>
          </a:p>
        </p:txBody>
      </p:sp>
    </p:spTree>
    <p:extLst>
      <p:ext uri="{BB962C8B-B14F-4D97-AF65-F5344CB8AC3E}">
        <p14:creationId xmlns:p14="http://schemas.microsoft.com/office/powerpoint/2010/main" val="40984885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B51A0-1AC2-B9C0-C98D-30CC4B73ACB7}"/>
              </a:ext>
            </a:extLst>
          </p:cNvPr>
          <p:cNvSpPr txBox="1"/>
          <p:nvPr/>
        </p:nvSpPr>
        <p:spPr>
          <a:xfrm>
            <a:off x="393290" y="599768"/>
            <a:ext cx="11132169" cy="1200329"/>
          </a:xfrm>
          <a:prstGeom prst="rect">
            <a:avLst/>
          </a:prstGeom>
          <a:noFill/>
        </p:spPr>
        <p:txBody>
          <a:bodyPr wrap="square" rtlCol="0">
            <a:spAutoFit/>
          </a:bodyPr>
          <a:lstStyle/>
          <a:p>
            <a:r>
              <a:rPr lang="en-US" sz="2400" b="1" i="0" dirty="0">
                <a:effectLst/>
              </a:rPr>
              <a:t>2. One evening before sunset Rekha and Hema were talking to each other face to face. If Hema's shadow was exactly to the right of Hema, which direction was Rekha facing?</a:t>
            </a:r>
            <a:endParaRPr lang="en-US" sz="2400" b="1" dirty="0"/>
          </a:p>
          <a:p>
            <a:endParaRPr lang="en-IN" sz="2400" b="1" dirty="0"/>
          </a:p>
        </p:txBody>
      </p:sp>
    </p:spTree>
    <p:extLst>
      <p:ext uri="{BB962C8B-B14F-4D97-AF65-F5344CB8AC3E}">
        <p14:creationId xmlns:p14="http://schemas.microsoft.com/office/powerpoint/2010/main" val="3587171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C11896-41E7-B772-B6EC-2B08AA7143BF}"/>
              </a:ext>
            </a:extLst>
          </p:cNvPr>
          <p:cNvSpPr txBox="1"/>
          <p:nvPr/>
        </p:nvSpPr>
        <p:spPr>
          <a:xfrm>
            <a:off x="403123" y="530942"/>
            <a:ext cx="11090787" cy="1569660"/>
          </a:xfrm>
          <a:prstGeom prst="rect">
            <a:avLst/>
          </a:prstGeom>
          <a:noFill/>
        </p:spPr>
        <p:txBody>
          <a:bodyPr wrap="square" rtlCol="0">
            <a:spAutoFit/>
          </a:bodyPr>
          <a:lstStyle/>
          <a:p>
            <a:r>
              <a:rPr lang="en-US" sz="2400" b="1" i="0" dirty="0">
                <a:effectLst/>
              </a:rPr>
              <a:t>3. One morning </a:t>
            </a:r>
            <a:r>
              <a:rPr lang="en-US" sz="2400" b="1" i="0" dirty="0" err="1">
                <a:effectLst/>
              </a:rPr>
              <a:t>sujata</a:t>
            </a:r>
            <a:r>
              <a:rPr lang="en-US" sz="2400" b="1" i="0" dirty="0">
                <a:effectLst/>
              </a:rPr>
              <a:t> started to walk towards the Sun. After covering some distance she turned to right then again to the right and after covering some distance she again turns to the right. Now in which direction is she facing?</a:t>
            </a:r>
          </a:p>
          <a:p>
            <a:endParaRPr lang="en-IN" sz="2400" b="1" dirty="0"/>
          </a:p>
        </p:txBody>
      </p:sp>
    </p:spTree>
    <p:extLst>
      <p:ext uri="{BB962C8B-B14F-4D97-AF65-F5344CB8AC3E}">
        <p14:creationId xmlns:p14="http://schemas.microsoft.com/office/powerpoint/2010/main" val="1565126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CCA27F-C906-9927-77F5-CC3065178302}"/>
              </a:ext>
            </a:extLst>
          </p:cNvPr>
          <p:cNvSpPr txBox="1"/>
          <p:nvPr/>
        </p:nvSpPr>
        <p:spPr>
          <a:xfrm>
            <a:off x="452284" y="609600"/>
            <a:ext cx="11012129" cy="1569660"/>
          </a:xfrm>
          <a:prstGeom prst="rect">
            <a:avLst/>
          </a:prstGeom>
          <a:noFill/>
        </p:spPr>
        <p:txBody>
          <a:bodyPr wrap="square" rtlCol="0">
            <a:spAutoFit/>
          </a:bodyPr>
          <a:lstStyle/>
          <a:p>
            <a:r>
              <a:rPr lang="en-US" sz="2400" b="1" i="0" dirty="0">
                <a:effectLst/>
              </a:rPr>
              <a:t>4. One morning after sunrise, Vimal started to walk. During this walking he met Stephen who was coming from opposite direction. Vimal watch that the shadow of Stephen to the right of him (Vimal). To Which direction Vimal was facing?</a:t>
            </a:r>
            <a:endParaRPr lang="en-IN" sz="2400" b="1" dirty="0"/>
          </a:p>
          <a:p>
            <a:endParaRPr lang="en-IN" sz="2400" b="1" dirty="0"/>
          </a:p>
        </p:txBody>
      </p:sp>
    </p:spTree>
    <p:extLst>
      <p:ext uri="{BB962C8B-B14F-4D97-AF65-F5344CB8AC3E}">
        <p14:creationId xmlns:p14="http://schemas.microsoft.com/office/powerpoint/2010/main" val="4192153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F6B2-5E16-29D0-142C-9E962A654C62}"/>
              </a:ext>
            </a:extLst>
          </p:cNvPr>
          <p:cNvSpPr>
            <a:spLocks noGrp="1"/>
          </p:cNvSpPr>
          <p:nvPr>
            <p:ph type="title"/>
          </p:nvPr>
        </p:nvSpPr>
        <p:spPr/>
        <p:txBody>
          <a:bodyPr>
            <a:normAutofit/>
          </a:bodyPr>
          <a:lstStyle/>
          <a:p>
            <a:r>
              <a:rPr lang="en-IN" sz="4000" dirty="0">
                <a:latin typeface="Algerian" panose="04020705040A02060702" pitchFamily="82" charset="0"/>
              </a:rPr>
              <a:t>Model 4:</a:t>
            </a:r>
          </a:p>
        </p:txBody>
      </p:sp>
      <p:sp>
        <p:nvSpPr>
          <p:cNvPr id="3" name="Content Placeholder 2">
            <a:extLst>
              <a:ext uri="{FF2B5EF4-FFF2-40B4-BE49-F238E27FC236}">
                <a16:creationId xmlns:a16="http://schemas.microsoft.com/office/drawing/2014/main" id="{AF4599DD-DABA-B647-804C-D0A42577EB35}"/>
              </a:ext>
            </a:extLst>
          </p:cNvPr>
          <p:cNvSpPr>
            <a:spLocks noGrp="1"/>
          </p:cNvSpPr>
          <p:nvPr>
            <p:ph idx="1"/>
          </p:nvPr>
        </p:nvSpPr>
        <p:spPr>
          <a:xfrm>
            <a:off x="710380" y="1520825"/>
            <a:ext cx="10515600" cy="4351338"/>
          </a:xfrm>
        </p:spPr>
        <p:txBody>
          <a:bodyPr>
            <a:normAutofit/>
          </a:bodyPr>
          <a:lstStyle/>
          <a:p>
            <a:pPr marL="514350" indent="-514350">
              <a:buAutoNum type="arabicParenR"/>
            </a:pPr>
            <a:r>
              <a:rPr lang="en-US" sz="2400" b="1" i="0" dirty="0">
                <a:effectLst/>
              </a:rPr>
              <a:t>Rahul put his timepiece on the table in such a way that at 6 P.M. hour hand points to North. In which direction the minute hand will point at 9.15 P.M. ?</a:t>
            </a:r>
          </a:p>
        </p:txBody>
      </p:sp>
    </p:spTree>
    <p:extLst>
      <p:ext uri="{BB962C8B-B14F-4D97-AF65-F5344CB8AC3E}">
        <p14:creationId xmlns:p14="http://schemas.microsoft.com/office/powerpoint/2010/main" val="97058059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7F76960-3AB5-8B4D-1096-0288CCBB8E9A}"/>
              </a:ext>
            </a:extLst>
          </p:cNvPr>
          <p:cNvSpPr txBox="1"/>
          <p:nvPr/>
        </p:nvSpPr>
        <p:spPr>
          <a:xfrm>
            <a:off x="442452" y="521110"/>
            <a:ext cx="10610735" cy="1569660"/>
          </a:xfrm>
          <a:prstGeom prst="rect">
            <a:avLst/>
          </a:prstGeom>
          <a:noFill/>
        </p:spPr>
        <p:txBody>
          <a:bodyPr wrap="square" rtlCol="0">
            <a:spAutoFit/>
          </a:bodyPr>
          <a:lstStyle/>
          <a:p>
            <a:r>
              <a:rPr lang="en-US" sz="2400" b="1" i="0" dirty="0">
                <a:effectLst/>
              </a:rPr>
              <a:t>2. If A x B means A is to the south of B; A + B means A is to the north of B; A % B means A is to the east of B; A - B means A is to the west of B; then in P % Q + R - S, S is in which direction with respect to Q?</a:t>
            </a:r>
          </a:p>
          <a:p>
            <a:endParaRPr lang="en-IN" sz="2400" b="1" dirty="0"/>
          </a:p>
        </p:txBody>
      </p:sp>
    </p:spTree>
    <p:extLst>
      <p:ext uri="{BB962C8B-B14F-4D97-AF65-F5344CB8AC3E}">
        <p14:creationId xmlns:p14="http://schemas.microsoft.com/office/powerpoint/2010/main" val="4025193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7A4D9F-F7E3-64EF-9329-3DCF8E27D4AE}"/>
              </a:ext>
            </a:extLst>
          </p:cNvPr>
          <p:cNvSpPr txBox="1"/>
          <p:nvPr/>
        </p:nvSpPr>
        <p:spPr>
          <a:xfrm>
            <a:off x="521110" y="501445"/>
            <a:ext cx="10471787" cy="1569660"/>
          </a:xfrm>
          <a:prstGeom prst="rect">
            <a:avLst/>
          </a:prstGeom>
          <a:noFill/>
        </p:spPr>
        <p:txBody>
          <a:bodyPr wrap="square" rtlCol="0">
            <a:spAutoFit/>
          </a:bodyPr>
          <a:lstStyle/>
          <a:p>
            <a:r>
              <a:rPr lang="en-US" sz="2400" b="1" i="0" dirty="0">
                <a:effectLst/>
              </a:rPr>
              <a:t>3. Shyam walks 5 km towards East and then turns left and walks 6 km. Again he turns right and walks 9 km. Finally he turns to his right and walks 6 km. How far is he from the starting point?</a:t>
            </a:r>
            <a:endParaRPr lang="en-IN" sz="2400" b="1" dirty="0"/>
          </a:p>
          <a:p>
            <a:endParaRPr lang="en-IN" sz="2400" b="1" dirty="0"/>
          </a:p>
        </p:txBody>
      </p:sp>
    </p:spTree>
    <p:extLst>
      <p:ext uri="{BB962C8B-B14F-4D97-AF65-F5344CB8AC3E}">
        <p14:creationId xmlns:p14="http://schemas.microsoft.com/office/powerpoint/2010/main" val="1656884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44</TotalTime>
  <Words>639</Words>
  <Application>Microsoft Office PowerPoint</Application>
  <PresentationFormat>Widescreen</PresentationFormat>
  <Paragraphs>26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Algerian</vt:lpstr>
      <vt:lpstr>Arial</vt:lpstr>
      <vt:lpstr>Calibri</vt:lpstr>
      <vt:lpstr>Calibri Light</vt:lpstr>
      <vt:lpstr>Office Theme</vt:lpstr>
      <vt:lpstr>Directions</vt:lpstr>
      <vt:lpstr>PowerPoint Presentation</vt:lpstr>
      <vt:lpstr>PowerPoint Presentation</vt:lpstr>
      <vt:lpstr>Demonstration of Left turn and right turn</vt:lpstr>
      <vt:lpstr>Demonstration of Left turn and right turn</vt:lpstr>
      <vt:lpstr>Sunset and Sunrise</vt:lpstr>
      <vt:lpstr>Clock Based</vt:lpstr>
      <vt:lpstr>Model 1:</vt:lpstr>
      <vt:lpstr>PowerPoint Presentation</vt:lpstr>
      <vt:lpstr>PowerPoint Presentation</vt:lpstr>
      <vt:lpstr>Model 2:</vt:lpstr>
      <vt:lpstr>PowerPoint Presentation</vt:lpstr>
      <vt:lpstr>PowerPoint Presentation</vt:lpstr>
      <vt:lpstr>PowerPoint Presentation</vt:lpstr>
      <vt:lpstr>Model 3:</vt:lpstr>
      <vt:lpstr>PowerPoint Presentation</vt:lpstr>
      <vt:lpstr>PowerPoint Presentation</vt:lpstr>
      <vt:lpstr>PowerPoint Presentation</vt:lpstr>
      <vt:lpstr>Model 4:</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Durga Prasad Komati</dc:creator>
  <cp:lastModifiedBy>vara prasad</cp:lastModifiedBy>
  <cp:revision>1</cp:revision>
  <dcterms:created xsi:type="dcterms:W3CDTF">2024-12-09T04:59:22Z</dcterms:created>
  <dcterms:modified xsi:type="dcterms:W3CDTF">2026-02-20T12:32:36Z</dcterms:modified>
</cp:coreProperties>
</file>