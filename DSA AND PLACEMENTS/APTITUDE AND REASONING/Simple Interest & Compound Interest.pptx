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6"/>
  </p:notesMasterIdLst>
  <p:sldIdLst>
    <p:sldId id="555" r:id="rId2"/>
    <p:sldId id="378" r:id="rId3"/>
    <p:sldId id="377" r:id="rId4"/>
    <p:sldId id="379" r:id="rId5"/>
    <p:sldId id="448" r:id="rId6"/>
    <p:sldId id="556" r:id="rId7"/>
    <p:sldId id="557" r:id="rId8"/>
    <p:sldId id="558" r:id="rId9"/>
    <p:sldId id="381" r:id="rId10"/>
    <p:sldId id="559" r:id="rId11"/>
    <p:sldId id="380" r:id="rId12"/>
    <p:sldId id="382" r:id="rId13"/>
    <p:sldId id="457" r:id="rId14"/>
    <p:sldId id="560" r:id="rId15"/>
    <p:sldId id="383" r:id="rId16"/>
    <p:sldId id="384" r:id="rId17"/>
    <p:sldId id="385" r:id="rId18"/>
    <p:sldId id="386" r:id="rId19"/>
    <p:sldId id="387" r:id="rId20"/>
    <p:sldId id="367" r:id="rId21"/>
    <p:sldId id="389" r:id="rId22"/>
    <p:sldId id="390" r:id="rId23"/>
    <p:sldId id="391" r:id="rId24"/>
    <p:sldId id="392" r:id="rId25"/>
    <p:sldId id="393" r:id="rId26"/>
    <p:sldId id="394" r:id="rId27"/>
    <p:sldId id="395" r:id="rId28"/>
    <p:sldId id="396" r:id="rId29"/>
    <p:sldId id="398" r:id="rId30"/>
    <p:sldId id="397" r:id="rId31"/>
    <p:sldId id="399" r:id="rId32"/>
    <p:sldId id="400" r:id="rId33"/>
    <p:sldId id="401" r:id="rId34"/>
    <p:sldId id="402" r:id="rId35"/>
  </p:sldIdLst>
  <p:sldSz cx="12192000" cy="6858000"/>
  <p:notesSz cx="6858000" cy="9144000"/>
  <p:embeddedFontLst>
    <p:embeddedFont>
      <p:font typeface="Nunito Sans" pitchFamily="2"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5136"/>
    <a:srgbClr val="000000"/>
    <a:srgbClr val="303030"/>
    <a:srgbClr val="4A4A4A"/>
    <a:srgbClr val="3D3D3D"/>
    <a:srgbClr val="212121"/>
    <a:srgbClr val="131313"/>
    <a:srgbClr val="F69180"/>
    <a:srgbClr val="FBD0C9"/>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94" autoAdjust="0"/>
    <p:restoredTop sz="84899" autoAdjust="0"/>
  </p:normalViewPr>
  <p:slideViewPr>
    <p:cSldViewPr>
      <p:cViewPr varScale="1">
        <p:scale>
          <a:sx n="81" d="100"/>
          <a:sy n="81" d="100"/>
        </p:scale>
        <p:origin x="509" y="67"/>
      </p:cViewPr>
      <p:guideLst>
        <p:guide orient="horz" pos="2441"/>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99A3E1-D0AF-40CA-9CA4-BE00645EFE64}" type="datetimeFigureOut">
              <a:rPr lang="en-US" smtClean="0"/>
              <a:t>5/13/2026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AB6876-1BF1-4B88-890A-0B4E46201506}" type="slidenum">
              <a:rPr lang="en-US" smtClean="0"/>
              <a:t>‹#›</a:t>
            </a:fld>
            <a:endParaRPr lang="en-US"/>
          </a:p>
        </p:txBody>
      </p:sp>
    </p:spTree>
    <p:extLst>
      <p:ext uri="{BB962C8B-B14F-4D97-AF65-F5344CB8AC3E}">
        <p14:creationId xmlns:p14="http://schemas.microsoft.com/office/powerpoint/2010/main" val="3773967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2</a:t>
            </a:fld>
            <a:endParaRPr lang="en-US"/>
          </a:p>
        </p:txBody>
      </p:sp>
    </p:spTree>
    <p:extLst>
      <p:ext uri="{BB962C8B-B14F-4D97-AF65-F5344CB8AC3E}">
        <p14:creationId xmlns:p14="http://schemas.microsoft.com/office/powerpoint/2010/main" val="3377278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3</a:t>
            </a:fld>
            <a:endParaRPr lang="en-US"/>
          </a:p>
        </p:txBody>
      </p:sp>
    </p:spTree>
    <p:extLst>
      <p:ext uri="{BB962C8B-B14F-4D97-AF65-F5344CB8AC3E}">
        <p14:creationId xmlns:p14="http://schemas.microsoft.com/office/powerpoint/2010/main" val="2003271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4</a:t>
            </a:fld>
            <a:endParaRPr lang="en-US"/>
          </a:p>
        </p:txBody>
      </p:sp>
    </p:spTree>
    <p:extLst>
      <p:ext uri="{BB962C8B-B14F-4D97-AF65-F5344CB8AC3E}">
        <p14:creationId xmlns:p14="http://schemas.microsoft.com/office/powerpoint/2010/main" val="3433554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5</a:t>
            </a:fld>
            <a:endParaRPr lang="en-US"/>
          </a:p>
        </p:txBody>
      </p:sp>
    </p:spTree>
    <p:extLst>
      <p:ext uri="{BB962C8B-B14F-4D97-AF65-F5344CB8AC3E}">
        <p14:creationId xmlns:p14="http://schemas.microsoft.com/office/powerpoint/2010/main" val="3586186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BFE47-A7E6-6FF1-852F-4FD06A7CA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259F6-3AB8-9B2B-D30B-F2A7F8D49F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0BB5E3-7761-CEA8-C77F-D287B4DF6834}"/>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31647E93-C2FD-1699-4A72-9C5594C40420}"/>
              </a:ext>
            </a:extLst>
          </p:cNvPr>
          <p:cNvSpPr>
            <a:spLocks noGrp="1"/>
          </p:cNvSpPr>
          <p:nvPr>
            <p:ph type="sldNum" sz="quarter" idx="5"/>
          </p:nvPr>
        </p:nvSpPr>
        <p:spPr/>
        <p:txBody>
          <a:bodyPr/>
          <a:lstStyle/>
          <a:p>
            <a:fld id="{0AAB6876-1BF1-4B88-890A-0B4E46201506}" type="slidenum">
              <a:rPr lang="en-US" smtClean="0"/>
              <a:t>8</a:t>
            </a:fld>
            <a:endParaRPr lang="en-US"/>
          </a:p>
        </p:txBody>
      </p:sp>
    </p:spTree>
    <p:extLst>
      <p:ext uri="{BB962C8B-B14F-4D97-AF65-F5344CB8AC3E}">
        <p14:creationId xmlns:p14="http://schemas.microsoft.com/office/powerpoint/2010/main" val="1947558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9</a:t>
            </a:fld>
            <a:endParaRPr lang="en-US"/>
          </a:p>
        </p:txBody>
      </p:sp>
    </p:spTree>
    <p:extLst>
      <p:ext uri="{BB962C8B-B14F-4D97-AF65-F5344CB8AC3E}">
        <p14:creationId xmlns:p14="http://schemas.microsoft.com/office/powerpoint/2010/main" val="2302508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11</a:t>
            </a:fld>
            <a:endParaRPr lang="en-US"/>
          </a:p>
        </p:txBody>
      </p:sp>
    </p:spTree>
    <p:extLst>
      <p:ext uri="{BB962C8B-B14F-4D97-AF65-F5344CB8AC3E}">
        <p14:creationId xmlns:p14="http://schemas.microsoft.com/office/powerpoint/2010/main" val="6957190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12</a:t>
            </a:fld>
            <a:endParaRPr lang="en-US"/>
          </a:p>
        </p:txBody>
      </p:sp>
    </p:spTree>
    <p:extLst>
      <p:ext uri="{BB962C8B-B14F-4D97-AF65-F5344CB8AC3E}">
        <p14:creationId xmlns:p14="http://schemas.microsoft.com/office/powerpoint/2010/main" val="4095227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13</a:t>
            </a:fld>
            <a:endParaRPr lang="en-US"/>
          </a:p>
        </p:txBody>
      </p:sp>
    </p:spTree>
    <p:extLst>
      <p:ext uri="{BB962C8B-B14F-4D97-AF65-F5344CB8AC3E}">
        <p14:creationId xmlns:p14="http://schemas.microsoft.com/office/powerpoint/2010/main" val="1820683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08B5F-AE42-1CC4-073E-577C457105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D4E069-48BA-DCC5-5DBB-C47414F55E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D4DBE3-DD9D-EC82-17E6-1211C85E93D2}"/>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4E9258BD-DC60-F7E3-20A3-19E654295947}"/>
              </a:ext>
            </a:extLst>
          </p:cNvPr>
          <p:cNvSpPr>
            <a:spLocks noGrp="1"/>
          </p:cNvSpPr>
          <p:nvPr>
            <p:ph type="sldNum" sz="quarter" idx="5"/>
          </p:nvPr>
        </p:nvSpPr>
        <p:spPr/>
        <p:txBody>
          <a:bodyPr/>
          <a:lstStyle/>
          <a:p>
            <a:fld id="{0AAB6876-1BF1-4B88-890A-0B4E46201506}" type="slidenum">
              <a:rPr lang="en-US" smtClean="0"/>
              <a:t>14</a:t>
            </a:fld>
            <a:endParaRPr lang="en-US"/>
          </a:p>
        </p:txBody>
      </p:sp>
    </p:spTree>
    <p:extLst>
      <p:ext uri="{BB962C8B-B14F-4D97-AF65-F5344CB8AC3E}">
        <p14:creationId xmlns:p14="http://schemas.microsoft.com/office/powerpoint/2010/main" val="1069174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15</a:t>
            </a:fld>
            <a:endParaRPr lang="en-US"/>
          </a:p>
        </p:txBody>
      </p:sp>
    </p:spTree>
    <p:extLst>
      <p:ext uri="{BB962C8B-B14F-4D97-AF65-F5344CB8AC3E}">
        <p14:creationId xmlns:p14="http://schemas.microsoft.com/office/powerpoint/2010/main" val="39515277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16</a:t>
            </a:fld>
            <a:endParaRPr lang="en-US"/>
          </a:p>
        </p:txBody>
      </p:sp>
    </p:spTree>
    <p:extLst>
      <p:ext uri="{BB962C8B-B14F-4D97-AF65-F5344CB8AC3E}">
        <p14:creationId xmlns:p14="http://schemas.microsoft.com/office/powerpoint/2010/main" val="4269741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17</a:t>
            </a:fld>
            <a:endParaRPr lang="en-US"/>
          </a:p>
        </p:txBody>
      </p:sp>
    </p:spTree>
    <p:extLst>
      <p:ext uri="{BB962C8B-B14F-4D97-AF65-F5344CB8AC3E}">
        <p14:creationId xmlns:p14="http://schemas.microsoft.com/office/powerpoint/2010/main" val="3972462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18</a:t>
            </a:fld>
            <a:endParaRPr lang="en-US"/>
          </a:p>
        </p:txBody>
      </p:sp>
    </p:spTree>
    <p:extLst>
      <p:ext uri="{BB962C8B-B14F-4D97-AF65-F5344CB8AC3E}">
        <p14:creationId xmlns:p14="http://schemas.microsoft.com/office/powerpoint/2010/main" val="21494210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19</a:t>
            </a:fld>
            <a:endParaRPr lang="en-US"/>
          </a:p>
        </p:txBody>
      </p:sp>
    </p:spTree>
    <p:extLst>
      <p:ext uri="{BB962C8B-B14F-4D97-AF65-F5344CB8AC3E}">
        <p14:creationId xmlns:p14="http://schemas.microsoft.com/office/powerpoint/2010/main" val="22281095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20</a:t>
            </a:fld>
            <a:endParaRPr lang="en-US"/>
          </a:p>
        </p:txBody>
      </p:sp>
    </p:spTree>
    <p:extLst>
      <p:ext uri="{BB962C8B-B14F-4D97-AF65-F5344CB8AC3E}">
        <p14:creationId xmlns:p14="http://schemas.microsoft.com/office/powerpoint/2010/main" val="39080259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21</a:t>
            </a:fld>
            <a:endParaRPr lang="en-US"/>
          </a:p>
        </p:txBody>
      </p:sp>
    </p:spTree>
    <p:extLst>
      <p:ext uri="{BB962C8B-B14F-4D97-AF65-F5344CB8AC3E}">
        <p14:creationId xmlns:p14="http://schemas.microsoft.com/office/powerpoint/2010/main" val="8899388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22</a:t>
            </a:fld>
            <a:endParaRPr lang="en-US"/>
          </a:p>
        </p:txBody>
      </p:sp>
    </p:spTree>
    <p:extLst>
      <p:ext uri="{BB962C8B-B14F-4D97-AF65-F5344CB8AC3E}">
        <p14:creationId xmlns:p14="http://schemas.microsoft.com/office/powerpoint/2010/main" val="14124837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23</a:t>
            </a:fld>
            <a:endParaRPr lang="en-US"/>
          </a:p>
        </p:txBody>
      </p:sp>
    </p:spTree>
    <p:extLst>
      <p:ext uri="{BB962C8B-B14F-4D97-AF65-F5344CB8AC3E}">
        <p14:creationId xmlns:p14="http://schemas.microsoft.com/office/powerpoint/2010/main" val="25647191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24</a:t>
            </a:fld>
            <a:endParaRPr lang="en-US"/>
          </a:p>
        </p:txBody>
      </p:sp>
    </p:spTree>
    <p:extLst>
      <p:ext uri="{BB962C8B-B14F-4D97-AF65-F5344CB8AC3E}">
        <p14:creationId xmlns:p14="http://schemas.microsoft.com/office/powerpoint/2010/main" val="12004864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25</a:t>
            </a:fld>
            <a:endParaRPr lang="en-US"/>
          </a:p>
        </p:txBody>
      </p:sp>
    </p:spTree>
    <p:extLst>
      <p:ext uri="{BB962C8B-B14F-4D97-AF65-F5344CB8AC3E}">
        <p14:creationId xmlns:p14="http://schemas.microsoft.com/office/powerpoint/2010/main" val="2090828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26</a:t>
            </a:fld>
            <a:endParaRPr lang="en-US"/>
          </a:p>
        </p:txBody>
      </p:sp>
    </p:spTree>
    <p:extLst>
      <p:ext uri="{BB962C8B-B14F-4D97-AF65-F5344CB8AC3E}">
        <p14:creationId xmlns:p14="http://schemas.microsoft.com/office/powerpoint/2010/main" val="21092376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27</a:t>
            </a:fld>
            <a:endParaRPr lang="en-US"/>
          </a:p>
        </p:txBody>
      </p:sp>
    </p:spTree>
    <p:extLst>
      <p:ext uri="{BB962C8B-B14F-4D97-AF65-F5344CB8AC3E}">
        <p14:creationId xmlns:p14="http://schemas.microsoft.com/office/powerpoint/2010/main" val="8512731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28</a:t>
            </a:fld>
            <a:endParaRPr lang="en-US"/>
          </a:p>
        </p:txBody>
      </p:sp>
    </p:spTree>
    <p:extLst>
      <p:ext uri="{BB962C8B-B14F-4D97-AF65-F5344CB8AC3E}">
        <p14:creationId xmlns:p14="http://schemas.microsoft.com/office/powerpoint/2010/main" val="21627003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29</a:t>
            </a:fld>
            <a:endParaRPr lang="en-US"/>
          </a:p>
        </p:txBody>
      </p:sp>
    </p:spTree>
    <p:extLst>
      <p:ext uri="{BB962C8B-B14F-4D97-AF65-F5344CB8AC3E}">
        <p14:creationId xmlns:p14="http://schemas.microsoft.com/office/powerpoint/2010/main" val="2236662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30</a:t>
            </a:fld>
            <a:endParaRPr lang="en-US"/>
          </a:p>
        </p:txBody>
      </p:sp>
    </p:spTree>
    <p:extLst>
      <p:ext uri="{BB962C8B-B14F-4D97-AF65-F5344CB8AC3E}">
        <p14:creationId xmlns:p14="http://schemas.microsoft.com/office/powerpoint/2010/main" val="5183082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31</a:t>
            </a:fld>
            <a:endParaRPr lang="en-US"/>
          </a:p>
        </p:txBody>
      </p:sp>
    </p:spTree>
    <p:extLst>
      <p:ext uri="{BB962C8B-B14F-4D97-AF65-F5344CB8AC3E}">
        <p14:creationId xmlns:p14="http://schemas.microsoft.com/office/powerpoint/2010/main" val="6659172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32</a:t>
            </a:fld>
            <a:endParaRPr lang="en-US"/>
          </a:p>
        </p:txBody>
      </p:sp>
    </p:spTree>
    <p:extLst>
      <p:ext uri="{BB962C8B-B14F-4D97-AF65-F5344CB8AC3E}">
        <p14:creationId xmlns:p14="http://schemas.microsoft.com/office/powerpoint/2010/main" val="34539719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33</a:t>
            </a:fld>
            <a:endParaRPr lang="en-US"/>
          </a:p>
        </p:txBody>
      </p:sp>
    </p:spTree>
    <p:extLst>
      <p:ext uri="{BB962C8B-B14F-4D97-AF65-F5344CB8AC3E}">
        <p14:creationId xmlns:p14="http://schemas.microsoft.com/office/powerpoint/2010/main" val="35140540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34</a:t>
            </a:fld>
            <a:endParaRPr lang="en-US"/>
          </a:p>
        </p:txBody>
      </p:sp>
    </p:spTree>
    <p:extLst>
      <p:ext uri="{BB962C8B-B14F-4D97-AF65-F5344CB8AC3E}">
        <p14:creationId xmlns:p14="http://schemas.microsoft.com/office/powerpoint/2010/main" val="810224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5/13/2026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BD363C-E6D3-DB13-4617-324A86A6125A}"/>
              </a:ext>
            </a:extLst>
          </p:cNvPr>
          <p:cNvSpPr txBox="1"/>
          <p:nvPr/>
        </p:nvSpPr>
        <p:spPr>
          <a:xfrm>
            <a:off x="914400" y="762000"/>
            <a:ext cx="10668000" cy="5693866"/>
          </a:xfrm>
          <a:prstGeom prst="rect">
            <a:avLst/>
          </a:prstGeom>
          <a:noFill/>
        </p:spPr>
        <p:txBody>
          <a:bodyPr wrap="square">
            <a:spAutoFit/>
          </a:bodyPr>
          <a:lstStyle/>
          <a:p>
            <a:pPr marL="0" indent="0">
              <a:buNone/>
            </a:pPr>
            <a:r>
              <a:rPr lang="en-IN" sz="2800" b="1" dirty="0">
                <a:latin typeface="Times New Roman" panose="02020603050405020304" pitchFamily="18" charset="0"/>
                <a:cs typeface="Times New Roman" panose="02020603050405020304" pitchFamily="18" charset="0"/>
              </a:rPr>
              <a:t>Principal:</a:t>
            </a:r>
            <a:r>
              <a:rPr lang="en-IN" sz="2800" b="1" i="1" dirty="0">
                <a:latin typeface="Times New Roman" panose="02020603050405020304" pitchFamily="18" charset="0"/>
                <a:cs typeface="Times New Roman" panose="02020603050405020304" pitchFamily="18" charset="0"/>
              </a:rPr>
              <a:t> </a:t>
            </a:r>
            <a:r>
              <a:rPr lang="en-IN" sz="2800" i="1" dirty="0">
                <a:latin typeface="Times New Roman" panose="02020603050405020304" pitchFamily="18" charset="0"/>
                <a:cs typeface="Times New Roman" panose="02020603050405020304" pitchFamily="18" charset="0"/>
              </a:rPr>
              <a:t>principal</a:t>
            </a:r>
            <a:r>
              <a:rPr lang="en-IN" sz="2800" dirty="0">
                <a:latin typeface="Times New Roman" panose="02020603050405020304" pitchFamily="18" charset="0"/>
                <a:cs typeface="Times New Roman" panose="02020603050405020304" pitchFamily="18" charset="0"/>
              </a:rPr>
              <a:t> amount or sum is the money borrowed or lent out for a certain period.</a:t>
            </a:r>
          </a:p>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r>
              <a:rPr lang="en-IN" sz="2800" b="1" dirty="0">
                <a:latin typeface="Times New Roman" panose="02020603050405020304" pitchFamily="18" charset="0"/>
                <a:cs typeface="Times New Roman" panose="02020603050405020304" pitchFamily="18" charset="0"/>
              </a:rPr>
              <a:t>Interest: </a:t>
            </a:r>
            <a:r>
              <a:rPr lang="en-IN" sz="2800" i="1" dirty="0">
                <a:latin typeface="Times New Roman" panose="02020603050405020304" pitchFamily="18" charset="0"/>
                <a:cs typeface="Times New Roman" panose="02020603050405020304" pitchFamily="18" charset="0"/>
              </a:rPr>
              <a:t>Interest </a:t>
            </a:r>
            <a:r>
              <a:rPr lang="en-IN" sz="2800" dirty="0">
                <a:latin typeface="Times New Roman" panose="02020603050405020304" pitchFamily="18" charset="0"/>
                <a:cs typeface="Times New Roman" panose="02020603050405020304" pitchFamily="18" charset="0"/>
              </a:rPr>
              <a:t>is the extra amount paid on principal amount with a year marked percent.</a:t>
            </a:r>
          </a:p>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r>
              <a:rPr lang="en-IN" sz="2800" b="1" dirty="0">
                <a:latin typeface="Times New Roman" panose="02020603050405020304" pitchFamily="18" charset="0"/>
                <a:cs typeface="Times New Roman" panose="02020603050405020304" pitchFamily="18" charset="0"/>
              </a:rPr>
              <a:t>Interest can be of two types</a:t>
            </a:r>
          </a:p>
          <a:p>
            <a:pPr marL="0" indent="0">
              <a:buNone/>
            </a:pPr>
            <a:r>
              <a:rPr lang="en-IN" sz="2800" dirty="0">
                <a:latin typeface="Times New Roman" panose="02020603050405020304" pitchFamily="18" charset="0"/>
                <a:cs typeface="Times New Roman" panose="02020603050405020304" pitchFamily="18" charset="0"/>
              </a:rPr>
              <a:t>         1. Simple Interest			2.Compound interest</a:t>
            </a:r>
          </a:p>
          <a:p>
            <a:pPr marL="0" indent="0">
              <a:buNone/>
            </a:pPr>
            <a:r>
              <a:rPr lang="en-IN" sz="2800" dirty="0">
                <a:latin typeface="Times New Roman" panose="02020603050405020304" pitchFamily="18" charset="0"/>
                <a:cs typeface="Times New Roman" panose="02020603050405020304" pitchFamily="18" charset="0"/>
              </a:rPr>
              <a:t> </a:t>
            </a:r>
          </a:p>
          <a:p>
            <a:pPr lvl="0"/>
            <a:r>
              <a:rPr lang="en-IN" sz="2800" dirty="0">
                <a:latin typeface="Times New Roman" panose="02020603050405020304" pitchFamily="18" charset="0"/>
                <a:cs typeface="Times New Roman" panose="02020603050405020304" pitchFamily="18" charset="0"/>
              </a:rPr>
              <a:t>When the interest is payable on the principal only, it is called </a:t>
            </a:r>
            <a:r>
              <a:rPr lang="en-IN" sz="2800" b="1" dirty="0">
                <a:latin typeface="Times New Roman" panose="02020603050405020304" pitchFamily="18" charset="0"/>
                <a:cs typeface="Times New Roman" panose="02020603050405020304" pitchFamily="18" charset="0"/>
              </a:rPr>
              <a:t>Simple interest.</a:t>
            </a:r>
          </a:p>
          <a:p>
            <a:pPr lvl="0"/>
            <a:r>
              <a:rPr lang="en-IN" sz="2800" dirty="0">
                <a:latin typeface="Times New Roman" panose="02020603050405020304" pitchFamily="18" charset="0"/>
                <a:cs typeface="Times New Roman" panose="02020603050405020304" pitchFamily="18" charset="0"/>
              </a:rPr>
              <a:t>Where as in </a:t>
            </a:r>
            <a:r>
              <a:rPr lang="en-IN" sz="2800" b="1" dirty="0">
                <a:latin typeface="Times New Roman" panose="02020603050405020304" pitchFamily="18" charset="0"/>
                <a:cs typeface="Times New Roman" panose="02020603050405020304" pitchFamily="18" charset="0"/>
              </a:rPr>
              <a:t>Compound interest  </a:t>
            </a:r>
            <a:r>
              <a:rPr lang="en-IN" sz="2800" dirty="0">
                <a:latin typeface="Times New Roman" panose="02020603050405020304" pitchFamily="18" charset="0"/>
                <a:cs typeface="Times New Roman" panose="02020603050405020304" pitchFamily="18" charset="0"/>
              </a:rPr>
              <a:t>the interest for each period is added to the principal before interest is calculated for the next period </a:t>
            </a:r>
          </a:p>
        </p:txBody>
      </p:sp>
    </p:spTree>
    <p:extLst>
      <p:ext uri="{BB962C8B-B14F-4D97-AF65-F5344CB8AC3E}">
        <p14:creationId xmlns:p14="http://schemas.microsoft.com/office/powerpoint/2010/main" val="2418755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5136"/>
        </a:solidFill>
        <a:effectLst/>
      </p:bgPr>
    </p:bg>
    <p:spTree>
      <p:nvGrpSpPr>
        <p:cNvPr id="1" name=""/>
        <p:cNvGrpSpPr/>
        <p:nvPr/>
      </p:nvGrpSpPr>
      <p:grpSpPr>
        <a:xfrm>
          <a:off x="0" y="0"/>
          <a:ext cx="0" cy="0"/>
          <a:chOff x="0" y="0"/>
          <a:chExt cx="0" cy="0"/>
        </a:xfrm>
      </p:grpSpPr>
      <p:sp>
        <p:nvSpPr>
          <p:cNvPr id="4" name="Here is where the title goes. Sometimes it could be two lines too"/>
          <p:cNvSpPr txBox="1"/>
          <p:nvPr/>
        </p:nvSpPr>
        <p:spPr>
          <a:xfrm>
            <a:off x="0" y="3055701"/>
            <a:ext cx="12192000" cy="885098"/>
          </a:xfrm>
          <a:prstGeom prst="rect">
            <a:avLst/>
          </a:prstGeom>
          <a:ln w="12700">
            <a:miter lim="400000"/>
          </a:ln>
        </p:spPr>
        <p:txBody>
          <a:bodyPr wrap="square" lIns="26789" tIns="26789" rIns="26789" bIns="26789">
            <a:spAutoFit/>
          </a:bodyPr>
          <a:lstStyle>
            <a:lvl1pPr>
              <a:defRPr sz="9600">
                <a:solidFill>
                  <a:srgbClr val="000000"/>
                </a:solidFill>
              </a:defRPr>
            </a:lvl1pPr>
          </a:lstStyle>
          <a:p>
            <a:pPr algn="ctr"/>
            <a:r>
              <a:rPr lang="en-US" sz="5400" b="1" dirty="0">
                <a:solidFill>
                  <a:schemeClr val="bg1"/>
                </a:solidFill>
                <a:latin typeface="Nunito Sans" panose="00000500000000000000" pitchFamily="2" charset="0"/>
              </a:rPr>
              <a:t>Simple Interest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2015936"/>
          </a:xfrm>
          <a:prstGeom prst="rect">
            <a:avLst/>
          </a:prstGeom>
          <a:noFill/>
        </p:spPr>
        <p:txBody>
          <a:bodyPr wrap="square" rtlCol="0">
            <a:spAutoFit/>
          </a:bodyPr>
          <a:lstStyle/>
          <a:p>
            <a:r>
              <a:rPr lang="en-US" sz="2500" dirty="0">
                <a:latin typeface="Nunito Sans" panose="00000500000000000000" pitchFamily="2" charset="0"/>
              </a:rPr>
              <a:t>A man took a loan from a bank at the rate of 12% p.a. simple interest. After 3 years, he had to pay </a:t>
            </a:r>
            <a:r>
              <a:rPr lang="en-US" sz="2500" dirty="0" err="1">
                <a:latin typeface="Nunito Sans" panose="00000500000000000000" pitchFamily="2" charset="0"/>
              </a:rPr>
              <a:t>Rs</a:t>
            </a:r>
            <a:r>
              <a:rPr lang="en-US" sz="2500" dirty="0">
                <a:latin typeface="Nunito Sans" panose="00000500000000000000" pitchFamily="2" charset="0"/>
              </a:rPr>
              <a:t>. 5400 as interest for the period. What was the principal amount borrowed by him? </a:t>
            </a:r>
          </a:p>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1246495"/>
          </a:xfrm>
          <a:prstGeom prst="rect">
            <a:avLst/>
          </a:prstGeom>
          <a:noFill/>
        </p:spPr>
        <p:txBody>
          <a:bodyPr wrap="square" rtlCol="0">
            <a:spAutoFit/>
          </a:bodyPr>
          <a:lstStyle/>
          <a:p>
            <a:r>
              <a:rPr lang="en-US" sz="2500" dirty="0">
                <a:latin typeface="Nunito Sans" panose="00000500000000000000" pitchFamily="2" charset="0"/>
              </a:rPr>
              <a:t>How much time will it take for an amount of </a:t>
            </a:r>
            <a:r>
              <a:rPr lang="en-US" sz="2500" dirty="0" err="1">
                <a:latin typeface="Nunito Sans" panose="00000500000000000000" pitchFamily="2" charset="0"/>
              </a:rPr>
              <a:t>Rs</a:t>
            </a:r>
            <a:r>
              <a:rPr lang="en-US" sz="2500" dirty="0">
                <a:latin typeface="Nunito Sans" panose="00000500000000000000" pitchFamily="2" charset="0"/>
              </a:rPr>
              <a:t>. 450 to yield </a:t>
            </a:r>
            <a:r>
              <a:rPr lang="en-US" sz="2500" dirty="0" err="1">
                <a:latin typeface="Nunito Sans" panose="00000500000000000000" pitchFamily="2" charset="0"/>
              </a:rPr>
              <a:t>Rs</a:t>
            </a:r>
            <a:r>
              <a:rPr lang="en-US" sz="2500" dirty="0">
                <a:latin typeface="Nunito Sans" panose="00000500000000000000" pitchFamily="2" charset="0"/>
              </a:rPr>
              <a:t>. 81 as interest at the rate of 4.5% p.a. simple interest? </a:t>
            </a:r>
          </a:p>
          <a:p>
            <a:endParaRPr lang="en-US" sz="2500" dirty="0">
              <a:latin typeface="Nunito Sans" panose="00000500000000000000" pitchFamily="2" charset="0"/>
            </a:endParaRP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642479" y="1156906"/>
            <a:ext cx="10907041" cy="1246495"/>
          </a:xfrm>
          <a:prstGeom prst="rect">
            <a:avLst/>
          </a:prstGeom>
          <a:noFill/>
        </p:spPr>
        <p:txBody>
          <a:bodyPr wrap="square" rtlCol="0">
            <a:spAutoFit/>
          </a:bodyPr>
          <a:lstStyle/>
          <a:p>
            <a:r>
              <a:rPr lang="en-US" sz="2500" dirty="0">
                <a:latin typeface="Nunito Sans" panose="00000500000000000000" pitchFamily="2" charset="0"/>
              </a:rPr>
              <a:t>An amount of </a:t>
            </a:r>
            <a:r>
              <a:rPr lang="en-US" sz="2500" dirty="0" err="1">
                <a:latin typeface="Nunito Sans" panose="00000500000000000000" pitchFamily="2" charset="0"/>
              </a:rPr>
              <a:t>Rs</a:t>
            </a:r>
            <a:r>
              <a:rPr lang="en-US" sz="2500" dirty="0">
                <a:latin typeface="Nunito Sans" panose="00000500000000000000" pitchFamily="2" charset="0"/>
              </a:rPr>
              <a:t>. 2400 is due after 6 years under simple interest at 10% p.a. Find its present value. </a:t>
            </a:r>
          </a:p>
          <a:p>
            <a:endParaRPr lang="en-US" sz="2500" dirty="0">
              <a:latin typeface="Nunito Sans" panose="00000500000000000000" pitchFamily="2" charset="0"/>
            </a:endParaRP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extLst>
      <p:ext uri="{BB962C8B-B14F-4D97-AF65-F5344CB8AC3E}">
        <p14:creationId xmlns:p14="http://schemas.microsoft.com/office/powerpoint/2010/main" val="1918076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688027-F920-DB1F-A809-E034F252B36F}"/>
              </a:ext>
            </a:extLst>
          </p:cNvPr>
          <p:cNvSpPr txBox="1"/>
          <p:nvPr/>
        </p:nvSpPr>
        <p:spPr>
          <a:xfrm>
            <a:off x="457200" y="1066800"/>
            <a:ext cx="10363200" cy="1261884"/>
          </a:xfrm>
          <a:prstGeom prst="rect">
            <a:avLst/>
          </a:prstGeom>
          <a:noFill/>
        </p:spPr>
        <p:txBody>
          <a:bodyPr wrap="square">
            <a:spAutoFit/>
          </a:bodyPr>
          <a:lstStyle/>
          <a:p>
            <a:r>
              <a:rPr lang="en-US" sz="2500" dirty="0">
                <a:latin typeface="Times New Roman" panose="02020603050405020304" pitchFamily="18" charset="0"/>
                <a:cs typeface="Times New Roman" panose="02020603050405020304" pitchFamily="18" charset="0"/>
              </a:rPr>
              <a:t>Find the simple interest on Rs. 6000 at 7 % per annum for the period from 15</a:t>
            </a:r>
            <a:r>
              <a:rPr lang="en-US" sz="2500" baseline="30000" dirty="0">
                <a:latin typeface="Times New Roman" panose="02020603050405020304" pitchFamily="18" charset="0"/>
                <a:cs typeface="Times New Roman" panose="02020603050405020304" pitchFamily="18" charset="0"/>
              </a:rPr>
              <a:t>th</a:t>
            </a:r>
            <a:r>
              <a:rPr lang="en-US" sz="2500" dirty="0">
                <a:latin typeface="Times New Roman" panose="02020603050405020304" pitchFamily="18" charset="0"/>
                <a:cs typeface="Times New Roman" panose="02020603050405020304" pitchFamily="18" charset="0"/>
              </a:rPr>
              <a:t> Feb to 29</a:t>
            </a:r>
            <a:r>
              <a:rPr lang="en-US" sz="2500" baseline="30000" dirty="0">
                <a:latin typeface="Times New Roman" panose="02020603050405020304" pitchFamily="18" charset="0"/>
                <a:cs typeface="Times New Roman" panose="02020603050405020304" pitchFamily="18" charset="0"/>
              </a:rPr>
              <a:t>th</a:t>
            </a:r>
            <a:r>
              <a:rPr lang="en-US" sz="2500" dirty="0">
                <a:latin typeface="Times New Roman" panose="02020603050405020304" pitchFamily="18" charset="0"/>
                <a:cs typeface="Times New Roman" panose="02020603050405020304" pitchFamily="18" charset="0"/>
              </a:rPr>
              <a:t> April, 2017.</a:t>
            </a:r>
            <a:endParaRPr lang="en-IN" sz="2500" dirty="0">
              <a:latin typeface="Times New Roman" panose="02020603050405020304" pitchFamily="18" charset="0"/>
              <a:cs typeface="Times New Roman" panose="02020603050405020304" pitchFamily="18" charset="0"/>
            </a:endParaRPr>
          </a:p>
          <a:p>
            <a:r>
              <a:rPr lang="en-US" sz="2500" dirty="0">
                <a:latin typeface="Times New Roman" panose="02020603050405020304" pitchFamily="18" charset="0"/>
                <a:cs typeface="Times New Roman" panose="02020603050405020304" pitchFamily="18" charset="0"/>
              </a:rPr>
              <a:t>	A. Rs.75	  B. Rs.54		C. Rs.	60		D. Rs.84</a:t>
            </a:r>
            <a:endParaRPr lang="en-IN" sz="25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1450BFF3-5359-4C4F-88BB-E9599348149F}"/>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31771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477A2E-33E3-AFDB-E773-3AE29DA4B699}"/>
              </a:ext>
            </a:extLst>
          </p:cNvPr>
          <p:cNvSpPr txBox="1"/>
          <p:nvPr/>
        </p:nvSpPr>
        <p:spPr>
          <a:xfrm>
            <a:off x="152400" y="883618"/>
            <a:ext cx="10591800" cy="2400657"/>
          </a:xfrm>
          <a:prstGeom prst="rect">
            <a:avLst/>
          </a:prstGeom>
          <a:noFill/>
        </p:spPr>
        <p:txBody>
          <a:bodyPr wrap="square">
            <a:spAutoFit/>
          </a:bodyPr>
          <a:lstStyle/>
          <a:p>
            <a:pPr marL="0" indent="0">
              <a:buNone/>
            </a:pPr>
            <a:r>
              <a:rPr lang="en-IN" sz="2500" dirty="0">
                <a:latin typeface="Times New Roman" panose="02020603050405020304" pitchFamily="18" charset="0"/>
                <a:cs typeface="Times New Roman" panose="02020603050405020304" pitchFamily="18" charset="0"/>
              </a:rPr>
              <a:t>The rate of interest on a sum of money is 4% per annum for the first 2 years, 6% per annum for the next 4 years and 8% per annum for the period beyond 6 years. If the simple interest accrued by the sum for the total period of 9 years is Rs 1680. What is the sum?</a:t>
            </a:r>
          </a:p>
          <a:p>
            <a:pPr marL="0" indent="0">
              <a:buNone/>
            </a:pPr>
            <a:r>
              <a:rPr lang="en-IN" sz="2500" b="1" dirty="0">
                <a:latin typeface="Times New Roman" panose="02020603050405020304" pitchFamily="18" charset="0"/>
                <a:cs typeface="Times New Roman" panose="02020603050405020304" pitchFamily="18" charset="0"/>
              </a:rPr>
              <a:t> </a:t>
            </a:r>
            <a:r>
              <a:rPr lang="en-IN" sz="2500" dirty="0">
                <a:latin typeface="Times New Roman" panose="02020603050405020304" pitchFamily="18" charset="0"/>
                <a:cs typeface="Times New Roman" panose="02020603050405020304" pitchFamily="18" charset="0"/>
              </a:rPr>
              <a:t>	</a:t>
            </a:r>
          </a:p>
          <a:p>
            <a:pPr marL="0" indent="0">
              <a:buNone/>
            </a:pPr>
            <a:r>
              <a:rPr lang="en-IN" sz="2500" dirty="0">
                <a:latin typeface="Times New Roman" panose="02020603050405020304" pitchFamily="18" charset="0"/>
                <a:cs typeface="Times New Roman" panose="02020603050405020304" pitchFamily="18" charset="0"/>
              </a:rPr>
              <a:t>A. Rs.3000	   B. Rs.2900		C. Rs.2600		D. Rs.2500</a:t>
            </a:r>
          </a:p>
        </p:txBody>
      </p:sp>
      <p:sp>
        <p:nvSpPr>
          <p:cNvPr id="2" name="Rectangle 1">
            <a:extLst>
              <a:ext uri="{FF2B5EF4-FFF2-40B4-BE49-F238E27FC236}">
                <a16:creationId xmlns:a16="http://schemas.microsoft.com/office/drawing/2014/main" id="{C0BBCF18-02FF-B22E-0E6F-C1464978BF32}"/>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515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435BB-6A01-2B26-A529-F9EA796BA87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9E5F391-E0AD-4C10-CA25-DB2FC0B6038A}"/>
              </a:ext>
            </a:extLst>
          </p:cNvPr>
          <p:cNvSpPr txBox="1"/>
          <p:nvPr/>
        </p:nvSpPr>
        <p:spPr>
          <a:xfrm>
            <a:off x="642479" y="1156906"/>
            <a:ext cx="10907041" cy="1769715"/>
          </a:xfrm>
          <a:prstGeom prst="rect">
            <a:avLst/>
          </a:prstGeom>
          <a:noFill/>
        </p:spPr>
        <p:txBody>
          <a:bodyPr wrap="square" rtlCol="0">
            <a:spAutoFit/>
          </a:bodyPr>
          <a:lstStyle/>
          <a:p>
            <a:pPr algn="just"/>
            <a:r>
              <a:rPr lang="en-IN" sz="2800" dirty="0">
                <a:latin typeface="Times New Roman" panose="02020603050405020304" pitchFamily="18" charset="0"/>
                <a:cs typeface="Times New Roman" panose="02020603050405020304" pitchFamily="18" charset="0"/>
              </a:rPr>
              <a:t>A sum of Rs.1550 is lent out in two parts one at 8% and another one at 6%. If the total annual income is Rs.106, the money lent at  8% is:</a:t>
            </a:r>
            <a:endParaRPr lang="en-IN" sz="2800" b="1"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A. Rs.800	B. Rs. 900	C. Rs. 1000		D. Rs. 650</a:t>
            </a:r>
          </a:p>
          <a:p>
            <a:endParaRPr lang="en-US" sz="2500" dirty="0">
              <a:latin typeface="Nunito Sans" panose="00000500000000000000" pitchFamily="2" charset="0"/>
            </a:endParaRPr>
          </a:p>
        </p:txBody>
      </p:sp>
      <p:sp>
        <p:nvSpPr>
          <p:cNvPr id="19" name="Rectangle 18">
            <a:extLst>
              <a:ext uri="{FF2B5EF4-FFF2-40B4-BE49-F238E27FC236}">
                <a16:creationId xmlns:a16="http://schemas.microsoft.com/office/drawing/2014/main" id="{DC5B072C-97B5-B1AC-CFE7-8D603C4D51AE}"/>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5491B430-2469-637E-7F8C-4693F5DB5091}"/>
              </a:ext>
            </a:extLst>
          </p:cNvPr>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extLst>
      <p:ext uri="{BB962C8B-B14F-4D97-AF65-F5344CB8AC3E}">
        <p14:creationId xmlns:p14="http://schemas.microsoft.com/office/powerpoint/2010/main" val="2987925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5136"/>
        </a:solidFill>
        <a:effectLst/>
      </p:bgPr>
    </p:bg>
    <p:spTree>
      <p:nvGrpSpPr>
        <p:cNvPr id="1" name=""/>
        <p:cNvGrpSpPr/>
        <p:nvPr/>
      </p:nvGrpSpPr>
      <p:grpSpPr>
        <a:xfrm>
          <a:off x="0" y="0"/>
          <a:ext cx="0" cy="0"/>
          <a:chOff x="0" y="0"/>
          <a:chExt cx="0" cy="0"/>
        </a:xfrm>
      </p:grpSpPr>
      <p:sp>
        <p:nvSpPr>
          <p:cNvPr id="4" name="Here is where the title goes. Sometimes it could be two lines too"/>
          <p:cNvSpPr txBox="1"/>
          <p:nvPr/>
        </p:nvSpPr>
        <p:spPr>
          <a:xfrm>
            <a:off x="0" y="3055701"/>
            <a:ext cx="12192000" cy="885098"/>
          </a:xfrm>
          <a:prstGeom prst="rect">
            <a:avLst/>
          </a:prstGeom>
          <a:ln w="12700">
            <a:miter lim="400000"/>
          </a:ln>
        </p:spPr>
        <p:txBody>
          <a:bodyPr wrap="square" lIns="26789" tIns="26789" rIns="26789" bIns="26789">
            <a:spAutoFit/>
          </a:bodyPr>
          <a:lstStyle>
            <a:lvl1pPr>
              <a:defRPr sz="9600">
                <a:solidFill>
                  <a:srgbClr val="000000"/>
                </a:solidFill>
              </a:defRPr>
            </a:lvl1pPr>
          </a:lstStyle>
          <a:p>
            <a:pPr algn="ctr"/>
            <a:r>
              <a:rPr lang="en-US" sz="5400" b="1" dirty="0">
                <a:solidFill>
                  <a:schemeClr val="bg1"/>
                </a:solidFill>
                <a:latin typeface="Nunito Sans" panose="00000500000000000000" pitchFamily="2" charset="0"/>
              </a:rPr>
              <a:t>Compound Interest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0D9589-0478-86DC-9035-8DA6E26D2A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4594"/>
            <a:ext cx="12192000" cy="6048811"/>
          </a:xfrm>
          <a:prstGeom prst="rect">
            <a:avLst/>
          </a:prstGeom>
        </p:spPr>
      </p:pic>
    </p:spTree>
    <p:extLst>
      <p:ext uri="{BB962C8B-B14F-4D97-AF65-F5344CB8AC3E}">
        <p14:creationId xmlns:p14="http://schemas.microsoft.com/office/powerpoint/2010/main" val="1046384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838200" y="1078527"/>
            <a:ext cx="10907041" cy="1631216"/>
          </a:xfrm>
          <a:prstGeom prst="rect">
            <a:avLst/>
          </a:prstGeom>
          <a:noFill/>
        </p:spPr>
        <p:txBody>
          <a:bodyPr wrap="square" rtlCol="0">
            <a:spAutoFit/>
          </a:bodyPr>
          <a:lstStyle/>
          <a:p>
            <a:endParaRPr lang="en-US" sz="2500" dirty="0">
              <a:latin typeface="Nunito Sans" panose="00000500000000000000" pitchFamily="2" charset="0"/>
            </a:endParaRPr>
          </a:p>
          <a:p>
            <a:r>
              <a:rPr lang="en-US" sz="2500" dirty="0">
                <a:latin typeface="Nunito Sans" panose="00000500000000000000" pitchFamily="2" charset="0"/>
              </a:rPr>
              <a:t>The compound interest on </a:t>
            </a:r>
            <a:r>
              <a:rPr lang="en-US" sz="2500" dirty="0" err="1">
                <a:latin typeface="Nunito Sans" panose="00000500000000000000" pitchFamily="2" charset="0"/>
              </a:rPr>
              <a:t>Rs</a:t>
            </a:r>
            <a:r>
              <a:rPr lang="en-US" sz="2500" dirty="0">
                <a:latin typeface="Nunito Sans" panose="00000500000000000000" pitchFamily="2" charset="0"/>
              </a:rPr>
              <a:t>. 30000 at 7% p.a. is </a:t>
            </a:r>
            <a:r>
              <a:rPr lang="en-US" sz="2500" dirty="0" err="1">
                <a:latin typeface="Nunito Sans" panose="00000500000000000000" pitchFamily="2" charset="0"/>
              </a:rPr>
              <a:t>Rs</a:t>
            </a:r>
            <a:r>
              <a:rPr lang="en-US" sz="2500" dirty="0">
                <a:latin typeface="Nunito Sans" panose="00000500000000000000" pitchFamily="2" charset="0"/>
              </a:rPr>
              <a:t>. 4347. The period (in years) is __________ </a:t>
            </a:r>
          </a:p>
          <a:p>
            <a:endParaRPr lang="en-US" sz="2500" dirty="0">
              <a:latin typeface="Nunito Sans" panose="00000500000000000000" pitchFamily="2" charset="0"/>
            </a:endParaRP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1246495"/>
          </a:xfrm>
          <a:prstGeom prst="rect">
            <a:avLst/>
          </a:prstGeom>
          <a:noFill/>
        </p:spPr>
        <p:txBody>
          <a:bodyPr wrap="square" rtlCol="0">
            <a:spAutoFit/>
          </a:bodyPr>
          <a:lstStyle/>
          <a:p>
            <a:r>
              <a:rPr lang="en-US" sz="2500" dirty="0">
                <a:latin typeface="Nunito Sans" panose="00000500000000000000" pitchFamily="2" charset="0"/>
              </a:rPr>
              <a:t>At what rate of interest p.a. under C.I. will a sum of </a:t>
            </a:r>
            <a:r>
              <a:rPr lang="en-US" sz="2500" dirty="0" err="1">
                <a:latin typeface="Nunito Sans" panose="00000500000000000000" pitchFamily="2" charset="0"/>
              </a:rPr>
              <a:t>Rs</a:t>
            </a:r>
            <a:r>
              <a:rPr lang="en-US" sz="2500" dirty="0">
                <a:latin typeface="Nunito Sans" panose="00000500000000000000" pitchFamily="2" charset="0"/>
              </a:rPr>
              <a:t>. 1200 become </a:t>
            </a:r>
            <a:r>
              <a:rPr lang="en-US" sz="2500" dirty="0" err="1">
                <a:latin typeface="Nunito Sans" panose="00000500000000000000" pitchFamily="2" charset="0"/>
              </a:rPr>
              <a:t>Rs</a:t>
            </a:r>
            <a:r>
              <a:rPr lang="en-US" sz="2500" dirty="0">
                <a:latin typeface="Nunito Sans" panose="00000500000000000000" pitchFamily="2" charset="0"/>
              </a:rPr>
              <a:t>. 1348.32 in 2 years? </a:t>
            </a:r>
          </a:p>
          <a:p>
            <a:endParaRPr lang="en-US" sz="2500" dirty="0">
              <a:latin typeface="Nunito Sans" panose="00000500000000000000" pitchFamily="2" charset="0"/>
            </a:endParaRP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642479" y="1156906"/>
            <a:ext cx="10907041" cy="1631216"/>
          </a:xfrm>
          <a:prstGeom prst="rect">
            <a:avLst/>
          </a:prstGeom>
          <a:noFill/>
        </p:spPr>
        <p:txBody>
          <a:bodyPr wrap="square" rtlCol="0">
            <a:spAutoFit/>
          </a:bodyPr>
          <a:lstStyle/>
          <a:p>
            <a:r>
              <a:rPr lang="en-US" sz="2500" dirty="0">
                <a:latin typeface="Nunito Sans" panose="00000500000000000000" pitchFamily="2" charset="0"/>
              </a:rPr>
              <a:t>A man invests </a:t>
            </a:r>
            <a:r>
              <a:rPr lang="en-US" sz="2500" dirty="0" err="1">
                <a:latin typeface="Nunito Sans" panose="00000500000000000000" pitchFamily="2" charset="0"/>
              </a:rPr>
              <a:t>Rs</a:t>
            </a:r>
            <a:r>
              <a:rPr lang="en-US" sz="2500" dirty="0">
                <a:latin typeface="Nunito Sans" panose="00000500000000000000" pitchFamily="2" charset="0"/>
              </a:rPr>
              <a:t>. 10000 in an account that pays 8% interest per year, compounded quarterly. What is the amount of money that he will have after 1.5 years? </a:t>
            </a:r>
          </a:p>
          <a:p>
            <a:endParaRPr lang="en-US" sz="2500" dirty="0">
              <a:latin typeface="Nunito Sans" panose="00000500000000000000" pitchFamily="2" charset="0"/>
            </a:endParaRP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extLst>
      <p:ext uri="{BB962C8B-B14F-4D97-AF65-F5344CB8AC3E}">
        <p14:creationId xmlns:p14="http://schemas.microsoft.com/office/powerpoint/2010/main" val="2178886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CD630-496E-EA29-A61B-72B6A715E0B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BDFDC01-D170-E78F-2EDC-2DD2B7805685}"/>
              </a:ext>
            </a:extLst>
          </p:cNvPr>
          <p:cNvSpPr txBox="1"/>
          <p:nvPr/>
        </p:nvSpPr>
        <p:spPr>
          <a:xfrm>
            <a:off x="642479" y="1156906"/>
            <a:ext cx="10907041" cy="3554819"/>
          </a:xfrm>
          <a:prstGeom prst="rect">
            <a:avLst/>
          </a:prstGeom>
          <a:noFill/>
        </p:spPr>
        <p:txBody>
          <a:bodyPr wrap="square" rtlCol="0">
            <a:spAutoFit/>
          </a:bodyPr>
          <a:lstStyle/>
          <a:p>
            <a:r>
              <a:rPr lang="en-US" sz="2500" dirty="0">
                <a:latin typeface="Nunito Sans" panose="00000500000000000000" pitchFamily="2" charset="0"/>
              </a:rPr>
              <a:t>An amount of money grows up to </a:t>
            </a:r>
            <a:r>
              <a:rPr lang="en-US" sz="2500" dirty="0" err="1">
                <a:latin typeface="Nunito Sans" panose="00000500000000000000" pitchFamily="2" charset="0"/>
              </a:rPr>
              <a:t>rs</a:t>
            </a:r>
            <a:r>
              <a:rPr lang="en-US" sz="2500" dirty="0">
                <a:latin typeface="Nunito Sans" panose="00000500000000000000" pitchFamily="2" charset="0"/>
              </a:rPr>
              <a:t>. 7200 in 2 years  and </a:t>
            </a:r>
            <a:r>
              <a:rPr lang="en-US" sz="2500" dirty="0" err="1">
                <a:latin typeface="Nunito Sans" panose="00000500000000000000" pitchFamily="2" charset="0"/>
              </a:rPr>
              <a:t>upto</a:t>
            </a:r>
            <a:r>
              <a:rPr lang="en-US" sz="2500" dirty="0">
                <a:latin typeface="Nunito Sans" panose="00000500000000000000" pitchFamily="2" charset="0"/>
              </a:rPr>
              <a:t> Rs.8100 in 3years on compound interest. Find the ratio of interest percent? </a:t>
            </a:r>
          </a:p>
          <a:p>
            <a:endParaRPr lang="en-US" sz="2500" dirty="0">
              <a:latin typeface="Nunito Sans" panose="00000500000000000000" pitchFamily="2" charset="0"/>
            </a:endParaRPr>
          </a:p>
          <a:p>
            <a:pPr marL="457200" indent="-457200">
              <a:buFont typeface="+mj-lt"/>
              <a:buAutoNum type="alphaUcPeriod"/>
            </a:pPr>
            <a:r>
              <a:rPr lang="en-US" sz="2500" dirty="0">
                <a:latin typeface="Nunito Sans" panose="00000500000000000000" pitchFamily="2" charset="0"/>
              </a:rPr>
              <a:t> A)10.25%</a:t>
            </a:r>
          </a:p>
          <a:p>
            <a:pPr marL="457200" indent="-457200">
              <a:buFont typeface="+mj-lt"/>
              <a:buAutoNum type="alphaUcPeriod"/>
            </a:pPr>
            <a:r>
              <a:rPr lang="en-US" sz="2500" dirty="0">
                <a:latin typeface="Nunito Sans" panose="00000500000000000000" pitchFamily="2" charset="0"/>
              </a:rPr>
              <a:t>12.5%</a:t>
            </a:r>
          </a:p>
          <a:p>
            <a:pPr marL="457200" indent="-457200">
              <a:buFont typeface="+mj-lt"/>
              <a:buAutoNum type="alphaUcPeriod"/>
            </a:pPr>
            <a:r>
              <a:rPr lang="en-US" sz="2500" dirty="0">
                <a:latin typeface="Nunito Sans" panose="00000500000000000000" pitchFamily="2" charset="0"/>
              </a:rPr>
              <a:t>11%</a:t>
            </a:r>
          </a:p>
          <a:p>
            <a:pPr marL="457200" indent="-457200">
              <a:buFont typeface="+mj-lt"/>
              <a:buAutoNum type="alphaUcPeriod"/>
            </a:pPr>
            <a:r>
              <a:rPr lang="en-US" sz="2500" dirty="0">
                <a:latin typeface="Nunito Sans" panose="00000500000000000000" pitchFamily="2" charset="0"/>
              </a:rPr>
              <a:t>9.75%</a:t>
            </a:r>
          </a:p>
          <a:p>
            <a:pPr marL="457200" indent="-457200">
              <a:buFont typeface="+mj-lt"/>
              <a:buAutoNum type="alphaUcPeriod"/>
            </a:pPr>
            <a:r>
              <a:rPr lang="en-US" sz="2500" dirty="0">
                <a:latin typeface="Nunito Sans" panose="00000500000000000000" pitchFamily="2" charset="0"/>
              </a:rPr>
              <a:t>13%</a:t>
            </a:r>
          </a:p>
          <a:p>
            <a:endParaRPr lang="en-US" sz="2500" dirty="0">
              <a:latin typeface="Nunito Sans" panose="00000500000000000000" pitchFamily="2" charset="0"/>
            </a:endParaRPr>
          </a:p>
        </p:txBody>
      </p:sp>
      <p:sp>
        <p:nvSpPr>
          <p:cNvPr id="19" name="Rectangle 18">
            <a:extLst>
              <a:ext uri="{FF2B5EF4-FFF2-40B4-BE49-F238E27FC236}">
                <a16:creationId xmlns:a16="http://schemas.microsoft.com/office/drawing/2014/main" id="{C98F6701-9278-E3F9-63D8-2AF1F2AD1D15}"/>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9BDABAD-B16B-7392-538E-B2429C52931A}"/>
              </a:ext>
            </a:extLst>
          </p:cNvPr>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extLst>
      <p:ext uri="{BB962C8B-B14F-4D97-AF65-F5344CB8AC3E}">
        <p14:creationId xmlns:p14="http://schemas.microsoft.com/office/powerpoint/2010/main" val="3817343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5136"/>
        </a:solidFill>
        <a:effectLst/>
      </p:bgPr>
    </p:bg>
    <p:spTree>
      <p:nvGrpSpPr>
        <p:cNvPr id="1" name=""/>
        <p:cNvGrpSpPr/>
        <p:nvPr/>
      </p:nvGrpSpPr>
      <p:grpSpPr>
        <a:xfrm>
          <a:off x="0" y="0"/>
          <a:ext cx="0" cy="0"/>
          <a:chOff x="0" y="0"/>
          <a:chExt cx="0" cy="0"/>
        </a:xfrm>
      </p:grpSpPr>
      <p:sp>
        <p:nvSpPr>
          <p:cNvPr id="4" name="Here is where the title goes. Sometimes it could be two lines too"/>
          <p:cNvSpPr txBox="1"/>
          <p:nvPr/>
        </p:nvSpPr>
        <p:spPr>
          <a:xfrm>
            <a:off x="0" y="3055701"/>
            <a:ext cx="12192000" cy="2547091"/>
          </a:xfrm>
          <a:prstGeom prst="rect">
            <a:avLst/>
          </a:prstGeom>
          <a:ln w="12700">
            <a:miter lim="400000"/>
          </a:ln>
        </p:spPr>
        <p:txBody>
          <a:bodyPr wrap="square" lIns="26789" tIns="26789" rIns="26789" bIns="26789">
            <a:spAutoFit/>
          </a:bodyPr>
          <a:lstStyle>
            <a:lvl1pPr>
              <a:defRPr sz="9600">
                <a:solidFill>
                  <a:srgbClr val="000000"/>
                </a:solidFill>
              </a:defRPr>
            </a:lvl1pPr>
          </a:lstStyle>
          <a:p>
            <a:pPr algn="ctr"/>
            <a:r>
              <a:rPr lang="en-US" sz="5400" b="1" dirty="0">
                <a:solidFill>
                  <a:schemeClr val="bg1"/>
                </a:solidFill>
                <a:latin typeface="Nunito Sans" panose="00000500000000000000" pitchFamily="2" charset="0"/>
              </a:rPr>
              <a:t> Relation Between Simple and Compound Interests</a:t>
            </a:r>
          </a:p>
          <a:p>
            <a:pPr algn="ctr"/>
            <a:endParaRPr lang="en-US" sz="5400" b="1" dirty="0">
              <a:solidFill>
                <a:schemeClr val="bg1"/>
              </a:solidFill>
              <a:latin typeface="Nunito Sans" panose="00000500000000000000" pitchFamily="2"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2015936"/>
          </a:xfrm>
          <a:prstGeom prst="rect">
            <a:avLst/>
          </a:prstGeom>
          <a:noFill/>
        </p:spPr>
        <p:txBody>
          <a:bodyPr wrap="square" rtlCol="0">
            <a:spAutoFit/>
          </a:bodyPr>
          <a:lstStyle/>
          <a:p>
            <a:r>
              <a:rPr lang="en-US" sz="2500" dirty="0">
                <a:latin typeface="Nunito Sans" panose="00000500000000000000" pitchFamily="2" charset="0"/>
              </a:rPr>
              <a:t>If a sum of money doubles itself in 5 years, in how many years does it becomes 8 times the original? </a:t>
            </a:r>
          </a:p>
          <a:p>
            <a:endParaRPr lang="en-US" sz="2500" dirty="0">
              <a:latin typeface="Nunito Sans" panose="00000500000000000000" pitchFamily="2" charset="0"/>
            </a:endParaRPr>
          </a:p>
          <a:p>
            <a:pPr marL="514350" indent="-514350">
              <a:buAutoNum type="romanLcPeriod"/>
            </a:pPr>
            <a:r>
              <a:rPr lang="en-US" sz="2500" dirty="0">
                <a:latin typeface="Nunito Sans" panose="00000500000000000000" pitchFamily="2" charset="0"/>
              </a:rPr>
              <a:t>Using Simple Interest , the money becomes 8 times in__________ </a:t>
            </a:r>
          </a:p>
          <a:p>
            <a:r>
              <a:rPr lang="en-US" sz="2500" dirty="0">
                <a:latin typeface="Nunito Sans" panose="00000500000000000000" pitchFamily="2" charset="0"/>
              </a:rPr>
              <a:t>ii.    Using Compound Interest, the money becomes 8 times in __________</a:t>
            </a: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381000" y="1066800"/>
            <a:ext cx="10907041" cy="1246495"/>
          </a:xfrm>
          <a:prstGeom prst="rect">
            <a:avLst/>
          </a:prstGeom>
          <a:noFill/>
        </p:spPr>
        <p:txBody>
          <a:bodyPr wrap="square" rtlCol="0">
            <a:spAutoFit/>
          </a:bodyPr>
          <a:lstStyle/>
          <a:p>
            <a:r>
              <a:rPr lang="en-US" sz="2500" dirty="0">
                <a:latin typeface="Nunito Sans" panose="00000500000000000000" pitchFamily="2" charset="0"/>
              </a:rPr>
              <a:t>If the simple interest on a sum of money for 2 years at 5% p.a. is </a:t>
            </a:r>
            <a:r>
              <a:rPr lang="en-US" sz="2500" dirty="0" err="1">
                <a:latin typeface="Nunito Sans" panose="00000500000000000000" pitchFamily="2" charset="0"/>
              </a:rPr>
              <a:t>Rs</a:t>
            </a:r>
            <a:r>
              <a:rPr lang="en-US" sz="2500" dirty="0">
                <a:latin typeface="Nunito Sans" panose="00000500000000000000" pitchFamily="2" charset="0"/>
              </a:rPr>
              <a:t>. 50, what is the compound interest on the same amount at the same rate of interest and for the same time? </a:t>
            </a: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733800" y="53673"/>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1631216"/>
          </a:xfrm>
          <a:prstGeom prst="rect">
            <a:avLst/>
          </a:prstGeom>
          <a:noFill/>
        </p:spPr>
        <p:txBody>
          <a:bodyPr wrap="square" rtlCol="0">
            <a:spAutoFit/>
          </a:bodyPr>
          <a:lstStyle/>
          <a:p>
            <a:r>
              <a:rPr lang="en-US" sz="2500" dirty="0">
                <a:latin typeface="Nunito Sans" panose="00000500000000000000" pitchFamily="2" charset="0"/>
              </a:rPr>
              <a:t>Given the difference between SI and CI for 2 years on the same sum and at the same rate of interest, compounded annually is </a:t>
            </a:r>
            <a:r>
              <a:rPr lang="en-US" sz="2500" dirty="0" err="1">
                <a:latin typeface="Nunito Sans" panose="00000500000000000000" pitchFamily="2" charset="0"/>
              </a:rPr>
              <a:t>Rs</a:t>
            </a:r>
            <a:r>
              <a:rPr lang="en-US" sz="2500" dirty="0">
                <a:latin typeface="Nunito Sans" panose="00000500000000000000" pitchFamily="2" charset="0"/>
              </a:rPr>
              <a:t>. 120. The difference between SI and CI for 3 years on the same sum and at the same rate of interest is </a:t>
            </a:r>
            <a:r>
              <a:rPr lang="en-US" sz="2500" dirty="0" err="1">
                <a:latin typeface="Nunito Sans" panose="00000500000000000000" pitchFamily="2" charset="0"/>
              </a:rPr>
              <a:t>Rs</a:t>
            </a:r>
            <a:r>
              <a:rPr lang="en-US" sz="2500" dirty="0">
                <a:latin typeface="Nunito Sans" panose="00000500000000000000" pitchFamily="2" charset="0"/>
              </a:rPr>
              <a:t>. 366. Find the rate of interest.</a:t>
            </a: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5136"/>
        </a:solidFill>
        <a:effectLst/>
      </p:bgPr>
    </p:bg>
    <p:spTree>
      <p:nvGrpSpPr>
        <p:cNvPr id="1" name=""/>
        <p:cNvGrpSpPr/>
        <p:nvPr/>
      </p:nvGrpSpPr>
      <p:grpSpPr>
        <a:xfrm>
          <a:off x="0" y="0"/>
          <a:ext cx="0" cy="0"/>
          <a:chOff x="0" y="0"/>
          <a:chExt cx="0" cy="0"/>
        </a:xfrm>
      </p:grpSpPr>
      <p:sp>
        <p:nvSpPr>
          <p:cNvPr id="4" name="Here is where the title goes. Sometimes it could be two lines too"/>
          <p:cNvSpPr txBox="1"/>
          <p:nvPr/>
        </p:nvSpPr>
        <p:spPr>
          <a:xfrm>
            <a:off x="0" y="3055701"/>
            <a:ext cx="12192000" cy="883920"/>
          </a:xfrm>
          <a:prstGeom prst="rect">
            <a:avLst/>
          </a:prstGeom>
          <a:ln w="12700">
            <a:miter lim="400000"/>
          </a:ln>
        </p:spPr>
        <p:txBody>
          <a:bodyPr wrap="square" lIns="26789" tIns="26789" rIns="26789" bIns="26789">
            <a:spAutoFit/>
          </a:bodyPr>
          <a:lstStyle>
            <a:lvl1pPr>
              <a:defRPr sz="9600">
                <a:solidFill>
                  <a:srgbClr val="000000"/>
                </a:solidFill>
              </a:defRPr>
            </a:lvl1pPr>
          </a:lstStyle>
          <a:p>
            <a:pPr algn="ctr"/>
            <a:r>
              <a:rPr lang="en-US" sz="5400" b="1" dirty="0">
                <a:solidFill>
                  <a:schemeClr val="bg1"/>
                </a:solidFill>
                <a:latin typeface="Nunito Sans" panose="00000500000000000000" pitchFamily="2" charset="0"/>
              </a:rPr>
              <a:t>Concept Review Questions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477054"/>
          </a:xfrm>
          <a:prstGeom prst="rect">
            <a:avLst/>
          </a:prstGeom>
          <a:noFill/>
        </p:spPr>
        <p:txBody>
          <a:bodyPr wrap="square" rtlCol="0">
            <a:spAutoFit/>
          </a:bodyPr>
          <a:lstStyle/>
          <a:p>
            <a:r>
              <a:rPr lang="en-US" sz="2500" dirty="0">
                <a:latin typeface="Nunito Sans" panose="00000500000000000000" pitchFamily="2" charset="0"/>
              </a:rPr>
              <a:t>If 45 is 120% of a number, then what is 80% of the same number?</a:t>
            </a:r>
          </a:p>
        </p:txBody>
      </p:sp>
      <p:sp>
        <p:nvSpPr>
          <p:cNvPr id="4" name="Rectangle 3"/>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30</a:t>
            </a:r>
          </a:p>
        </p:txBody>
      </p:sp>
      <p:sp>
        <p:nvSpPr>
          <p:cNvPr id="24" name="Rectangle 23"/>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32</a:t>
            </a:r>
          </a:p>
        </p:txBody>
      </p:sp>
      <p:sp>
        <p:nvSpPr>
          <p:cNvPr id="25" name="Rectangle 24"/>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36</a:t>
            </a:r>
          </a:p>
        </p:txBody>
      </p:sp>
      <p:sp>
        <p:nvSpPr>
          <p:cNvPr id="26" name="Rectangle 25"/>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38</a:t>
            </a: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1246495"/>
          </a:xfrm>
          <a:prstGeom prst="rect">
            <a:avLst/>
          </a:prstGeom>
          <a:noFill/>
        </p:spPr>
        <p:txBody>
          <a:bodyPr wrap="square" rtlCol="0">
            <a:spAutoFit/>
          </a:bodyPr>
          <a:lstStyle/>
          <a:p>
            <a:r>
              <a:rPr lang="en-US" sz="2500" dirty="0">
                <a:latin typeface="Nunito Sans" panose="00000500000000000000" pitchFamily="2" charset="0"/>
              </a:rPr>
              <a:t>The population of a town was 3600 three years back. It is 4800 right now. What will be the population three years down the line, if the rate of growth of population is constant over the years?</a:t>
            </a:r>
          </a:p>
        </p:txBody>
      </p:sp>
      <p:sp>
        <p:nvSpPr>
          <p:cNvPr id="4" name="Rectangle 3"/>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6400</a:t>
            </a:r>
            <a:endParaRPr lang="en-US" sz="2500" dirty="0">
              <a:latin typeface="Nunito Sans" panose="00000500000000000000" pitchFamily="2" charset="0"/>
            </a:endParaRPr>
          </a:p>
        </p:txBody>
      </p:sp>
      <p:sp>
        <p:nvSpPr>
          <p:cNvPr id="24" name="Rectangle 23"/>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6000</a:t>
            </a:r>
            <a:endParaRPr lang="en-US" sz="2500" dirty="0">
              <a:latin typeface="Nunito Sans" panose="00000500000000000000" pitchFamily="2" charset="0"/>
            </a:endParaRPr>
          </a:p>
        </p:txBody>
      </p:sp>
      <p:sp>
        <p:nvSpPr>
          <p:cNvPr id="25" name="Rectangle 24"/>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5800</a:t>
            </a:r>
            <a:endParaRPr lang="en-US" sz="2500" dirty="0">
              <a:latin typeface="Nunito Sans" panose="00000500000000000000" pitchFamily="2" charset="0"/>
            </a:endParaRPr>
          </a:p>
        </p:txBody>
      </p:sp>
      <p:sp>
        <p:nvSpPr>
          <p:cNvPr id="26" name="Rectangle 25"/>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6600</a:t>
            </a:r>
            <a:endParaRPr lang="en-US" sz="2500" dirty="0">
              <a:latin typeface="Nunito Sans" panose="00000500000000000000" pitchFamily="2" charset="0"/>
            </a:endParaRP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1246495"/>
          </a:xfrm>
          <a:prstGeom prst="rect">
            <a:avLst/>
          </a:prstGeom>
          <a:noFill/>
        </p:spPr>
        <p:txBody>
          <a:bodyPr wrap="square" rtlCol="0">
            <a:spAutoFit/>
          </a:bodyPr>
          <a:lstStyle/>
          <a:p>
            <a:r>
              <a:rPr lang="en-US" sz="2500" dirty="0">
                <a:latin typeface="Nunito Sans" panose="00000500000000000000" pitchFamily="2" charset="0"/>
              </a:rPr>
              <a:t>Two students appeared for an examination. One of them secured 9 marks more than the other and his score was 56% of the sum of their marks. The marks obtained by them are:</a:t>
            </a:r>
          </a:p>
        </p:txBody>
      </p:sp>
      <p:sp>
        <p:nvSpPr>
          <p:cNvPr id="4" name="Rectangle 3"/>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39, 30</a:t>
            </a:r>
            <a:endParaRPr lang="en-US" sz="2500" dirty="0">
              <a:latin typeface="Nunito Sans" panose="00000500000000000000" pitchFamily="2" charset="0"/>
            </a:endParaRPr>
          </a:p>
        </p:txBody>
      </p:sp>
      <p:sp>
        <p:nvSpPr>
          <p:cNvPr id="24" name="Rectangle 23"/>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43, 32</a:t>
            </a:r>
            <a:endParaRPr lang="en-US" sz="2500" dirty="0">
              <a:latin typeface="Nunito Sans" panose="00000500000000000000" pitchFamily="2" charset="0"/>
            </a:endParaRPr>
          </a:p>
        </p:txBody>
      </p:sp>
      <p:sp>
        <p:nvSpPr>
          <p:cNvPr id="25" name="Rectangle 24"/>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42, 33</a:t>
            </a:r>
            <a:endParaRPr lang="en-US" sz="2500" dirty="0">
              <a:latin typeface="Nunito Sans" panose="00000500000000000000" pitchFamily="2" charset="0"/>
            </a:endParaRPr>
          </a:p>
        </p:txBody>
      </p:sp>
      <p:sp>
        <p:nvSpPr>
          <p:cNvPr id="26" name="Rectangle 25"/>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43, 34</a:t>
            </a:r>
            <a:endParaRPr lang="en-US" sz="2500" dirty="0">
              <a:latin typeface="Nunito Sans" panose="00000500000000000000" pitchFamily="2" charset="0"/>
            </a:endParaRP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1631216"/>
          </a:xfrm>
          <a:prstGeom prst="rect">
            <a:avLst/>
          </a:prstGeom>
          <a:noFill/>
        </p:spPr>
        <p:txBody>
          <a:bodyPr wrap="square" rtlCol="0">
            <a:spAutoFit/>
          </a:bodyPr>
          <a:lstStyle/>
          <a:p>
            <a:r>
              <a:rPr lang="en-US" sz="2500" dirty="0">
                <a:latin typeface="Nunito Sans" panose="00000500000000000000" pitchFamily="2" charset="0"/>
              </a:rPr>
              <a:t>Peter got 30% of the maximum marks in an examination and failed by 10 marks. However, Paul, who took the same examination, got 40% of the total marks and got 15 marks more than the pass mark. What was the pass mark in the examination?</a:t>
            </a:r>
          </a:p>
        </p:txBody>
      </p:sp>
      <p:sp>
        <p:nvSpPr>
          <p:cNvPr id="4" name="Rectangle 3"/>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75</a:t>
            </a:r>
          </a:p>
        </p:txBody>
      </p:sp>
      <p:sp>
        <p:nvSpPr>
          <p:cNvPr id="24" name="Rectangle 23"/>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250</a:t>
            </a:r>
            <a:endParaRPr lang="en-US" sz="2500" dirty="0">
              <a:latin typeface="Nunito Sans" panose="00000500000000000000" pitchFamily="2" charset="0"/>
            </a:endParaRPr>
          </a:p>
        </p:txBody>
      </p:sp>
      <p:sp>
        <p:nvSpPr>
          <p:cNvPr id="25" name="Rectangle 24"/>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90</a:t>
            </a:r>
            <a:endParaRPr lang="en-US" sz="2500" dirty="0">
              <a:latin typeface="Nunito Sans" panose="00000500000000000000" pitchFamily="2" charset="0"/>
            </a:endParaRPr>
          </a:p>
        </p:txBody>
      </p:sp>
      <p:sp>
        <p:nvSpPr>
          <p:cNvPr id="26" name="Rectangle 25"/>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85</a:t>
            </a:r>
            <a:endParaRPr lang="en-US" sz="2500" dirty="0">
              <a:latin typeface="Nunito Sans" panose="00000500000000000000" pitchFamily="2" charset="0"/>
            </a:endParaRP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2015936"/>
          </a:xfrm>
          <a:prstGeom prst="rect">
            <a:avLst/>
          </a:prstGeom>
          <a:noFill/>
        </p:spPr>
        <p:txBody>
          <a:bodyPr wrap="square" rtlCol="0">
            <a:spAutoFit/>
          </a:bodyPr>
          <a:lstStyle/>
          <a:p>
            <a:r>
              <a:rPr lang="en-US" sz="2500" dirty="0">
                <a:latin typeface="Nunito Sans" panose="00000500000000000000" pitchFamily="2" charset="0"/>
              </a:rPr>
              <a:t>A shepherd has 1 million sheep at the beginning of the year 2000. The numbers grow by x%, (x &gt; 0) during the year. A famine hits his village in the next year and many of his sheep die. The sheep population decreases by y% during 2001 and at the beginning of 2002 the shepherd finds that he is left with 1 million sheep. Which of the following is correct?</a:t>
            </a:r>
          </a:p>
        </p:txBody>
      </p:sp>
      <p:sp>
        <p:nvSpPr>
          <p:cNvPr id="4" name="Rectangle 3"/>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y &gt; x</a:t>
            </a:r>
          </a:p>
        </p:txBody>
      </p:sp>
      <p:sp>
        <p:nvSpPr>
          <p:cNvPr id="24" name="Rectangle 23"/>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x = y</a:t>
            </a:r>
            <a:endParaRPr lang="en-US" sz="2500" dirty="0">
              <a:latin typeface="Nunito Sans" panose="00000500000000000000" pitchFamily="2" charset="0"/>
            </a:endParaRPr>
          </a:p>
        </p:txBody>
      </p:sp>
      <p:sp>
        <p:nvSpPr>
          <p:cNvPr id="25" name="Rectangle 24"/>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x &gt; y</a:t>
            </a:r>
            <a:endParaRPr lang="en-US" sz="2500" dirty="0">
              <a:latin typeface="Nunito Sans" panose="00000500000000000000" pitchFamily="2" charset="0"/>
            </a:endParaRPr>
          </a:p>
        </p:txBody>
      </p:sp>
      <p:sp>
        <p:nvSpPr>
          <p:cNvPr id="26" name="Rectangle 25"/>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sym typeface="+mn-ea"/>
              </a:rPr>
              <a:t>xy</a:t>
            </a:r>
            <a:r>
              <a:rPr lang="en-US" sz="2500" dirty="0">
                <a:latin typeface="Nunito Sans" panose="00000500000000000000" pitchFamily="2" charset="0"/>
                <a:sym typeface="+mn-ea"/>
              </a:rPr>
              <a:t> = 0</a:t>
            </a:r>
            <a:endParaRPr lang="en-US" sz="2500" dirty="0">
              <a:latin typeface="Nunito Sans" panose="00000500000000000000" pitchFamily="2" charset="0"/>
            </a:endParaRP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1246495"/>
          </a:xfrm>
          <a:prstGeom prst="rect">
            <a:avLst/>
          </a:prstGeom>
          <a:noFill/>
        </p:spPr>
        <p:txBody>
          <a:bodyPr wrap="square" rtlCol="0">
            <a:spAutoFit/>
          </a:bodyPr>
          <a:lstStyle/>
          <a:p>
            <a:r>
              <a:rPr lang="en-US" sz="2500" dirty="0">
                <a:latin typeface="Nunito Sans" panose="00000500000000000000" pitchFamily="2" charset="0"/>
              </a:rPr>
              <a:t>If the price of petrol increases by 25% and Kevin intends to spend only an additional 15% on petrol, then by what percentage must he reduce the quantity of petrol purchased?</a:t>
            </a:r>
          </a:p>
        </p:txBody>
      </p:sp>
      <p:sp>
        <p:nvSpPr>
          <p:cNvPr id="4" name="Rectangle 3"/>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6.67%</a:t>
            </a:r>
          </a:p>
        </p:txBody>
      </p:sp>
      <p:sp>
        <p:nvSpPr>
          <p:cNvPr id="24" name="Rectangle 23"/>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10%</a:t>
            </a:r>
            <a:endParaRPr lang="en-US" sz="2500" dirty="0">
              <a:latin typeface="Nunito Sans" panose="00000500000000000000" pitchFamily="2" charset="0"/>
            </a:endParaRPr>
          </a:p>
        </p:txBody>
      </p:sp>
      <p:sp>
        <p:nvSpPr>
          <p:cNvPr id="25" name="Rectangle 24"/>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8%</a:t>
            </a:r>
            <a:endParaRPr lang="en-US" sz="2500" dirty="0">
              <a:latin typeface="Nunito Sans" panose="00000500000000000000" pitchFamily="2" charset="0"/>
            </a:endParaRPr>
          </a:p>
        </p:txBody>
      </p:sp>
      <p:sp>
        <p:nvSpPr>
          <p:cNvPr id="26" name="Rectangle 25"/>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None of these</a:t>
            </a:r>
            <a:endParaRPr lang="en-US" sz="2500" dirty="0">
              <a:latin typeface="Nunito Sans" panose="00000500000000000000" pitchFamily="2" charset="0"/>
            </a:endParaRP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1246495"/>
          </a:xfrm>
          <a:prstGeom prst="rect">
            <a:avLst/>
          </a:prstGeom>
          <a:noFill/>
        </p:spPr>
        <p:txBody>
          <a:bodyPr wrap="square" rtlCol="0">
            <a:spAutoFit/>
          </a:bodyPr>
          <a:lstStyle/>
          <a:p>
            <a:r>
              <a:rPr lang="en-US" sz="2500" dirty="0">
                <a:latin typeface="Nunito Sans" panose="00000500000000000000" pitchFamily="2" charset="0"/>
              </a:rPr>
              <a:t>A vendor sells 60% of apples he had and throws away 15% of the remaining apples. Next day, he sells 50% of the remaining apples and throws away the rest. What % of the apples does the vendor throw away?</a:t>
            </a:r>
          </a:p>
        </p:txBody>
      </p:sp>
      <p:sp>
        <p:nvSpPr>
          <p:cNvPr id="4" name="Rectangle 3"/>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23</a:t>
            </a:r>
          </a:p>
        </p:txBody>
      </p:sp>
      <p:sp>
        <p:nvSpPr>
          <p:cNvPr id="24" name="Rectangle 23"/>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17</a:t>
            </a:r>
            <a:endParaRPr lang="en-US" sz="2500" dirty="0">
              <a:latin typeface="Nunito Sans" panose="00000500000000000000" pitchFamily="2" charset="0"/>
            </a:endParaRPr>
          </a:p>
        </p:txBody>
      </p:sp>
      <p:sp>
        <p:nvSpPr>
          <p:cNvPr id="25" name="Rectangle 24"/>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77</a:t>
            </a:r>
            <a:endParaRPr lang="en-US" sz="2500" dirty="0">
              <a:latin typeface="Nunito Sans" panose="00000500000000000000" pitchFamily="2" charset="0"/>
            </a:endParaRPr>
          </a:p>
        </p:txBody>
      </p:sp>
      <p:sp>
        <p:nvSpPr>
          <p:cNvPr id="26" name="Rectangle 25"/>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29</a:t>
            </a:r>
            <a:endParaRPr lang="en-US" sz="2500" dirty="0">
              <a:latin typeface="Nunito Sans" panose="00000500000000000000" pitchFamily="2" charset="0"/>
            </a:endParaRP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477054"/>
          </a:xfrm>
          <a:prstGeom prst="rect">
            <a:avLst/>
          </a:prstGeom>
          <a:noFill/>
        </p:spPr>
        <p:txBody>
          <a:bodyPr wrap="square" rtlCol="0">
            <a:spAutoFit/>
          </a:bodyPr>
          <a:lstStyle/>
          <a:p>
            <a:r>
              <a:rPr lang="en-US" sz="2500" dirty="0">
                <a:latin typeface="Nunito Sans" panose="00000500000000000000" pitchFamily="2" charset="0"/>
              </a:rPr>
              <a:t>In how many years will a sum double itself at 12.5% p.a. simple interest?</a:t>
            </a:r>
          </a:p>
        </p:txBody>
      </p:sp>
      <p:sp>
        <p:nvSpPr>
          <p:cNvPr id="4" name="Rectangle 3"/>
          <p:cNvSpPr/>
          <p:nvPr/>
        </p:nvSpPr>
        <p:spPr>
          <a:xfrm>
            <a:off x="657998" y="3681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p:cNvSpPr/>
          <p:nvPr/>
        </p:nvSpPr>
        <p:spPr>
          <a:xfrm>
            <a:off x="647791" y="4256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p:cNvSpPr/>
          <p:nvPr/>
        </p:nvSpPr>
        <p:spPr>
          <a:xfrm>
            <a:off x="657998" y="4831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p:cNvSpPr/>
          <p:nvPr/>
        </p:nvSpPr>
        <p:spPr>
          <a:xfrm>
            <a:off x="641928" y="5395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p:cNvSpPr/>
          <p:nvPr/>
        </p:nvSpPr>
        <p:spPr>
          <a:xfrm>
            <a:off x="1456098" y="3681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4</a:t>
            </a:r>
          </a:p>
        </p:txBody>
      </p:sp>
      <p:sp>
        <p:nvSpPr>
          <p:cNvPr id="24" name="Rectangle 23"/>
          <p:cNvSpPr/>
          <p:nvPr/>
        </p:nvSpPr>
        <p:spPr>
          <a:xfrm>
            <a:off x="1445891" y="4256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8</a:t>
            </a:r>
            <a:endParaRPr lang="en-US" sz="2500" dirty="0">
              <a:latin typeface="Nunito Sans" panose="00000500000000000000" pitchFamily="2" charset="0"/>
            </a:endParaRPr>
          </a:p>
        </p:txBody>
      </p:sp>
      <p:sp>
        <p:nvSpPr>
          <p:cNvPr id="25" name="Rectangle 24"/>
          <p:cNvSpPr/>
          <p:nvPr/>
        </p:nvSpPr>
        <p:spPr>
          <a:xfrm>
            <a:off x="1456098" y="4831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10</a:t>
            </a:r>
            <a:endParaRPr lang="en-US" sz="2500" dirty="0">
              <a:latin typeface="Nunito Sans" panose="00000500000000000000" pitchFamily="2" charset="0"/>
            </a:endParaRPr>
          </a:p>
        </p:txBody>
      </p:sp>
      <p:sp>
        <p:nvSpPr>
          <p:cNvPr id="26" name="Rectangle 25"/>
          <p:cNvSpPr/>
          <p:nvPr/>
        </p:nvSpPr>
        <p:spPr>
          <a:xfrm>
            <a:off x="1440028" y="5395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16</a:t>
            </a:r>
            <a:endParaRPr lang="en-US" sz="2500" dirty="0">
              <a:latin typeface="Nunito Sans" panose="00000500000000000000" pitchFamily="2" charset="0"/>
            </a:endParaRP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1246495"/>
          </a:xfrm>
          <a:prstGeom prst="rect">
            <a:avLst/>
          </a:prstGeom>
          <a:noFill/>
        </p:spPr>
        <p:txBody>
          <a:bodyPr wrap="square" rtlCol="0">
            <a:spAutoFit/>
          </a:bodyPr>
          <a:lstStyle/>
          <a:p>
            <a:r>
              <a:rPr lang="en-US" sz="2500" dirty="0">
                <a:latin typeface="Nunito Sans" panose="00000500000000000000" pitchFamily="2" charset="0"/>
              </a:rPr>
              <a:t>Divide </a:t>
            </a:r>
            <a:r>
              <a:rPr lang="en-US" sz="2500" dirty="0" err="1">
                <a:latin typeface="Nunito Sans" panose="00000500000000000000" pitchFamily="2" charset="0"/>
              </a:rPr>
              <a:t>Rs</a:t>
            </a:r>
            <a:r>
              <a:rPr lang="en-US" sz="2500" dirty="0">
                <a:latin typeface="Nunito Sans" panose="00000500000000000000" pitchFamily="2" charset="0"/>
              </a:rPr>
              <a:t>. 3000 into two parts such that, the simple interest on the first part for 4 years at 8% per annum is equal to the simple interest on the second part for 2 years at 9% per annum.</a:t>
            </a:r>
          </a:p>
        </p:txBody>
      </p:sp>
      <p:sp>
        <p:nvSpPr>
          <p:cNvPr id="4" name="Rectangle 3"/>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1000, 2000</a:t>
            </a:r>
          </a:p>
        </p:txBody>
      </p:sp>
      <p:sp>
        <p:nvSpPr>
          <p:cNvPr id="24" name="Rectangle 23"/>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1280, 1720</a:t>
            </a:r>
            <a:endParaRPr lang="en-US" sz="2500" dirty="0">
              <a:latin typeface="Nunito Sans" panose="00000500000000000000" pitchFamily="2" charset="0"/>
            </a:endParaRPr>
          </a:p>
        </p:txBody>
      </p:sp>
      <p:sp>
        <p:nvSpPr>
          <p:cNvPr id="25" name="Rectangle 24"/>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1160, 1840</a:t>
            </a:r>
            <a:endParaRPr lang="en-US" sz="2500" dirty="0">
              <a:latin typeface="Nunito Sans" panose="00000500000000000000" pitchFamily="2" charset="0"/>
            </a:endParaRPr>
          </a:p>
        </p:txBody>
      </p:sp>
      <p:sp>
        <p:nvSpPr>
          <p:cNvPr id="26" name="Rectangle 25"/>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1080, 1920</a:t>
            </a:r>
            <a:endParaRPr lang="en-US" sz="2500" dirty="0">
              <a:latin typeface="Nunito Sans" panose="00000500000000000000" pitchFamily="2" charset="0"/>
            </a:endParaRP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1631216"/>
          </a:xfrm>
          <a:prstGeom prst="rect">
            <a:avLst/>
          </a:prstGeom>
          <a:noFill/>
        </p:spPr>
        <p:txBody>
          <a:bodyPr wrap="square" rtlCol="0">
            <a:spAutoFit/>
          </a:bodyPr>
          <a:lstStyle/>
          <a:p>
            <a:r>
              <a:rPr lang="en-US" sz="2500" dirty="0" err="1">
                <a:latin typeface="Nunito Sans" panose="00000500000000000000" pitchFamily="2" charset="0"/>
              </a:rPr>
              <a:t>Meena</a:t>
            </a:r>
            <a:r>
              <a:rPr lang="en-US" sz="2500" dirty="0">
                <a:latin typeface="Nunito Sans" panose="00000500000000000000" pitchFamily="2" charset="0"/>
              </a:rPr>
              <a:t> deposited a sum of </a:t>
            </a:r>
            <a:r>
              <a:rPr lang="en-US" sz="2500" dirty="0" err="1">
                <a:latin typeface="Nunito Sans" panose="00000500000000000000" pitchFamily="2" charset="0"/>
              </a:rPr>
              <a:t>Rs</a:t>
            </a:r>
            <a:r>
              <a:rPr lang="en-US" sz="2500" dirty="0">
                <a:latin typeface="Nunito Sans" panose="00000500000000000000" pitchFamily="2" charset="0"/>
              </a:rPr>
              <a:t>. 8000 in a bank paying simple interest. After one year, she withdraws </a:t>
            </a:r>
            <a:r>
              <a:rPr lang="en-US" sz="2500" dirty="0" err="1">
                <a:latin typeface="Nunito Sans" panose="00000500000000000000" pitchFamily="2" charset="0"/>
              </a:rPr>
              <a:t>Rs</a:t>
            </a:r>
            <a:r>
              <a:rPr lang="en-US" sz="2500" dirty="0">
                <a:latin typeface="Nunito Sans" panose="00000500000000000000" pitchFamily="2" charset="0"/>
              </a:rPr>
              <a:t>. 2000. At the end of 3 years, she received </a:t>
            </a:r>
            <a:r>
              <a:rPr lang="en-US" sz="2500" dirty="0" err="1">
                <a:latin typeface="Nunito Sans" panose="00000500000000000000" pitchFamily="2" charset="0"/>
              </a:rPr>
              <a:t>Rs</a:t>
            </a:r>
            <a:r>
              <a:rPr lang="en-US" sz="2500" dirty="0">
                <a:latin typeface="Nunito Sans" panose="00000500000000000000" pitchFamily="2" charset="0"/>
              </a:rPr>
              <a:t>. 7800. Find the rate of interest, assuming that she never collected her interests till then.</a:t>
            </a:r>
          </a:p>
        </p:txBody>
      </p:sp>
      <p:sp>
        <p:nvSpPr>
          <p:cNvPr id="4" name="Rectangle 3"/>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9%</a:t>
            </a:r>
          </a:p>
        </p:txBody>
      </p:sp>
      <p:sp>
        <p:nvSpPr>
          <p:cNvPr id="24" name="Rectangle 23"/>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8%</a:t>
            </a:r>
            <a:endParaRPr lang="en-US" sz="2500" dirty="0">
              <a:latin typeface="Nunito Sans" panose="00000500000000000000" pitchFamily="2" charset="0"/>
            </a:endParaRPr>
          </a:p>
        </p:txBody>
      </p:sp>
      <p:sp>
        <p:nvSpPr>
          <p:cNvPr id="25" name="Rectangle 24"/>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sym typeface="+mn-ea"/>
              </a:rPr>
              <a:t>10%</a:t>
            </a:r>
            <a:endParaRPr lang="en-US" sz="2500" dirty="0">
              <a:latin typeface="Nunito Sans" panose="00000500000000000000" pitchFamily="2" charset="0"/>
            </a:endParaRPr>
          </a:p>
        </p:txBody>
      </p:sp>
      <p:sp>
        <p:nvSpPr>
          <p:cNvPr id="26" name="Rectangle 25"/>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a:t>
            </a: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1246495"/>
          </a:xfrm>
          <a:prstGeom prst="rect">
            <a:avLst/>
          </a:prstGeom>
          <a:noFill/>
        </p:spPr>
        <p:txBody>
          <a:bodyPr wrap="square" rtlCol="0">
            <a:spAutoFit/>
          </a:bodyPr>
          <a:lstStyle/>
          <a:p>
            <a:r>
              <a:rPr lang="en-US" sz="2500" dirty="0">
                <a:latin typeface="Nunito Sans" panose="00000500000000000000" pitchFamily="2" charset="0"/>
              </a:rPr>
              <a:t>A man invests </a:t>
            </a:r>
            <a:r>
              <a:rPr lang="en-US" sz="2500" dirty="0" err="1">
                <a:latin typeface="Nunito Sans" panose="00000500000000000000" pitchFamily="2" charset="0"/>
              </a:rPr>
              <a:t>Rs</a:t>
            </a:r>
            <a:r>
              <a:rPr lang="en-US" sz="2500" dirty="0">
                <a:latin typeface="Nunito Sans" panose="00000500000000000000" pitchFamily="2" charset="0"/>
              </a:rPr>
              <a:t>. 5000 for three years at a certain rate of interest, compounded annually. At the end of one year it amounts to </a:t>
            </a:r>
            <a:r>
              <a:rPr lang="en-US" sz="2500" dirty="0" err="1">
                <a:latin typeface="Nunito Sans" panose="00000500000000000000" pitchFamily="2" charset="0"/>
              </a:rPr>
              <a:t>Rs</a:t>
            </a:r>
            <a:r>
              <a:rPr lang="en-US" sz="2500" dirty="0">
                <a:latin typeface="Nunito Sans" panose="00000500000000000000" pitchFamily="2" charset="0"/>
              </a:rPr>
              <a:t>. 5600. Calculate the amount due at the end of the second year.</a:t>
            </a:r>
          </a:p>
        </p:txBody>
      </p:sp>
      <p:sp>
        <p:nvSpPr>
          <p:cNvPr id="4" name="Rectangle 3"/>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sym typeface="+mn-ea"/>
              </a:rPr>
              <a:t>Rs</a:t>
            </a:r>
            <a:r>
              <a:rPr lang="en-US" sz="2500" dirty="0">
                <a:latin typeface="Nunito Sans" panose="00000500000000000000" pitchFamily="2" charset="0"/>
                <a:sym typeface="+mn-ea"/>
              </a:rPr>
              <a:t>. 6200</a:t>
            </a:r>
          </a:p>
        </p:txBody>
      </p:sp>
      <p:sp>
        <p:nvSpPr>
          <p:cNvPr id="24" name="Rectangle 23"/>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sym typeface="+mn-ea"/>
              </a:rPr>
              <a:t>Rs</a:t>
            </a:r>
            <a:r>
              <a:rPr lang="en-US" sz="2500" dirty="0">
                <a:latin typeface="Nunito Sans" panose="00000500000000000000" pitchFamily="2" charset="0"/>
                <a:sym typeface="+mn-ea"/>
              </a:rPr>
              <a:t>. 6272</a:t>
            </a:r>
            <a:endParaRPr lang="en-US" sz="2500" dirty="0">
              <a:latin typeface="Nunito Sans" panose="00000500000000000000" pitchFamily="2" charset="0"/>
            </a:endParaRPr>
          </a:p>
        </p:txBody>
      </p:sp>
      <p:sp>
        <p:nvSpPr>
          <p:cNvPr id="25" name="Rectangle 24"/>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sym typeface="+mn-ea"/>
              </a:rPr>
              <a:t>Rs</a:t>
            </a:r>
            <a:r>
              <a:rPr lang="en-US" sz="2500" dirty="0">
                <a:latin typeface="Nunito Sans" panose="00000500000000000000" pitchFamily="2" charset="0"/>
                <a:sym typeface="+mn-ea"/>
              </a:rPr>
              <a:t>. 6260</a:t>
            </a:r>
            <a:endParaRPr lang="en-US" sz="2500" dirty="0">
              <a:latin typeface="Nunito Sans" panose="00000500000000000000" pitchFamily="2" charset="0"/>
            </a:endParaRPr>
          </a:p>
        </p:txBody>
      </p:sp>
      <p:sp>
        <p:nvSpPr>
          <p:cNvPr id="26" name="Rectangle 25"/>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6320</a:t>
            </a: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861774"/>
          </a:xfrm>
          <a:prstGeom prst="rect">
            <a:avLst/>
          </a:prstGeom>
          <a:noFill/>
        </p:spPr>
        <p:txBody>
          <a:bodyPr wrap="square" rtlCol="0">
            <a:spAutoFit/>
          </a:bodyPr>
          <a:lstStyle/>
          <a:p>
            <a:r>
              <a:rPr lang="en-US" sz="2500" dirty="0">
                <a:latin typeface="Nunito Sans" panose="00000500000000000000" pitchFamily="2" charset="0"/>
              </a:rPr>
              <a:t>Find the amount due on </a:t>
            </a:r>
            <a:r>
              <a:rPr lang="en-US" sz="2500" dirty="0" err="1">
                <a:latin typeface="Nunito Sans" panose="00000500000000000000" pitchFamily="2" charset="0"/>
              </a:rPr>
              <a:t>Rs</a:t>
            </a:r>
            <a:r>
              <a:rPr lang="en-US" sz="2500" dirty="0">
                <a:latin typeface="Nunito Sans" panose="00000500000000000000" pitchFamily="2" charset="0"/>
              </a:rPr>
              <a:t>. 8000 in 2 years if the rate of interest is 10% for the first year and 12% for the second year.</a:t>
            </a:r>
          </a:p>
        </p:txBody>
      </p:sp>
      <p:sp>
        <p:nvSpPr>
          <p:cNvPr id="4" name="Rectangle 3"/>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sym typeface="+mn-ea"/>
              </a:rPr>
              <a:t>Rs</a:t>
            </a:r>
            <a:r>
              <a:rPr lang="en-US" sz="2500" dirty="0">
                <a:latin typeface="Nunito Sans" panose="00000500000000000000" pitchFamily="2" charset="0"/>
                <a:sym typeface="+mn-ea"/>
              </a:rPr>
              <a:t>. 9716</a:t>
            </a:r>
          </a:p>
        </p:txBody>
      </p:sp>
      <p:sp>
        <p:nvSpPr>
          <p:cNvPr id="24" name="Rectangle 23"/>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sym typeface="+mn-ea"/>
              </a:rPr>
              <a:t>Rs</a:t>
            </a:r>
            <a:r>
              <a:rPr lang="en-US" sz="2500" dirty="0">
                <a:latin typeface="Nunito Sans" panose="00000500000000000000" pitchFamily="2" charset="0"/>
                <a:sym typeface="+mn-ea"/>
              </a:rPr>
              <a:t>. 9856</a:t>
            </a:r>
            <a:endParaRPr lang="en-US" sz="2500" dirty="0">
              <a:latin typeface="Nunito Sans" panose="00000500000000000000" pitchFamily="2" charset="0"/>
            </a:endParaRPr>
          </a:p>
        </p:txBody>
      </p:sp>
      <p:sp>
        <p:nvSpPr>
          <p:cNvPr id="25" name="Rectangle 24"/>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sym typeface="+mn-ea"/>
              </a:rPr>
              <a:t>Rs</a:t>
            </a:r>
            <a:r>
              <a:rPr lang="en-US" sz="2500" dirty="0">
                <a:latin typeface="Nunito Sans" panose="00000500000000000000" pitchFamily="2" charset="0"/>
                <a:sym typeface="+mn-ea"/>
              </a:rPr>
              <a:t>. 10156</a:t>
            </a:r>
            <a:endParaRPr lang="en-US" sz="2500" dirty="0">
              <a:latin typeface="Nunito Sans" panose="00000500000000000000" pitchFamily="2" charset="0"/>
            </a:endParaRPr>
          </a:p>
        </p:txBody>
      </p:sp>
      <p:sp>
        <p:nvSpPr>
          <p:cNvPr id="26" name="Rectangle 25"/>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9756</a:t>
            </a: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861774"/>
          </a:xfrm>
          <a:prstGeom prst="rect">
            <a:avLst/>
          </a:prstGeom>
          <a:noFill/>
        </p:spPr>
        <p:txBody>
          <a:bodyPr wrap="square" rtlCol="0">
            <a:spAutoFit/>
          </a:bodyPr>
          <a:lstStyle/>
          <a:p>
            <a:r>
              <a:rPr lang="en-US" sz="2500" dirty="0">
                <a:latin typeface="Nunito Sans" panose="00000500000000000000" pitchFamily="2" charset="0"/>
              </a:rPr>
              <a:t>Find the difference between S.I. and C.I. on </a:t>
            </a:r>
            <a:r>
              <a:rPr lang="en-US" sz="2500" dirty="0" err="1">
                <a:latin typeface="Nunito Sans" panose="00000500000000000000" pitchFamily="2" charset="0"/>
              </a:rPr>
              <a:t>Rs</a:t>
            </a:r>
            <a:r>
              <a:rPr lang="en-US" sz="2500" dirty="0">
                <a:latin typeface="Nunito Sans" panose="00000500000000000000" pitchFamily="2" charset="0"/>
              </a:rPr>
              <a:t>. 2500 for 2 years at 4% p.a., compound interest, interest being compounded semi-annually.</a:t>
            </a:r>
          </a:p>
        </p:txBody>
      </p:sp>
      <p:sp>
        <p:nvSpPr>
          <p:cNvPr id="4" name="Rectangle 3"/>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sym typeface="+mn-ea"/>
              </a:rPr>
              <a:t>Rs</a:t>
            </a:r>
            <a:r>
              <a:rPr lang="en-US" sz="2500" dirty="0">
                <a:latin typeface="Nunito Sans" panose="00000500000000000000" pitchFamily="2" charset="0"/>
                <a:sym typeface="+mn-ea"/>
              </a:rPr>
              <a:t>. 4.00</a:t>
            </a:r>
          </a:p>
        </p:txBody>
      </p:sp>
      <p:sp>
        <p:nvSpPr>
          <p:cNvPr id="24" name="Rectangle 23"/>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sym typeface="+mn-ea"/>
              </a:rPr>
              <a:t>Rs</a:t>
            </a:r>
            <a:r>
              <a:rPr lang="en-US" sz="2500" dirty="0">
                <a:latin typeface="Nunito Sans" panose="00000500000000000000" pitchFamily="2" charset="0"/>
                <a:sym typeface="+mn-ea"/>
              </a:rPr>
              <a:t>. 6.08</a:t>
            </a:r>
            <a:endParaRPr lang="en-US" sz="2500" dirty="0">
              <a:latin typeface="Nunito Sans" panose="00000500000000000000" pitchFamily="2" charset="0"/>
            </a:endParaRPr>
          </a:p>
        </p:txBody>
      </p:sp>
      <p:sp>
        <p:nvSpPr>
          <p:cNvPr id="25" name="Rectangle 24"/>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sym typeface="+mn-ea"/>
              </a:rPr>
              <a:t>Rs</a:t>
            </a:r>
            <a:r>
              <a:rPr lang="en-US" sz="2500" dirty="0">
                <a:latin typeface="Nunito Sans" panose="00000500000000000000" pitchFamily="2" charset="0"/>
                <a:sym typeface="+mn-ea"/>
              </a:rPr>
              <a:t>. 4.68</a:t>
            </a:r>
            <a:endParaRPr lang="en-US" sz="2500" dirty="0">
              <a:latin typeface="Nunito Sans" panose="00000500000000000000" pitchFamily="2" charset="0"/>
            </a:endParaRPr>
          </a:p>
        </p:txBody>
      </p:sp>
      <p:sp>
        <p:nvSpPr>
          <p:cNvPr id="26" name="Rectangle 25"/>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sym typeface="+mn-ea"/>
              </a:rPr>
              <a:t>Rs</a:t>
            </a:r>
            <a:r>
              <a:rPr lang="en-US" sz="2500" dirty="0">
                <a:latin typeface="Nunito Sans" panose="00000500000000000000" pitchFamily="2" charset="0"/>
                <a:sym typeface="+mn-ea"/>
              </a:rPr>
              <a:t>. 5.88</a:t>
            </a:r>
            <a:endParaRPr lang="en-US" sz="2500" dirty="0">
              <a:latin typeface="Nunito Sans" panose="00000500000000000000" pitchFamily="2" charset="0"/>
            </a:endParaRP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1631216"/>
          </a:xfrm>
          <a:prstGeom prst="rect">
            <a:avLst/>
          </a:prstGeom>
          <a:noFill/>
        </p:spPr>
        <p:txBody>
          <a:bodyPr wrap="square" rtlCol="0">
            <a:spAutoFit/>
          </a:bodyPr>
          <a:lstStyle/>
          <a:p>
            <a:r>
              <a:rPr lang="en-US" sz="2500" dirty="0">
                <a:latin typeface="Nunito Sans" panose="00000500000000000000" pitchFamily="2" charset="0"/>
              </a:rPr>
              <a:t>A man invests </a:t>
            </a:r>
            <a:r>
              <a:rPr lang="en-US" sz="2500" dirty="0" err="1">
                <a:latin typeface="Nunito Sans" panose="00000500000000000000" pitchFamily="2" charset="0"/>
              </a:rPr>
              <a:t>Rs</a:t>
            </a:r>
            <a:r>
              <a:rPr lang="en-US" sz="2500" dirty="0">
                <a:latin typeface="Nunito Sans" panose="00000500000000000000" pitchFamily="2" charset="0"/>
              </a:rPr>
              <a:t>. 6500 for 3 years at 4.5% p.a. compound interest, compounded annually. 20% is deducted at the end of each year from this investment for expenditures. Find the amount due at the end of the third year.</a:t>
            </a:r>
          </a:p>
        </p:txBody>
      </p:sp>
      <p:sp>
        <p:nvSpPr>
          <p:cNvPr id="4" name="Rectangle 3"/>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3688.24</a:t>
            </a:r>
            <a:endParaRPr lang="en-US" sz="2500" dirty="0">
              <a:latin typeface="Nunito Sans" panose="00000500000000000000" pitchFamily="2" charset="0"/>
              <a:sym typeface="+mn-ea"/>
            </a:endParaRPr>
          </a:p>
        </p:txBody>
      </p:sp>
      <p:sp>
        <p:nvSpPr>
          <p:cNvPr id="24" name="Rectangle 23"/>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4946.62</a:t>
            </a:r>
            <a:endParaRPr lang="en-US" sz="2500" dirty="0">
              <a:latin typeface="Nunito Sans" panose="00000500000000000000" pitchFamily="2" charset="0"/>
              <a:sym typeface="+mn-ea"/>
            </a:endParaRPr>
          </a:p>
        </p:txBody>
      </p:sp>
      <p:sp>
        <p:nvSpPr>
          <p:cNvPr id="25" name="Rectangle 24"/>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3797.80</a:t>
            </a:r>
            <a:endParaRPr lang="en-US" sz="2500" dirty="0">
              <a:latin typeface="Nunito Sans" panose="00000500000000000000" pitchFamily="2" charset="0"/>
              <a:sym typeface="+mn-ea"/>
            </a:endParaRPr>
          </a:p>
        </p:txBody>
      </p:sp>
      <p:sp>
        <p:nvSpPr>
          <p:cNvPr id="26" name="Rectangle 25"/>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5244.04</a:t>
            </a:r>
            <a:endParaRPr lang="en-US" sz="2500" dirty="0">
              <a:latin typeface="Nunito Sans" panose="00000500000000000000" pitchFamily="2" charset="0"/>
              <a:sym typeface="+mn-ea"/>
            </a:endParaRP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p:cNvSpPr txBox="1"/>
          <p:nvPr/>
        </p:nvSpPr>
        <p:spPr>
          <a:xfrm>
            <a:off x="642479" y="1156906"/>
            <a:ext cx="10907041" cy="1246495"/>
          </a:xfrm>
          <a:prstGeom prst="rect">
            <a:avLst/>
          </a:prstGeom>
          <a:noFill/>
        </p:spPr>
        <p:txBody>
          <a:bodyPr wrap="square" rtlCol="0">
            <a:spAutoFit/>
          </a:bodyPr>
          <a:lstStyle/>
          <a:p>
            <a:r>
              <a:rPr lang="en-US" sz="2500" dirty="0">
                <a:latin typeface="Nunito Sans" panose="00000500000000000000" pitchFamily="2" charset="0"/>
              </a:rPr>
              <a:t>A sum of </a:t>
            </a:r>
            <a:r>
              <a:rPr lang="en-US" sz="2500" dirty="0" err="1">
                <a:latin typeface="Nunito Sans" panose="00000500000000000000" pitchFamily="2" charset="0"/>
              </a:rPr>
              <a:t>Rs</a:t>
            </a:r>
            <a:r>
              <a:rPr lang="en-US" sz="2500" dirty="0">
                <a:latin typeface="Nunito Sans" panose="00000500000000000000" pitchFamily="2" charset="0"/>
              </a:rPr>
              <a:t>. 550 was taken as a loan. This is to be paid back in two equal installments. If the rate of interest is 20% p.a. compound interest, being compounded annually, then the value of each installment is:</a:t>
            </a:r>
          </a:p>
        </p:txBody>
      </p:sp>
      <p:sp>
        <p:nvSpPr>
          <p:cNvPr id="19" name="Rectangle 18"/>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90150" y="228600"/>
            <a:ext cx="7772400" cy="829945"/>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a:t>
            </a:r>
          </a:p>
        </p:txBody>
      </p:sp>
      <p:sp>
        <p:nvSpPr>
          <p:cNvPr id="15" name="Rectangle 14"/>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21" name="Rectangle 20"/>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2" name="Rectangle 21"/>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27" name="Rectangle 26"/>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8" name="Rectangle 27"/>
          <p:cNvSpPr/>
          <p:nvPr/>
        </p:nvSpPr>
        <p:spPr>
          <a:xfrm>
            <a:off x="1456098" y="3300831"/>
            <a:ext cx="10098317" cy="66941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421</a:t>
            </a:r>
            <a:endParaRPr lang="en-US" sz="2500" dirty="0">
              <a:latin typeface="Nunito Sans" panose="00000500000000000000" pitchFamily="2" charset="0"/>
              <a:sym typeface="+mn-ea"/>
            </a:endParaRPr>
          </a:p>
        </p:txBody>
      </p:sp>
      <p:sp>
        <p:nvSpPr>
          <p:cNvPr id="29" name="Rectangle 28"/>
          <p:cNvSpPr/>
          <p:nvPr/>
        </p:nvSpPr>
        <p:spPr>
          <a:xfrm>
            <a:off x="1445891" y="3875591"/>
            <a:ext cx="10098317" cy="66941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300</a:t>
            </a:r>
            <a:endParaRPr lang="en-US" sz="2500" dirty="0">
              <a:latin typeface="Nunito Sans" panose="00000500000000000000" pitchFamily="2" charset="0"/>
              <a:sym typeface="+mn-ea"/>
            </a:endParaRPr>
          </a:p>
        </p:txBody>
      </p:sp>
      <p:sp>
        <p:nvSpPr>
          <p:cNvPr id="30" name="Rectangle 29"/>
          <p:cNvSpPr/>
          <p:nvPr/>
        </p:nvSpPr>
        <p:spPr>
          <a:xfrm>
            <a:off x="1456098" y="4450351"/>
            <a:ext cx="10098317" cy="66941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360</a:t>
            </a:r>
            <a:endParaRPr lang="en-US" sz="2500" dirty="0">
              <a:latin typeface="Nunito Sans" panose="00000500000000000000" pitchFamily="2" charset="0"/>
              <a:sym typeface="+mn-ea"/>
            </a:endParaRPr>
          </a:p>
        </p:txBody>
      </p:sp>
      <p:sp>
        <p:nvSpPr>
          <p:cNvPr id="31" name="Rectangle 30"/>
          <p:cNvSpPr/>
          <p:nvPr/>
        </p:nvSpPr>
        <p:spPr>
          <a:xfrm>
            <a:off x="1440028" y="5014560"/>
            <a:ext cx="10098317" cy="66941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350</a:t>
            </a:r>
            <a:endParaRPr lang="en-US" sz="2500" dirty="0">
              <a:latin typeface="Nunito Sans" panose="00000500000000000000" pitchFamily="2" charset="0"/>
              <a:sym typeface="+mn-e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346</TotalTime>
  <Words>1657</Words>
  <Application>Microsoft Office PowerPoint</Application>
  <PresentationFormat>Widescreen</PresentationFormat>
  <Paragraphs>231</Paragraphs>
  <Slides>34</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Nunito Sans</vt:lpstr>
      <vt:lpstr>Arial</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FACE-45</dc:creator>
  <cp:lastModifiedBy>vara prasad</cp:lastModifiedBy>
  <cp:revision>198</cp:revision>
  <dcterms:created xsi:type="dcterms:W3CDTF">2006-08-16T00:00:00Z</dcterms:created>
  <dcterms:modified xsi:type="dcterms:W3CDTF">2026-05-13T14:36:08Z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1033-11.2.0.9363</vt:lpwstr>
  </property>
</Properties>
</file>